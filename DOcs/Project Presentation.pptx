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70" r:id="rId12"/>
    <p:sldId id="271" r:id="rId13"/>
    <p:sldId id="266" r:id="rId14"/>
    <p:sldId id="267" r:id="rId15"/>
    <p:sldId id="268" r:id="rId16"/>
    <p:sldId id="259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63500">
              <a:lnSpc>
                <a:spcPts val="14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63500">
              <a:lnSpc>
                <a:spcPts val="14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63500">
              <a:lnSpc>
                <a:spcPts val="14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63500">
              <a:lnSpc>
                <a:spcPts val="14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63500">
              <a:lnSpc>
                <a:spcPts val="14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29395"/>
            <a:ext cx="9144000" cy="428625"/>
          </a:xfrm>
          <a:custGeom>
            <a:avLst/>
            <a:gdLst/>
            <a:ahLst/>
            <a:cxnLst/>
            <a:rect l="l" t="t" r="r" b="b"/>
            <a:pathLst>
              <a:path w="9144000" h="428625">
                <a:moveTo>
                  <a:pt x="9143999" y="428603"/>
                </a:moveTo>
                <a:lnTo>
                  <a:pt x="0" y="428603"/>
                </a:lnTo>
                <a:lnTo>
                  <a:pt x="0" y="0"/>
                </a:lnTo>
                <a:lnTo>
                  <a:pt x="9143999" y="0"/>
                </a:lnTo>
                <a:lnTo>
                  <a:pt x="9143999" y="428603"/>
                </a:lnTo>
                <a:close/>
              </a:path>
            </a:pathLst>
          </a:custGeom>
          <a:solidFill>
            <a:srgbClr val="FAB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2663" y="113791"/>
            <a:ext cx="583438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42086" y="1601480"/>
            <a:ext cx="5413375" cy="2988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2305" y="6563993"/>
            <a:ext cx="151003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45836" y="6543732"/>
            <a:ext cx="31953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34998" y="6543732"/>
            <a:ext cx="295909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2060"/>
                </a:solidFill>
                <a:latin typeface="Cambria"/>
                <a:cs typeface="Cambria"/>
              </a:defRPr>
            </a:lvl1pPr>
          </a:lstStyle>
          <a:p>
            <a:pPr marL="63500">
              <a:lnSpc>
                <a:spcPts val="14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access.thecvf.com/content/CVPR2025/papers/Huang_SIDA_Social_Media_Image_Deepfake_Detection_Localization_and_Explanation_with_CVPR_2025_paper.pdf?utm_source=chatgpt.com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openaccess.thecvf.com/content/CVPR2024/papers/Nguyen_LAA-Net_Localized_Artifact_Attention_Network_for_Quality-Agnostic_and_Generalizable_Deepfake_CVPR_2024_paper.pdf?utm_source=chatgpt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hyperlink" Target="https://www.kaggle.com/datasets/greatgamedota/faceforensics?utm_source=chatgpt.com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arxiv.org/abs/1901.08971?utm_source=chatgpt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nature.com/articles/s41598-026-53464-w?utm_source=chatgpt.c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406" rIns="0" bIns="0" rtlCol="0">
            <a:spAutoFit/>
          </a:bodyPr>
          <a:lstStyle/>
          <a:p>
            <a:pPr marL="12617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-6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Project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Stage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Presentation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850557" y="723499"/>
            <a:ext cx="36836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dirty="0">
                <a:solidFill>
                  <a:srgbClr val="0070C0"/>
                </a:solidFill>
                <a:latin typeface="Cambria"/>
                <a:cs typeface="Cambria"/>
              </a:rPr>
              <a:t>“Title</a:t>
            </a:r>
            <a:r>
              <a:rPr sz="3200" b="1" i="1" spc="-2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3200" b="1" i="1" dirty="0">
                <a:solidFill>
                  <a:srgbClr val="0070C0"/>
                </a:solidFill>
                <a:latin typeface="Cambria"/>
                <a:cs typeface="Cambria"/>
              </a:rPr>
              <a:t>of</a:t>
            </a:r>
            <a:r>
              <a:rPr sz="3200" b="1" i="1" spc="-2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3200" b="1" i="1" dirty="0">
                <a:solidFill>
                  <a:srgbClr val="0070C0"/>
                </a:solidFill>
                <a:latin typeface="Cambria"/>
                <a:cs typeface="Cambria"/>
              </a:rPr>
              <a:t>the</a:t>
            </a:r>
            <a:r>
              <a:rPr sz="3200" b="1" i="1" spc="-1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3200" b="1" i="1" spc="-10" dirty="0">
                <a:solidFill>
                  <a:srgbClr val="0070C0"/>
                </a:solidFill>
                <a:latin typeface="Cambria"/>
                <a:cs typeface="Cambria"/>
              </a:rPr>
              <a:t>Project”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400810" algn="just">
              <a:lnSpc>
                <a:spcPct val="100000"/>
              </a:lnSpc>
              <a:spcBef>
                <a:spcPts val="844"/>
              </a:spcBef>
            </a:pPr>
            <a:r>
              <a:rPr dirty="0"/>
              <a:t>Under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Guidance</a:t>
            </a:r>
            <a:r>
              <a:rPr spc="-35" dirty="0"/>
              <a:t> </a:t>
            </a:r>
            <a:r>
              <a:rPr spc="-25" dirty="0"/>
              <a:t>of</a:t>
            </a:r>
          </a:p>
          <a:p>
            <a:pPr marL="1400810" algn="just">
              <a:lnSpc>
                <a:spcPct val="100000"/>
              </a:lnSpc>
              <a:spcBef>
                <a:spcPts val="835"/>
              </a:spcBef>
            </a:pP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Name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of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your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E36C09"/>
                </a:solidFill>
                <a:latin typeface="Cambria"/>
                <a:cs typeface="Cambria"/>
              </a:rPr>
              <a:t>Guide</a:t>
            </a:r>
            <a:endParaRPr sz="2000">
              <a:latin typeface="Cambria"/>
              <a:cs typeface="Cambria"/>
            </a:endParaRPr>
          </a:p>
          <a:p>
            <a:pPr marL="1755775" algn="just">
              <a:lnSpc>
                <a:spcPct val="100000"/>
              </a:lnSpc>
              <a:spcBef>
                <a:spcPts val="500"/>
              </a:spcBef>
            </a:pPr>
            <a:r>
              <a:rPr dirty="0"/>
              <a:t>Presented</a:t>
            </a:r>
            <a:r>
              <a:rPr spc="-90" dirty="0"/>
              <a:t> </a:t>
            </a:r>
            <a:r>
              <a:rPr spc="-25" dirty="0"/>
              <a:t>by</a:t>
            </a:r>
          </a:p>
          <a:p>
            <a:pPr marL="850265" marR="1378585" algn="just">
              <a:lnSpc>
                <a:spcPct val="100000"/>
              </a:lnSpc>
              <a:spcBef>
                <a:spcPts val="835"/>
              </a:spcBef>
            </a:pP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Name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of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Student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1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(Seat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spc="-25" dirty="0">
                <a:solidFill>
                  <a:srgbClr val="E36C09"/>
                </a:solidFill>
                <a:latin typeface="Cambria"/>
                <a:cs typeface="Cambria"/>
              </a:rPr>
              <a:t>No)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Name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of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Student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2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(Seat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spc="-25" dirty="0">
                <a:solidFill>
                  <a:srgbClr val="E36C09"/>
                </a:solidFill>
                <a:latin typeface="Cambria"/>
                <a:cs typeface="Cambria"/>
              </a:rPr>
              <a:t>No)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Name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of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Student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3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(Seat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spc="-25" dirty="0">
                <a:solidFill>
                  <a:srgbClr val="E36C09"/>
                </a:solidFill>
                <a:latin typeface="Cambria"/>
                <a:cs typeface="Cambria"/>
              </a:rPr>
              <a:t>No)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Name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of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Student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4</a:t>
            </a:r>
            <a:r>
              <a:rPr sz="2000" i="1" spc="-50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E36C09"/>
                </a:solidFill>
                <a:latin typeface="Cambria"/>
                <a:cs typeface="Cambria"/>
              </a:rPr>
              <a:t>(Seat</a:t>
            </a:r>
            <a:r>
              <a:rPr sz="2000" i="1" spc="-45" dirty="0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2000" i="1" spc="-25" dirty="0">
                <a:solidFill>
                  <a:srgbClr val="E36C09"/>
                </a:solidFill>
                <a:latin typeface="Cambria"/>
                <a:cs typeface="Cambria"/>
              </a:rPr>
              <a:t>No)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Artificial</a:t>
            </a:r>
            <a:r>
              <a:rPr spc="-25" dirty="0"/>
              <a:t> </a:t>
            </a:r>
            <a:r>
              <a:rPr spc="-10" dirty="0"/>
              <a:t>Intelligence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9904" y="5577856"/>
            <a:ext cx="68478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0030" marR="5080" indent="-2767965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Cambria"/>
                <a:cs typeface="Cambria"/>
              </a:rPr>
              <a:t>Matoshri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College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of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Engineering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&amp;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Research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Centre,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Nashik </a:t>
            </a:r>
            <a:r>
              <a:rPr sz="2000" b="1" spc="-25" dirty="0">
                <a:latin typeface="Cambria"/>
                <a:cs typeface="Cambria"/>
              </a:rPr>
              <a:t>2024-</a:t>
            </a:r>
            <a:r>
              <a:rPr sz="2000" b="1" spc="-20" dirty="0">
                <a:latin typeface="Cambria"/>
                <a:cs typeface="Cambria"/>
              </a:rPr>
              <a:t>2025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6172" y="4714884"/>
            <a:ext cx="977331" cy="1115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52663" y="113791"/>
            <a:ext cx="4397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Presentation</a:t>
            </a:r>
            <a:r>
              <a:rPr spc="-8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8811" y="924952"/>
            <a:ext cx="8141970" cy="495776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610235" indent="-443230">
              <a:lnSpc>
                <a:spcPct val="100000"/>
              </a:lnSpc>
              <a:spcBef>
                <a:spcPts val="15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dirty="0">
                <a:solidFill>
                  <a:srgbClr val="0C0C0C"/>
                </a:solidFill>
                <a:latin typeface="Cambria"/>
                <a:cs typeface="Cambria"/>
              </a:rPr>
              <a:t>Introduction</a:t>
            </a:r>
            <a:r>
              <a:rPr sz="24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0C0C0C"/>
                </a:solidFill>
                <a:latin typeface="Cambria"/>
                <a:cs typeface="Cambria"/>
              </a:rPr>
              <a:t>(Overview,</a:t>
            </a:r>
            <a:r>
              <a:rPr sz="20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C0C0C"/>
                </a:solidFill>
                <a:latin typeface="Cambria"/>
                <a:cs typeface="Cambria"/>
              </a:rPr>
              <a:t>Need,</a:t>
            </a:r>
            <a:r>
              <a:rPr sz="20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C0C0C"/>
                </a:solidFill>
                <a:latin typeface="Cambria"/>
                <a:cs typeface="Cambria"/>
              </a:rPr>
              <a:t>Problem</a:t>
            </a:r>
            <a:r>
              <a:rPr sz="2000" b="1" spc="-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C0C0C"/>
                </a:solidFill>
                <a:latin typeface="Cambria"/>
                <a:cs typeface="Cambria"/>
              </a:rPr>
              <a:t>statement,</a:t>
            </a:r>
            <a:r>
              <a:rPr sz="20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C0C0C"/>
                </a:solidFill>
                <a:latin typeface="Cambria"/>
                <a:cs typeface="Cambria"/>
              </a:rPr>
              <a:t>Objectives)</a:t>
            </a:r>
            <a:endParaRPr sz="20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spc="-20" dirty="0">
                <a:solidFill>
                  <a:srgbClr val="0C0C0C"/>
                </a:solidFill>
                <a:latin typeface="Cambria"/>
                <a:cs typeface="Cambria"/>
              </a:rPr>
              <a:t>Literature</a:t>
            </a:r>
            <a:r>
              <a:rPr sz="24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Survey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Proposed</a:t>
            </a:r>
            <a:r>
              <a:rPr sz="2400" b="1" spc="-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C0C0C"/>
                </a:solidFill>
                <a:latin typeface="Cambria"/>
                <a:cs typeface="Cambria"/>
              </a:rPr>
              <a:t>System</a:t>
            </a:r>
            <a:r>
              <a:rPr sz="2400" b="1" spc="-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Architecture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dirty="0">
                <a:solidFill>
                  <a:srgbClr val="0C0C0C"/>
                </a:solidFill>
                <a:latin typeface="Cambria"/>
                <a:cs typeface="Cambria"/>
              </a:rPr>
              <a:t>Details</a:t>
            </a:r>
            <a:r>
              <a:rPr sz="24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24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Modules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Algorithm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dirty="0">
                <a:solidFill>
                  <a:srgbClr val="0C0C0C"/>
                </a:solidFill>
                <a:latin typeface="Cambria"/>
                <a:cs typeface="Cambria"/>
              </a:rPr>
              <a:t>Design</a:t>
            </a:r>
            <a:r>
              <a:rPr sz="2400" b="1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C0C0C"/>
                </a:solidFill>
                <a:latin typeface="Cambria"/>
                <a:cs typeface="Cambria"/>
              </a:rPr>
              <a:t>(DFD,</a:t>
            </a:r>
            <a:r>
              <a:rPr sz="24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C0C0C"/>
                </a:solidFill>
                <a:latin typeface="Cambria"/>
                <a:cs typeface="Cambria"/>
              </a:rPr>
              <a:t>UML</a:t>
            </a:r>
            <a:r>
              <a:rPr sz="24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Diagrams)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Software</a:t>
            </a:r>
            <a:r>
              <a:rPr sz="2400" b="1" spc="-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Cambria"/>
                <a:cs typeface="Cambria"/>
              </a:rPr>
              <a:t>Hardware</a:t>
            </a:r>
            <a:r>
              <a:rPr sz="24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Requirements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Conclusion</a:t>
            </a:r>
            <a:endParaRPr sz="2400" dirty="0">
              <a:latin typeface="Cambria"/>
              <a:cs typeface="Cambria"/>
            </a:endParaRPr>
          </a:p>
          <a:p>
            <a:pPr marL="610235" indent="-443230">
              <a:lnSpc>
                <a:spcPct val="100000"/>
              </a:lnSpc>
              <a:spcBef>
                <a:spcPts val="1440"/>
              </a:spcBef>
              <a:buFont typeface="Calibri"/>
              <a:buAutoNum type="arabicPeriod"/>
              <a:tabLst>
                <a:tab pos="610235" algn="l"/>
              </a:tabLst>
            </a:pPr>
            <a:r>
              <a:rPr sz="2400" b="1" spc="-10" dirty="0">
                <a:solidFill>
                  <a:srgbClr val="0C0C0C"/>
                </a:solidFill>
                <a:latin typeface="Cambria"/>
                <a:cs typeface="Cambria"/>
              </a:rPr>
              <a:t>References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6429395"/>
            <a:ext cx="9144000" cy="428625"/>
          </a:xfrm>
          <a:custGeom>
            <a:avLst/>
            <a:gdLst/>
            <a:ahLst/>
            <a:cxnLst/>
            <a:rect l="l" t="t" r="r" b="b"/>
            <a:pathLst>
              <a:path w="9144000" h="428625">
                <a:moveTo>
                  <a:pt x="9143999" y="428603"/>
                </a:moveTo>
                <a:lnTo>
                  <a:pt x="0" y="428603"/>
                </a:lnTo>
                <a:lnTo>
                  <a:pt x="0" y="0"/>
                </a:lnTo>
                <a:lnTo>
                  <a:pt x="9143999" y="0"/>
                </a:lnTo>
                <a:lnTo>
                  <a:pt x="9143999" y="428603"/>
                </a:lnTo>
                <a:close/>
              </a:path>
            </a:pathLst>
          </a:custGeom>
          <a:solidFill>
            <a:srgbClr val="FAB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8F4AD9-3362-93D5-91CD-F87D4E5439AD}"/>
              </a:ext>
            </a:extLst>
          </p:cNvPr>
          <p:cNvSpPr txBox="1"/>
          <p:nvPr/>
        </p:nvSpPr>
        <p:spPr>
          <a:xfrm>
            <a:off x="248552" y="1190913"/>
            <a:ext cx="8534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Overview</a:t>
            </a:r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AI </a:t>
            </a:r>
            <a:r>
              <a:rPr lang="en-US" sz="2000" dirty="0" err="1"/>
              <a:t>DeepGuard</a:t>
            </a:r>
            <a:r>
              <a:rPr lang="en-US" sz="2000" dirty="0"/>
              <a:t> Detection is a web-based system for detecting potentially manipulated facial images.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It uses image processing and a deep-learning model to classify images as Real or Fake.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It displays prediction confidence and visual explanations using Grad-CAM/heatmaps.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is designed using Flask, Python, HTML, CSS and JavaScript.</a:t>
            </a:r>
          </a:p>
          <a:p>
            <a:pPr>
              <a:buNone/>
            </a:pPr>
            <a:r>
              <a:rPr lang="en-US" sz="2400" b="1" dirty="0"/>
              <a:t>Need</a:t>
            </a:r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AI-generated and manipulated images can spread misleading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Manual verification of images is time-consuming.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need an accessible way to analyze suspicious facial images.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Visual explanations can help users understand model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B631F-98D4-2AD4-4CF8-9FF82D47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E1D6A34-2E64-216C-5162-78E20DE3F3E8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C0C183-402F-0A97-A17F-8B9C264043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9CF4412-F228-B0AD-4369-1741687100B0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827EDBF7-2D5D-6ABE-E857-E382661D8D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8569B587-3F05-EF95-5017-A6F5BB350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E11CED98-549D-5C0D-AEA8-DCD9772AC15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3B09FD7E-CA36-E1E3-FD41-F0BCEFEB7D8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ACAE9764-E238-660B-37B8-15C47D26A7D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6172F0DD-242E-C95A-6D53-52291A94EE3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56DA5FD1-C449-E9BF-ED14-C7B924BA24B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CA6802B1-615B-4823-E536-884EDCBA2E2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6D35FB-7556-F909-B441-6074BC4496B9}"/>
              </a:ext>
            </a:extLst>
          </p:cNvPr>
          <p:cNvSpPr txBox="1"/>
          <p:nvPr/>
        </p:nvSpPr>
        <p:spPr>
          <a:xfrm>
            <a:off x="541955" y="1413063"/>
            <a:ext cx="77663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Problem Statement</a:t>
            </a:r>
          </a:p>
          <a:p>
            <a:pPr algn="just">
              <a:buNone/>
            </a:pPr>
            <a:r>
              <a:rPr lang="en-US" dirty="0"/>
              <a:t>To develop a web-based AI system that identifies potentially manipulated facial images and presents classification results, confidence scores and visual explanations through a user-friendly interface.</a:t>
            </a:r>
          </a:p>
          <a:p>
            <a:r>
              <a:rPr lang="en-US" sz="2000" b="1" dirty="0"/>
              <a:t>Objectives</a:t>
            </a: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Develop a web-based deepfake image detection system.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Accept and validate image uploads.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Detect and preprocess facial regions.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Classify images as Real or Fake using a trained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Display prediction confidence and analysis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Generate Grad-CAM heatmaps to visualize relevant image regions.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Maintain detection history and generate downloadable reports.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Provide user authentication and an administrator dashboard.</a:t>
            </a:r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1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B542-8467-B919-F727-9F7C8FA2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E3CC114-FFA6-0C11-58D7-CD2FBAD42FCF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9311E6-2527-F710-2A9D-C7473B0E20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3FF8417-822D-ACD2-6770-1C64CD2CA02C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24DD92D1-A50F-2488-F82E-7C8BCF8781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C2751911-126E-40DE-CACF-B8D6019E3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Literature Survey</a:t>
            </a:r>
            <a:endParaRPr spc="-10" dirty="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B5D0A1A-D584-0667-5644-90356084854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96D9C38B-94B6-0D00-EEC8-9042C9C1BC1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B6203555-774A-6491-32AE-559AC49A8BD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2A53DE2F-F373-F48E-7B74-CC61F37D422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3ADF18B1-622D-7840-085D-5704ED8370F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DBCBAE58-300B-E6F6-36DB-8D25E0179E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6A83720-2AD0-1694-88D1-98CF5D853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63146"/>
              </p:ext>
            </p:extLst>
          </p:nvPr>
        </p:nvGraphicFramePr>
        <p:xfrm>
          <a:off x="541955" y="1295400"/>
          <a:ext cx="8234400" cy="4419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4800">
                  <a:extLst>
                    <a:ext uri="{9D8B030D-6E8A-4147-A177-3AD203B41FA5}">
                      <a16:colId xmlns:a16="http://schemas.microsoft.com/office/drawing/2014/main" val="1690768220"/>
                    </a:ext>
                  </a:extLst>
                </a:gridCol>
                <a:gridCol w="2744800">
                  <a:extLst>
                    <a:ext uri="{9D8B030D-6E8A-4147-A177-3AD203B41FA5}">
                      <a16:colId xmlns:a16="http://schemas.microsoft.com/office/drawing/2014/main" val="3942156834"/>
                    </a:ext>
                  </a:extLst>
                </a:gridCol>
                <a:gridCol w="2744800">
                  <a:extLst>
                    <a:ext uri="{9D8B030D-6E8A-4147-A177-3AD203B41FA5}">
                      <a16:colId xmlns:a16="http://schemas.microsoft.com/office/drawing/2014/main" val="3889847462"/>
                    </a:ext>
                  </a:extLst>
                </a:gridCol>
              </a:tblGrid>
              <a:tr h="46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Research paper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 contribution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Relevance to our project</a:t>
                      </a:r>
                    </a:p>
                  </a:txBody>
                  <a:tcPr marL="49004" marR="49004" marT="24502" marB="24502" anchor="ctr"/>
                </a:tc>
                <a:extLst>
                  <a:ext uri="{0D108BD9-81ED-4DB2-BD59-A6C34878D82A}">
                    <a16:rowId xmlns:a16="http://schemas.microsoft.com/office/drawing/2014/main" val="1672176384"/>
                  </a:ext>
                </a:extLst>
              </a:tr>
              <a:tr h="1401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LAA-Net, CVPR 2024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Uses localized artifact attention for generalizable deepfake detection.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Supports analysis of suspicious facial regions.</a:t>
                      </a:r>
                    </a:p>
                  </a:txBody>
                  <a:tcPr marL="49004" marR="49004" marT="24502" marB="24502" anchor="ctr"/>
                </a:tc>
                <a:extLst>
                  <a:ext uri="{0D108BD9-81ED-4DB2-BD59-A6C34878D82A}">
                    <a16:rowId xmlns:a16="http://schemas.microsoft.com/office/drawing/2014/main" val="436306068"/>
                  </a:ext>
                </a:extLst>
              </a:tr>
              <a:tr h="1072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SIDA, CVPR 2025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Combines image deepfake detection, localization and explanation.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Closely related to explainable image analysis.</a:t>
                      </a:r>
                    </a:p>
                  </a:txBody>
                  <a:tcPr marL="49004" marR="49004" marT="24502" marB="24502" anchor="ctr"/>
                </a:tc>
                <a:extLst>
                  <a:ext uri="{0D108BD9-81ED-4DB2-BD59-A6C34878D82A}">
                    <a16:rowId xmlns:a16="http://schemas.microsoft.com/office/drawing/2014/main" val="2336881671"/>
                  </a:ext>
                </a:extLst>
              </a:tr>
              <a:tr h="1475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Hybrid Bag-of-Visual-Words and Multi-CNN, 2026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Combines handcrafted visual features and CNN features for deepfake face detection.</a:t>
                      </a:r>
                    </a:p>
                  </a:txBody>
                  <a:tcPr marL="49004" marR="49004" marT="24502" marB="24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Relevant to feature extraction and classification.</a:t>
                      </a:r>
                    </a:p>
                  </a:txBody>
                  <a:tcPr marL="49004" marR="49004" marT="24502" marB="24502" anchor="ctr"/>
                </a:tc>
                <a:extLst>
                  <a:ext uri="{0D108BD9-81ED-4DB2-BD59-A6C34878D82A}">
                    <a16:rowId xmlns:a16="http://schemas.microsoft.com/office/drawing/2014/main" val="6059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61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E5E0B-8ACA-DCA0-A673-537619C7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0E48897-E543-38F7-D412-65CE37BBC80A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1785D4C-AF7B-955A-2E42-81C4E3DFEB3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FD16D1-2C24-A2D5-AFA9-51C3FA324E32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2BC64369-ABE6-E691-E47A-277CDF0B88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D0B0ED15-4292-1EEE-F3D1-F476E01B2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2663" y="113791"/>
            <a:ext cx="583438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/>
              <a:t>Proposed System Architecture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FF228219-F740-F307-F58D-02F9C7A8E88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8B4CFE72-B6E5-F757-9ABC-9DE127EB54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E442405C-B3FF-8A15-6340-F4B5F358FD1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2BADF14D-AC19-2EB3-FE7B-04F91DDD931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0AF24E0F-E7AB-99CF-10FF-CAFCD6A7942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193AB1E5-1925-7338-A4A9-F8C3E559B60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C7FFCE-F8C7-411D-2AC6-6B73FD0FB2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349" y="1006407"/>
            <a:ext cx="3581614" cy="5181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8D5502-A85A-031F-B332-6F82A901F5B1}"/>
              </a:ext>
            </a:extLst>
          </p:cNvPr>
          <p:cNvSpPr txBox="1"/>
          <p:nvPr/>
        </p:nvSpPr>
        <p:spPr>
          <a:xfrm>
            <a:off x="388612" y="1828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Paste here whatever u want to explain</a:t>
            </a:r>
          </a:p>
        </p:txBody>
      </p:sp>
    </p:spTree>
    <p:extLst>
      <p:ext uri="{BB962C8B-B14F-4D97-AF65-F5344CB8AC3E}">
        <p14:creationId xmlns:p14="http://schemas.microsoft.com/office/powerpoint/2010/main" val="291151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40A7-D982-49E6-C25A-B334A02D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3225580-2F23-420C-04A8-CB7F1753D4AD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B482E5C-BC2C-D6E9-1447-F0DE9FD785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CD7A1DC-BEC8-D0CB-9EF3-01EC1366E550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DA1CF3CD-FB17-595E-FB2C-8B98022146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AE6C9A93-23EF-E316-47FE-DD184E49DD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Details of Modules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35A22B8A-9026-0CAB-67C3-EA9D5B5AE87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2166DF48-BBC6-3A4D-3B24-A52047F0D9E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F121A0F6-44CF-E974-C5DD-FB5C59A95EC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831FCF51-70B1-02B3-4D44-7184B4267F7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0F242484-E8F8-E618-41E6-83D732AF82B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9CF60A97-2321-9A48-D71A-195D1F52A80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F61C88-350B-63C7-FA76-4B4A22563B60}"/>
              </a:ext>
            </a:extLst>
          </p:cNvPr>
          <p:cNvSpPr txBox="1"/>
          <p:nvPr/>
        </p:nvSpPr>
        <p:spPr>
          <a:xfrm>
            <a:off x="226688" y="1266577"/>
            <a:ext cx="825399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User Authentication: Registration, login and session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Image Upload: Accept images and validate file formats and size.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Image Preprocessing: Resize, normalize and prepare images for inference.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Face Detection: Locate and crop relevant facial regions.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Deepfake Detection: Predict Real or Fake using the trained model.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Confidence and Analysis: Display model confidence and prediction details.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Explainable AI: Generate Grad-CAM/heatmap visualizations.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Result Dashboard: Present the uploaded image, prediction and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Detection History: Store and retrieve previous detections.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Report Generation: Generate downloadable detection reports.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Database Management: Store user and detection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Admin Dashboard: Manage users and view system statistics.</a:t>
            </a:r>
          </a:p>
        </p:txBody>
      </p:sp>
    </p:spTree>
    <p:extLst>
      <p:ext uri="{BB962C8B-B14F-4D97-AF65-F5344CB8AC3E}">
        <p14:creationId xmlns:p14="http://schemas.microsoft.com/office/powerpoint/2010/main" val="130661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7647-9B33-4625-CDC3-FA4602FD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0B045D3-EE04-1FB6-BFD5-5923A8DCFE2D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A27080-FEBA-23A7-543B-87B345C07DE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0F4E041-CF18-7CDD-FEF7-B90218080AA0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8CEC6933-5A82-AB79-23D7-CD1B2DB227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AE74113A-421B-AA99-4DA1-03FF16BCB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Algorithm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61C0F19E-B6F9-5ADB-9C2F-ED2CF4A7F6E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95045C63-C8A9-A8F9-497E-792DD800D18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FD55F005-0F03-E75C-1D1A-25822124E95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EA7768B7-B796-38B4-B041-9DCF1D9BF9B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7180C293-3099-321D-E1AB-204B3AD19C6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451A165F-1C14-F5EB-D9B7-E9A48699501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2FC493-C4DB-F8FC-B6F2-68A52D3B020E}"/>
              </a:ext>
            </a:extLst>
          </p:cNvPr>
          <p:cNvSpPr txBox="1"/>
          <p:nvPr/>
        </p:nvSpPr>
        <p:spPr>
          <a:xfrm>
            <a:off x="194733" y="1139727"/>
            <a:ext cx="870421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Start the application.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Authenticate the user.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Upload and validate the input image.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Preprocess the image into the format expected by the trained model.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Detect and extract the face if required by the model.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Pass the processed image to the deep-learning model.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Obtain the model's output scores or probabilities.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Apply the configured decision threshold to classify the image as Real or Fake.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Generate a confidence score and Grad-CAM heatmap, if supported by the model.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Display the prediction and analysis on the dashboard.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Store the result in the database and generate a report if requested.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Stop.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Algorithm Flow: Input Image → Preprocessing → Model Inference → Classification → Confidence Score → Heatmap → Result.</a:t>
            </a:r>
          </a:p>
        </p:txBody>
      </p:sp>
    </p:spTree>
    <p:extLst>
      <p:ext uri="{BB962C8B-B14F-4D97-AF65-F5344CB8AC3E}">
        <p14:creationId xmlns:p14="http://schemas.microsoft.com/office/powerpoint/2010/main" val="1128216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6A17-9CDB-62DF-E7BF-C09C9D66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8E503E0-C335-EBD9-B402-3F3669DFAF7C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F1760F3-C92E-5A6B-F8F5-F1C83814740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5B2481-9787-129B-A49D-CAFE42FE8C83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0140B92A-C523-C8D9-4C95-F8308B277A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81E8E64E-3A15-FD34-B225-D73D282F84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DFD and UML Diagrams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9E593D9-3563-C981-79E7-8979EE7B255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DE22D36A-D4E8-2A5E-3B25-929F571D497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260C0852-C3BE-5EB3-1FAE-FC47EA545C9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651C0373-D58E-A811-A12C-8A4CF5D3571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A412BA44-06A0-A052-6C54-C23ACFBCFA1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50FFD231-8FF3-4F8D-BBFD-969C182443F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802B1-4C4B-9F17-190F-3EBB6603E5B4}"/>
              </a:ext>
            </a:extLst>
          </p:cNvPr>
          <p:cNvSpPr txBox="1"/>
          <p:nvPr/>
        </p:nvSpPr>
        <p:spPr>
          <a:xfrm>
            <a:off x="194733" y="1139727"/>
            <a:ext cx="870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DFD LEVEL 0</a:t>
            </a:r>
          </a:p>
        </p:txBody>
      </p:sp>
      <p:pic>
        <p:nvPicPr>
          <p:cNvPr id="13" name="Picture 12" descr="PlantUML Diagram">
            <a:extLst>
              <a:ext uri="{FF2B5EF4-FFF2-40B4-BE49-F238E27FC236}">
                <a16:creationId xmlns:a16="http://schemas.microsoft.com/office/drawing/2014/main" id="{60E2635D-CE0B-08F7-6059-AB57F429FC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75" y="2652063"/>
            <a:ext cx="8595948" cy="153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53B4-E35F-CF8D-BCA0-BCA1C745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3E62888-9B3F-45E4-A54E-11E1E43216BF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A8003CF-6B85-9030-8AFB-79CE02AE4E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2FF434-7FED-A984-E948-64AFED87E347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5773A915-9F33-5028-0E2E-8C7A791CED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A5FE0438-707E-7E24-3553-59484136D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DFD and UML Diagrams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983C1B5C-083B-2D39-E3CE-E8475D1035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2FC0FC89-4733-9597-6D27-34E8D870A4F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B882DC90-66AC-CE13-4523-73F3C41B4F2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5BAF09EE-1C99-9B9A-8845-C0719E7F537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40E5DEB3-4D86-1A3E-95D4-DC24024DE5D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D6BE38EA-C609-C457-1035-8D7BA1E7AA4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D80F9-EBA0-05D6-3075-AB71A3C480B5}"/>
              </a:ext>
            </a:extLst>
          </p:cNvPr>
          <p:cNvSpPr txBox="1"/>
          <p:nvPr/>
        </p:nvSpPr>
        <p:spPr>
          <a:xfrm>
            <a:off x="194733" y="1139727"/>
            <a:ext cx="870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DFD LEVEL 1</a:t>
            </a:r>
          </a:p>
        </p:txBody>
      </p:sp>
      <p:pic>
        <p:nvPicPr>
          <p:cNvPr id="16" name="Picture 15" descr="PlantUML Diagram">
            <a:extLst>
              <a:ext uri="{FF2B5EF4-FFF2-40B4-BE49-F238E27FC236}">
                <a16:creationId xmlns:a16="http://schemas.microsoft.com/office/drawing/2014/main" id="{9FF2F157-9F71-59B2-5F03-D8AE34A1C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33" y="2895600"/>
            <a:ext cx="8568267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74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57D2-80A8-E544-7F0E-BA57603B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EC0502D-2624-4AAD-24C1-CEE171DF8536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48A8D08-D6C1-B48F-8F4E-256EBCD428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4D6B22-E675-8224-0224-B51A0FC94D2F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4AE217E9-20ED-6911-12B8-8F7B11C8BC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A1663E2B-8AD8-315B-38AB-7FBD2215C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DFD and UML Diagrams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58FEDA75-1DE5-61C6-909D-888DF7349E8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AE18391E-BE1E-6303-8D59-C22EA8C8DE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D3044F83-386C-0EBE-B072-D6E9A33D911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67195E77-82D8-DDE5-7A1A-EEDA60B19CC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9731A313-BCE6-750D-6A10-D03FA71A613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20E06E3B-2B0B-CFE6-ACEA-134A7A01FC8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2B7E8-118A-DD82-E660-7D2E26D461B5}"/>
              </a:ext>
            </a:extLst>
          </p:cNvPr>
          <p:cNvSpPr txBox="1"/>
          <p:nvPr/>
        </p:nvSpPr>
        <p:spPr>
          <a:xfrm>
            <a:off x="194733" y="1139727"/>
            <a:ext cx="870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DFD LEVEL 2</a:t>
            </a:r>
          </a:p>
        </p:txBody>
      </p:sp>
      <p:pic>
        <p:nvPicPr>
          <p:cNvPr id="14" name="Picture 13" descr="PlantUML Diagram">
            <a:extLst>
              <a:ext uri="{FF2B5EF4-FFF2-40B4-BE49-F238E27FC236}">
                <a16:creationId xmlns:a16="http://schemas.microsoft.com/office/drawing/2014/main" id="{D13C401F-B43E-54EA-3B49-F23A8BBA2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95" y="2628900"/>
            <a:ext cx="8460112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57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A161-0A52-8228-7C39-332D35CB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5964865-A46A-50C4-73A2-BB23A24B13EF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C45469E-3D5B-E988-E218-78D1F2CB3C0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1C16052-694E-1CAC-F773-8CFE57193584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4CF6282B-B12A-2697-3DBE-321FFFAC8E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BB41B0D2-B827-E5AF-2E40-B318F22020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DFD and UML Diagrams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D9A35FBB-D848-4DFD-1ADB-5E26A3CD6A7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F29A4FBD-5BD5-AC63-26F8-21BBCB6C9B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AC201E7D-5A9E-3B55-7627-42E57E81630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A7F0714A-29E3-6766-E70C-B83E8286B32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31D3C3B7-5984-CB9C-7728-E07FD312CDB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3EADD113-DE0D-BD30-6333-C67DB2D7D8C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EFAFF-3987-9981-0639-4B02D31D64AB}"/>
              </a:ext>
            </a:extLst>
          </p:cNvPr>
          <p:cNvSpPr txBox="1"/>
          <p:nvPr/>
        </p:nvSpPr>
        <p:spPr>
          <a:xfrm>
            <a:off x="194733" y="1139727"/>
            <a:ext cx="870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Use Case</a:t>
            </a:r>
          </a:p>
        </p:txBody>
      </p:sp>
      <p:pic>
        <p:nvPicPr>
          <p:cNvPr id="13" name="Picture 12" descr="PlantUML Diagram">
            <a:extLst>
              <a:ext uri="{FF2B5EF4-FFF2-40B4-BE49-F238E27FC236}">
                <a16:creationId xmlns:a16="http://schemas.microsoft.com/office/drawing/2014/main" id="{E357BC30-DD51-4D86-AFBA-49F39925E9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969536"/>
            <a:ext cx="2785807" cy="516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96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96CB-B53D-6CC6-0822-118BAD2D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A04EAE1-A111-A4C8-53E6-6D5CBC340796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0757308-FB7D-221D-254F-3AA5FF93F8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9BB9A3A-D60D-C510-CFD1-072C4F0DE34C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31D2F874-5F85-2458-78B0-C3B20032F6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EF3F10A6-802C-F601-4F8E-5649ACDE9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2662" y="113791"/>
            <a:ext cx="748653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/>
              <a:t>Software and Hardware Requirements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92E7682-E9AB-9BF0-4A4F-2C914C7A2AE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3D7382AC-49D5-D02E-75EE-BE4BA8CA621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0A2F34A4-220D-D83C-FBB3-5F04E871111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5A5DBF7C-3CA8-1C54-4DE5-2630CBC74B8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0B2C4032-1B1A-3576-A88F-1AD6463DA34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180D1130-1993-71EF-B1DE-CB7A2666893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7C7E25D-CC93-9646-D933-A43D60719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035054"/>
              </p:ext>
            </p:extLst>
          </p:nvPr>
        </p:nvGraphicFramePr>
        <p:xfrm>
          <a:off x="541955" y="1262374"/>
          <a:ext cx="3469970" cy="46727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4985">
                  <a:extLst>
                    <a:ext uri="{9D8B030D-6E8A-4147-A177-3AD203B41FA5}">
                      <a16:colId xmlns:a16="http://schemas.microsoft.com/office/drawing/2014/main" val="4063443330"/>
                    </a:ext>
                  </a:extLst>
                </a:gridCol>
                <a:gridCol w="1734985">
                  <a:extLst>
                    <a:ext uri="{9D8B030D-6E8A-4147-A177-3AD203B41FA5}">
                      <a16:colId xmlns:a16="http://schemas.microsoft.com/office/drawing/2014/main" val="1712991956"/>
                    </a:ext>
                  </a:extLst>
                </a:gridCol>
              </a:tblGrid>
              <a:tr h="23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Software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Purpose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2158310071"/>
                  </a:ext>
                </a:extLst>
              </a:tr>
              <a:tr h="23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Python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Backend and AI processing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2752157012"/>
                  </a:ext>
                </a:extLst>
              </a:tr>
              <a:tr h="41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Flask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Web application framework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1257976283"/>
                  </a:ext>
                </a:extLst>
              </a:tr>
              <a:tr h="23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HTML, CSS, JavaScript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Frontend interface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3352223516"/>
                  </a:ext>
                </a:extLst>
              </a:tr>
              <a:tr h="586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PyTorch or TensorFlow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Deep-learning model, depending on implementation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2569018405"/>
                  </a:ext>
                </a:extLst>
              </a:tr>
              <a:tr h="41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OpenCV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processing and face detection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1555682430"/>
                  </a:ext>
                </a:extLst>
              </a:tr>
              <a:tr h="41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Grad-CAM library / implementation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Model visualization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2497614480"/>
                  </a:ext>
                </a:extLst>
              </a:tr>
              <a:tr h="23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SQLite or MySQL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Database storage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1553884657"/>
                  </a:ext>
                </a:extLst>
              </a:tr>
              <a:tr h="23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VS Code / equivalent IDE</a:t>
                      </a:r>
                    </a:p>
                  </a:txBody>
                  <a:tcPr marL="58613" marR="58613" marT="29306" marB="29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Development environment</a:t>
                      </a:r>
                    </a:p>
                  </a:txBody>
                  <a:tcPr marL="58613" marR="58613" marT="29306" marB="29306" anchor="ctr"/>
                </a:tc>
                <a:extLst>
                  <a:ext uri="{0D108BD9-81ED-4DB2-BD59-A6C34878D82A}">
                    <a16:rowId xmlns:a16="http://schemas.microsoft.com/office/drawing/2014/main" val="27475859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C80250-09AD-5651-8503-0E2FFB11F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71481"/>
              </p:ext>
            </p:extLst>
          </p:nvPr>
        </p:nvGraphicFramePr>
        <p:xfrm>
          <a:off x="4774246" y="1262374"/>
          <a:ext cx="3686844" cy="4762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3422">
                  <a:extLst>
                    <a:ext uri="{9D8B030D-6E8A-4147-A177-3AD203B41FA5}">
                      <a16:colId xmlns:a16="http://schemas.microsoft.com/office/drawing/2014/main" val="49394283"/>
                    </a:ext>
                  </a:extLst>
                </a:gridCol>
                <a:gridCol w="1843422">
                  <a:extLst>
                    <a:ext uri="{9D8B030D-6E8A-4147-A177-3AD203B41FA5}">
                      <a16:colId xmlns:a16="http://schemas.microsoft.com/office/drawing/2014/main" val="833633514"/>
                    </a:ext>
                  </a:extLst>
                </a:gridCol>
              </a:tblGrid>
              <a:tr h="249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Hardware</a:t>
                      </a:r>
                    </a:p>
                  </a:txBody>
                  <a:tcPr marL="62276" marR="62276" marT="31138" marB="311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Proposed requirement</a:t>
                      </a:r>
                    </a:p>
                  </a:txBody>
                  <a:tcPr marL="62276" marR="62276" marT="31138" marB="31138" anchor="ctr"/>
                </a:tc>
                <a:extLst>
                  <a:ext uri="{0D108BD9-81ED-4DB2-BD59-A6C34878D82A}">
                    <a16:rowId xmlns:a16="http://schemas.microsoft.com/office/drawing/2014/main" val="3072920703"/>
                  </a:ext>
                </a:extLst>
              </a:tr>
              <a:tr h="249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Processor</a:t>
                      </a:r>
                    </a:p>
                  </a:txBody>
                  <a:tcPr marL="62276" marR="62276" marT="31138" marB="311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Intel Core i5 or equivalent</a:t>
                      </a:r>
                    </a:p>
                  </a:txBody>
                  <a:tcPr marL="62276" marR="62276" marT="31138" marB="31138" anchor="ctr"/>
                </a:tc>
                <a:extLst>
                  <a:ext uri="{0D108BD9-81ED-4DB2-BD59-A6C34878D82A}">
                    <a16:rowId xmlns:a16="http://schemas.microsoft.com/office/drawing/2014/main" val="3129616288"/>
                  </a:ext>
                </a:extLst>
              </a:tr>
              <a:tr h="43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RAM</a:t>
                      </a:r>
                    </a:p>
                  </a:txBody>
                  <a:tcPr marL="62276" marR="62276" marT="31138" marB="311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8 GB minimum; 16 GB recommended</a:t>
                      </a:r>
                    </a:p>
                  </a:txBody>
                  <a:tcPr marL="62276" marR="62276" marT="31138" marB="31138" anchor="ctr"/>
                </a:tc>
                <a:extLst>
                  <a:ext uri="{0D108BD9-81ED-4DB2-BD59-A6C34878D82A}">
                    <a16:rowId xmlns:a16="http://schemas.microsoft.com/office/drawing/2014/main" val="2805547407"/>
                  </a:ext>
                </a:extLst>
              </a:tr>
              <a:tr h="996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Storage</a:t>
                      </a:r>
                    </a:p>
                  </a:txBody>
                  <a:tcPr marL="62276" marR="62276" marT="31138" marB="311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At least 10 GB free for code, dependencies and working data; more if storing the complete dataset</a:t>
                      </a:r>
                    </a:p>
                  </a:txBody>
                  <a:tcPr marL="62276" marR="62276" marT="31138" marB="31138" anchor="ctr"/>
                </a:tc>
                <a:extLst>
                  <a:ext uri="{0D108BD9-81ED-4DB2-BD59-A6C34878D82A}">
                    <a16:rowId xmlns:a16="http://schemas.microsoft.com/office/drawing/2014/main" val="1811419784"/>
                  </a:ext>
                </a:extLst>
              </a:tr>
              <a:tr h="809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GPU</a:t>
                      </a:r>
                    </a:p>
                  </a:txBody>
                  <a:tcPr marL="62276" marR="62276" marT="31138" marB="311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Optional for inference; GPU with sufficient VRAM recommended for model training</a:t>
                      </a:r>
                    </a:p>
                  </a:txBody>
                  <a:tcPr marL="62276" marR="62276" marT="31138" marB="31138" anchor="ctr"/>
                </a:tc>
                <a:extLst>
                  <a:ext uri="{0D108BD9-81ED-4DB2-BD59-A6C34878D82A}">
                    <a16:rowId xmlns:a16="http://schemas.microsoft.com/office/drawing/2014/main" val="3422581288"/>
                  </a:ext>
                </a:extLst>
              </a:tr>
              <a:tr h="249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Operating System</a:t>
                      </a:r>
                    </a:p>
                  </a:txBody>
                  <a:tcPr marL="62276" marR="62276" marT="31138" marB="311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Windows or Linux</a:t>
                      </a:r>
                    </a:p>
                  </a:txBody>
                  <a:tcPr marL="62276" marR="62276" marT="31138" marB="31138" anchor="ctr"/>
                </a:tc>
                <a:extLst>
                  <a:ext uri="{0D108BD9-81ED-4DB2-BD59-A6C34878D82A}">
                    <a16:rowId xmlns:a16="http://schemas.microsoft.com/office/drawing/2014/main" val="613422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73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CBA1-E1F0-4A25-B336-BAB797DC3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9FEE9FB-4A63-6290-FE24-BBB159F0CAA0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FCE03DF-DDE7-F225-4B52-4DE3E0DB4F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1461BC2-B03F-29A9-16E3-6088BBB849D9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3074B164-8750-EE74-8888-2FA2F75E375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380B09B1-1D4F-2F95-C686-F34E31328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3A445B02-6D2A-B641-1028-362DDD62400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30987E02-92FC-38F8-994A-0F5C3C1590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E23B024E-7471-A311-09CA-85E7B5C8CE8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9FAE1FFC-BA08-8553-867F-438CDF9B1B4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F0A00A02-C847-FBDB-7BE8-414524472D8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3BE28E1C-F2DB-EF23-48A1-43E417EC269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96452-F5A3-1A84-6781-7765F641E8CF}"/>
              </a:ext>
            </a:extLst>
          </p:cNvPr>
          <p:cNvSpPr txBox="1"/>
          <p:nvPr/>
        </p:nvSpPr>
        <p:spPr>
          <a:xfrm>
            <a:off x="194733" y="1139727"/>
            <a:ext cx="870421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</a:t>
            </a:r>
          </a:p>
          <a:p>
            <a:pPr lvl="0"/>
            <a:r>
              <a:rPr lang="en-US" dirty="0"/>
              <a:t>AI </a:t>
            </a:r>
            <a:r>
              <a:rPr lang="en-US" dirty="0" err="1"/>
              <a:t>DeepGuard</a:t>
            </a:r>
            <a:r>
              <a:rPr lang="en-US" dirty="0"/>
              <a:t> Detection aims to identify potentially manipulated facial images using deep learning.</a:t>
            </a:r>
          </a:p>
          <a:p>
            <a:pPr lvl="0"/>
            <a:r>
              <a:rPr lang="en-US" dirty="0"/>
              <a:t>The system combines image preprocessing, classification and explainable visual analysis.</a:t>
            </a:r>
          </a:p>
          <a:p>
            <a:pPr lvl="0"/>
            <a:r>
              <a:rPr lang="en-US" dirty="0"/>
              <a:t>A web interface makes detection results easier to access and interpret.</a:t>
            </a:r>
          </a:p>
          <a:p>
            <a:pPr lvl="0"/>
            <a:r>
              <a:rPr lang="en-US" dirty="0"/>
              <a:t>Detection history and report generation support record keeping and analysis.</a:t>
            </a:r>
          </a:p>
          <a:p>
            <a:endParaRPr lang="en-US" b="1" dirty="0"/>
          </a:p>
          <a:p>
            <a:r>
              <a:rPr lang="en-US" b="1" dirty="0"/>
              <a:t>Future Scope</a:t>
            </a:r>
          </a:p>
          <a:p>
            <a:pPr lvl="0"/>
            <a:r>
              <a:rPr lang="en-US" dirty="0"/>
              <a:t>Extend detection to videos and real-time streams.</a:t>
            </a:r>
          </a:p>
          <a:p>
            <a:pPr lvl="0"/>
            <a:r>
              <a:rPr lang="en-US" dirty="0"/>
              <a:t>Evaluate generalization across datasets and compression levels.</a:t>
            </a:r>
          </a:p>
          <a:p>
            <a:pPr lvl="0"/>
            <a:r>
              <a:rPr lang="en-US" dirty="0"/>
              <a:t>Improve robustness against unseen manipulation techniques.</a:t>
            </a:r>
          </a:p>
          <a:p>
            <a:pPr lvl="0"/>
            <a:r>
              <a:rPr lang="en-US" dirty="0"/>
              <a:t>Add multilingual support and additional explainability methods.</a:t>
            </a:r>
          </a:p>
          <a:p>
            <a:pPr lvl="0"/>
            <a:r>
              <a:rPr lang="en-US" dirty="0"/>
              <a:t>Evaluate fairness across demographic groups when reliable demographic data is available.</a:t>
            </a:r>
          </a:p>
          <a:p>
            <a:pPr lvl="0"/>
            <a:endParaRPr lang="en-US" dirty="0"/>
          </a:p>
          <a:p>
            <a:r>
              <a:rPr lang="en-US" b="1" dirty="0"/>
              <a:t>Limitation: </a:t>
            </a:r>
            <a:r>
              <a:rPr lang="en-US" dirty="0"/>
              <a:t>A prediction is not definitive proof that an image is authentic or manipulated. Performance must be validated on appropriate test data.</a:t>
            </a:r>
          </a:p>
        </p:txBody>
      </p:sp>
    </p:spTree>
    <p:extLst>
      <p:ext uri="{BB962C8B-B14F-4D97-AF65-F5344CB8AC3E}">
        <p14:creationId xmlns:p14="http://schemas.microsoft.com/office/powerpoint/2010/main" val="2627278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5ACC-144A-2B4C-A97E-0DC21B71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D8D6A7F-D47D-A1E8-4D5D-6846CBE0230E}"/>
              </a:ext>
            </a:extLst>
          </p:cNvPr>
          <p:cNvGrpSpPr/>
          <p:nvPr/>
        </p:nvGrpSpPr>
        <p:grpSpPr>
          <a:xfrm>
            <a:off x="0" y="0"/>
            <a:ext cx="9144000" cy="901700"/>
            <a:chOff x="0" y="0"/>
            <a:chExt cx="9144000" cy="9017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C60C533-CD38-ED5F-F741-3E5799757B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012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91CD0AD-AA4E-25BC-E328-302E9DABB6CB}"/>
                </a:ext>
              </a:extLst>
            </p:cNvPr>
            <p:cNvSpPr/>
            <p:nvPr/>
          </p:nvSpPr>
          <p:spPr>
            <a:xfrm>
              <a:off x="0" y="0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3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38199"/>
                  </a:lnTo>
                  <a:close/>
                </a:path>
              </a:pathLst>
            </a:custGeom>
            <a:solidFill>
              <a:srgbClr val="5F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01AC73DD-E0D4-7608-4DE2-D901C7D82E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88" y="71414"/>
            <a:ext cx="630534" cy="719999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0705E746-514E-38A8-52F6-425AFB2C8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References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61A67872-1A55-41E6-8DDF-3503942668D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3858"/>
            <a:ext cx="1754480" cy="374141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A425D530-74B7-49E7-A38E-DBA21143FFD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lang="en-US" dirty="0"/>
              <a:t>3</a:t>
            </a:r>
            <a:r>
              <a:rPr lang="en-US" spc="35" dirty="0"/>
              <a:t> </a:t>
            </a:r>
            <a:r>
              <a:rPr lang="en-US" dirty="0"/>
              <a:t>November</a:t>
            </a:r>
            <a:r>
              <a:rPr spc="35" dirty="0"/>
              <a:t> </a:t>
            </a:r>
            <a:r>
              <a:rPr spc="-20" dirty="0"/>
              <a:t>202</a:t>
            </a:r>
            <a:r>
              <a:rPr lang="en-US" spc="-20" dirty="0"/>
              <a:t>3</a:t>
            </a:r>
            <a:endParaRPr spc="-20" dirty="0"/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23D90325-60FA-841B-366A-BF34DC50A70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4612" y="6412396"/>
            <a:ext cx="3937652" cy="44560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CBBF7319-F05E-2242-7241-7D4DFEC545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78CF1FE0-8452-DFB4-BA16-5973E9D8C30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1090" y="6412396"/>
            <a:ext cx="580066" cy="44560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70DA5041-A56E-038F-A7AE-D86E3911D9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B371B-1D08-C961-EDD3-B33E8C7ACAAE}"/>
              </a:ext>
            </a:extLst>
          </p:cNvPr>
          <p:cNvSpPr txBox="1"/>
          <p:nvPr/>
        </p:nvSpPr>
        <p:spPr>
          <a:xfrm>
            <a:off x="194733" y="1139727"/>
            <a:ext cx="870421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1. D. Nguyen et al., “LAA-Net: Localized Artifact Attention Network for Quality-Agnostic and Generalizable Deepfake Detection,” Proceedings of CVPR, 2024. </a:t>
            </a:r>
            <a:r>
              <a:rPr lang="en-US" sz="2000" dirty="0">
                <a:hlinkClick r:id="rId7"/>
              </a:rPr>
              <a:t>Paper PDF</a:t>
            </a:r>
            <a:endParaRPr lang="en-US" sz="2000" dirty="0"/>
          </a:p>
          <a:p>
            <a:r>
              <a:rPr lang="en-US" sz="2000" dirty="0"/>
              <a:t>2. Z. Huang et al., “SIDA: Social Media Image Deepfake Detection, Localization and Explanation with Large Multimodal Model,” Proceedings of CVPR, 2025. </a:t>
            </a:r>
            <a:r>
              <a:rPr lang="en-US" sz="2000" dirty="0">
                <a:hlinkClick r:id="rId8"/>
              </a:rPr>
              <a:t>Paper PDF</a:t>
            </a:r>
            <a:endParaRPr lang="en-US" sz="2000" dirty="0"/>
          </a:p>
          <a:p>
            <a:r>
              <a:rPr lang="en-US" sz="2000" dirty="0"/>
              <a:t>3. M. </a:t>
            </a:r>
            <a:r>
              <a:rPr lang="en-US" sz="2000" dirty="0" err="1"/>
              <a:t>Alrahhal</a:t>
            </a:r>
            <a:r>
              <a:rPr lang="en-US" sz="2000" dirty="0"/>
              <a:t> et al., “Deepfake Face Detection Using Hybrid Bag-of-Visual-Words and Multi-CNN Feature Fusion,” Scientific Reports, vol. 16, 2026. </a:t>
            </a:r>
            <a:r>
              <a:rPr lang="en-US" sz="2000" dirty="0">
                <a:hlinkClick r:id="rId9"/>
              </a:rPr>
              <a:t>Full paper</a:t>
            </a:r>
            <a:endParaRPr lang="en-US" sz="2000" dirty="0"/>
          </a:p>
          <a:p>
            <a:r>
              <a:rPr lang="en-US" sz="2000" dirty="0"/>
              <a:t>4. A. Rössler et al., “</a:t>
            </a:r>
            <a:r>
              <a:rPr lang="en-US" sz="2000" dirty="0" err="1"/>
              <a:t>FaceForensics</a:t>
            </a:r>
            <a:r>
              <a:rPr lang="en-US" sz="2000" dirty="0"/>
              <a:t>++: Learning to Detect Manipulated Facial Images,” Proceedings of ICCV, 2019. </a:t>
            </a:r>
            <a:r>
              <a:rPr lang="en-US" sz="2000" dirty="0">
                <a:hlinkClick r:id="rId10"/>
              </a:rPr>
              <a:t>Paper</a:t>
            </a:r>
            <a:endParaRPr lang="en-US" sz="2000" dirty="0"/>
          </a:p>
          <a:p>
            <a:r>
              <a:rPr lang="en-US" sz="2000" dirty="0"/>
              <a:t>5. </a:t>
            </a:r>
            <a:r>
              <a:rPr lang="en-US" sz="2000" dirty="0" err="1"/>
              <a:t>FaceForensics</a:t>
            </a:r>
            <a:r>
              <a:rPr lang="en-US" sz="2000" dirty="0"/>
              <a:t> dataset, Kaggle, </a:t>
            </a:r>
            <a:r>
              <a:rPr lang="en-US" sz="2000" dirty="0" err="1"/>
              <a:t>greatgamedota</a:t>
            </a:r>
            <a:r>
              <a:rPr lang="en-US" sz="2000" dirty="0"/>
              <a:t>/</a:t>
            </a:r>
            <a:r>
              <a:rPr lang="en-US" sz="2000" dirty="0" err="1"/>
              <a:t>faceforensics</a:t>
            </a:r>
            <a:r>
              <a:rPr lang="en-US" sz="2000" dirty="0"/>
              <a:t>. </a:t>
            </a:r>
            <a:r>
              <a:rPr lang="en-US" sz="2000" dirty="0">
                <a:hlinkClick r:id="rId11"/>
              </a:rPr>
              <a:t>Dataset page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4148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1714487"/>
            <a:ext cx="9144000" cy="2786380"/>
          </a:xfrm>
          <a:custGeom>
            <a:avLst/>
            <a:gdLst/>
            <a:ahLst/>
            <a:cxnLst/>
            <a:rect l="l" t="t" r="r" b="b"/>
            <a:pathLst>
              <a:path w="9144000" h="2786379">
                <a:moveTo>
                  <a:pt x="9143999" y="2786081"/>
                </a:moveTo>
                <a:lnTo>
                  <a:pt x="0" y="2786081"/>
                </a:lnTo>
                <a:lnTo>
                  <a:pt x="0" y="0"/>
                </a:lnTo>
                <a:lnTo>
                  <a:pt x="9143999" y="0"/>
                </a:lnTo>
                <a:lnTo>
                  <a:pt x="9143999" y="2786081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9126" y="2379565"/>
            <a:ext cx="546354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dirty="0"/>
              <a:t>Thank</a:t>
            </a:r>
            <a:r>
              <a:rPr sz="8800" spc="-315" dirty="0"/>
              <a:t> </a:t>
            </a:r>
            <a:r>
              <a:rPr sz="8800" spc="-835" dirty="0"/>
              <a:t>Y</a:t>
            </a:r>
            <a:r>
              <a:rPr sz="8800" spc="-65" dirty="0"/>
              <a:t>o</a:t>
            </a:r>
            <a:r>
              <a:rPr sz="8800" spc="-60" dirty="0"/>
              <a:t>u</a:t>
            </a:r>
            <a:endParaRPr sz="8800"/>
          </a:p>
        </p:txBody>
      </p:sp>
      <p:grpSp>
        <p:nvGrpSpPr>
          <p:cNvPr id="8" name="object 8"/>
          <p:cNvGrpSpPr/>
          <p:nvPr/>
        </p:nvGrpSpPr>
        <p:grpSpPr>
          <a:xfrm>
            <a:off x="5916621" y="1344597"/>
            <a:ext cx="3026410" cy="3597910"/>
            <a:chOff x="5916621" y="1344597"/>
            <a:chExt cx="3026410" cy="3597910"/>
          </a:xfrm>
        </p:grpSpPr>
        <p:sp>
          <p:nvSpPr>
            <p:cNvPr id="9" name="object 9"/>
            <p:cNvSpPr/>
            <p:nvPr/>
          </p:nvSpPr>
          <p:spPr>
            <a:xfrm>
              <a:off x="5929321" y="1357297"/>
              <a:ext cx="3001010" cy="3572510"/>
            </a:xfrm>
            <a:custGeom>
              <a:avLst/>
              <a:gdLst/>
              <a:ahLst/>
              <a:cxnLst/>
              <a:rect l="l" t="t" r="r" b="b"/>
              <a:pathLst>
                <a:path w="3001009" h="3572510">
                  <a:moveTo>
                    <a:pt x="1500197" y="3571899"/>
                  </a:moveTo>
                  <a:lnTo>
                    <a:pt x="1455965" y="3571138"/>
                  </a:lnTo>
                  <a:lnTo>
                    <a:pt x="1412049" y="3568868"/>
                  </a:lnTo>
                  <a:lnTo>
                    <a:pt x="1368470" y="3565109"/>
                  </a:lnTo>
                  <a:lnTo>
                    <a:pt x="1325243" y="3559884"/>
                  </a:lnTo>
                  <a:lnTo>
                    <a:pt x="1282386" y="3553213"/>
                  </a:lnTo>
                  <a:lnTo>
                    <a:pt x="1239918" y="3545116"/>
                  </a:lnTo>
                  <a:lnTo>
                    <a:pt x="1197855" y="3535615"/>
                  </a:lnTo>
                  <a:lnTo>
                    <a:pt x="1156216" y="3524731"/>
                  </a:lnTo>
                  <a:lnTo>
                    <a:pt x="1115017" y="3512485"/>
                  </a:lnTo>
                  <a:lnTo>
                    <a:pt x="1074277" y="3498897"/>
                  </a:lnTo>
                  <a:lnTo>
                    <a:pt x="1034013" y="3483989"/>
                  </a:lnTo>
                  <a:lnTo>
                    <a:pt x="994243" y="3467781"/>
                  </a:lnTo>
                  <a:lnTo>
                    <a:pt x="954983" y="3450295"/>
                  </a:lnTo>
                  <a:lnTo>
                    <a:pt x="916253" y="3431551"/>
                  </a:lnTo>
                  <a:lnTo>
                    <a:pt x="878069" y="3411570"/>
                  </a:lnTo>
                  <a:lnTo>
                    <a:pt x="840448" y="3390373"/>
                  </a:lnTo>
                  <a:lnTo>
                    <a:pt x="803410" y="3367982"/>
                  </a:lnTo>
                  <a:lnTo>
                    <a:pt x="766970" y="3344417"/>
                  </a:lnTo>
                  <a:lnTo>
                    <a:pt x="731148" y="3319699"/>
                  </a:lnTo>
                  <a:lnTo>
                    <a:pt x="695959" y="3293849"/>
                  </a:lnTo>
                  <a:lnTo>
                    <a:pt x="661423" y="3266887"/>
                  </a:lnTo>
                  <a:lnTo>
                    <a:pt x="627555" y="3238836"/>
                  </a:lnTo>
                  <a:lnTo>
                    <a:pt x="594375" y="3209715"/>
                  </a:lnTo>
                  <a:lnTo>
                    <a:pt x="561900" y="3179546"/>
                  </a:lnTo>
                  <a:lnTo>
                    <a:pt x="530147" y="3148350"/>
                  </a:lnTo>
                  <a:lnTo>
                    <a:pt x="499134" y="3116147"/>
                  </a:lnTo>
                  <a:lnTo>
                    <a:pt x="468878" y="3082959"/>
                  </a:lnTo>
                  <a:lnTo>
                    <a:pt x="439397" y="3048807"/>
                  </a:lnTo>
                  <a:lnTo>
                    <a:pt x="410709" y="3013711"/>
                  </a:lnTo>
                  <a:lnTo>
                    <a:pt x="382831" y="2977692"/>
                  </a:lnTo>
                  <a:lnTo>
                    <a:pt x="355781" y="2940771"/>
                  </a:lnTo>
                  <a:lnTo>
                    <a:pt x="329576" y="2902970"/>
                  </a:lnTo>
                  <a:lnTo>
                    <a:pt x="304234" y="2864309"/>
                  </a:lnTo>
                  <a:lnTo>
                    <a:pt x="279773" y="2824809"/>
                  </a:lnTo>
                  <a:lnTo>
                    <a:pt x="256210" y="2784491"/>
                  </a:lnTo>
                  <a:lnTo>
                    <a:pt x="233562" y="2743376"/>
                  </a:lnTo>
                  <a:lnTo>
                    <a:pt x="211848" y="2701485"/>
                  </a:lnTo>
                  <a:lnTo>
                    <a:pt x="191085" y="2658839"/>
                  </a:lnTo>
                  <a:lnTo>
                    <a:pt x="171290" y="2615459"/>
                  </a:lnTo>
                  <a:lnTo>
                    <a:pt x="152481" y="2571365"/>
                  </a:lnTo>
                  <a:lnTo>
                    <a:pt x="134676" y="2526579"/>
                  </a:lnTo>
                  <a:lnTo>
                    <a:pt x="117892" y="2481122"/>
                  </a:lnTo>
                  <a:lnTo>
                    <a:pt x="102148" y="2435014"/>
                  </a:lnTo>
                  <a:lnTo>
                    <a:pt x="87459" y="2388277"/>
                  </a:lnTo>
                  <a:lnTo>
                    <a:pt x="73844" y="2340931"/>
                  </a:lnTo>
                  <a:lnTo>
                    <a:pt x="61322" y="2292997"/>
                  </a:lnTo>
                  <a:lnTo>
                    <a:pt x="49908" y="2244497"/>
                  </a:lnTo>
                  <a:lnTo>
                    <a:pt x="39621" y="2195451"/>
                  </a:lnTo>
                  <a:lnTo>
                    <a:pt x="30478" y="2145881"/>
                  </a:lnTo>
                  <a:lnTo>
                    <a:pt x="22498" y="2095806"/>
                  </a:lnTo>
                  <a:lnTo>
                    <a:pt x="15696" y="2045249"/>
                  </a:lnTo>
                  <a:lnTo>
                    <a:pt x="10092" y="1994229"/>
                  </a:lnTo>
                  <a:lnTo>
                    <a:pt x="5703" y="1942768"/>
                  </a:lnTo>
                  <a:lnTo>
                    <a:pt x="2546" y="1890888"/>
                  </a:lnTo>
                  <a:lnTo>
                    <a:pt x="639" y="1838608"/>
                  </a:lnTo>
                  <a:lnTo>
                    <a:pt x="0" y="1785949"/>
                  </a:lnTo>
                  <a:lnTo>
                    <a:pt x="639" y="1733291"/>
                  </a:lnTo>
                  <a:lnTo>
                    <a:pt x="2546" y="1681011"/>
                  </a:lnTo>
                  <a:lnTo>
                    <a:pt x="5703" y="1629131"/>
                  </a:lnTo>
                  <a:lnTo>
                    <a:pt x="10092" y="1577670"/>
                  </a:lnTo>
                  <a:lnTo>
                    <a:pt x="15696" y="1526650"/>
                  </a:lnTo>
                  <a:lnTo>
                    <a:pt x="22498" y="1476093"/>
                  </a:lnTo>
                  <a:lnTo>
                    <a:pt x="30478" y="1426018"/>
                  </a:lnTo>
                  <a:lnTo>
                    <a:pt x="39621" y="1376448"/>
                  </a:lnTo>
                  <a:lnTo>
                    <a:pt x="49908" y="1327402"/>
                  </a:lnTo>
                  <a:lnTo>
                    <a:pt x="61322" y="1278902"/>
                  </a:lnTo>
                  <a:lnTo>
                    <a:pt x="73844" y="1230968"/>
                  </a:lnTo>
                  <a:lnTo>
                    <a:pt x="87459" y="1183622"/>
                  </a:lnTo>
                  <a:lnTo>
                    <a:pt x="102148" y="1136885"/>
                  </a:lnTo>
                  <a:lnTo>
                    <a:pt x="117892" y="1090777"/>
                  </a:lnTo>
                  <a:lnTo>
                    <a:pt x="134676" y="1045320"/>
                  </a:lnTo>
                  <a:lnTo>
                    <a:pt x="152481" y="1000534"/>
                  </a:lnTo>
                  <a:lnTo>
                    <a:pt x="171290" y="956440"/>
                  </a:lnTo>
                  <a:lnTo>
                    <a:pt x="191085" y="913060"/>
                  </a:lnTo>
                  <a:lnTo>
                    <a:pt x="211848" y="870414"/>
                  </a:lnTo>
                  <a:lnTo>
                    <a:pt x="233562" y="828523"/>
                  </a:lnTo>
                  <a:lnTo>
                    <a:pt x="256210" y="787408"/>
                  </a:lnTo>
                  <a:lnTo>
                    <a:pt x="279773" y="747090"/>
                  </a:lnTo>
                  <a:lnTo>
                    <a:pt x="304234" y="707590"/>
                  </a:lnTo>
                  <a:lnTo>
                    <a:pt x="329576" y="668929"/>
                  </a:lnTo>
                  <a:lnTo>
                    <a:pt x="355781" y="631128"/>
                  </a:lnTo>
                  <a:lnTo>
                    <a:pt x="382831" y="594207"/>
                  </a:lnTo>
                  <a:lnTo>
                    <a:pt x="410709" y="558188"/>
                  </a:lnTo>
                  <a:lnTo>
                    <a:pt x="439397" y="523092"/>
                  </a:lnTo>
                  <a:lnTo>
                    <a:pt x="468878" y="488940"/>
                  </a:lnTo>
                  <a:lnTo>
                    <a:pt x="499134" y="455752"/>
                  </a:lnTo>
                  <a:lnTo>
                    <a:pt x="530147" y="423549"/>
                  </a:lnTo>
                  <a:lnTo>
                    <a:pt x="561900" y="392353"/>
                  </a:lnTo>
                  <a:lnTo>
                    <a:pt x="594375" y="362184"/>
                  </a:lnTo>
                  <a:lnTo>
                    <a:pt x="627555" y="333063"/>
                  </a:lnTo>
                  <a:lnTo>
                    <a:pt x="661423" y="305012"/>
                  </a:lnTo>
                  <a:lnTo>
                    <a:pt x="695959" y="278050"/>
                  </a:lnTo>
                  <a:lnTo>
                    <a:pt x="731148" y="252200"/>
                  </a:lnTo>
                  <a:lnTo>
                    <a:pt x="766970" y="227482"/>
                  </a:lnTo>
                  <a:lnTo>
                    <a:pt x="803410" y="203917"/>
                  </a:lnTo>
                  <a:lnTo>
                    <a:pt x="840448" y="181526"/>
                  </a:lnTo>
                  <a:lnTo>
                    <a:pt x="878069" y="160329"/>
                  </a:lnTo>
                  <a:lnTo>
                    <a:pt x="916253" y="140348"/>
                  </a:lnTo>
                  <a:lnTo>
                    <a:pt x="954983" y="121604"/>
                  </a:lnTo>
                  <a:lnTo>
                    <a:pt x="994243" y="104118"/>
                  </a:lnTo>
                  <a:lnTo>
                    <a:pt x="1034013" y="87910"/>
                  </a:lnTo>
                  <a:lnTo>
                    <a:pt x="1074277" y="73002"/>
                  </a:lnTo>
                  <a:lnTo>
                    <a:pt x="1115017" y="59414"/>
                  </a:lnTo>
                  <a:lnTo>
                    <a:pt x="1156216" y="47168"/>
                  </a:lnTo>
                  <a:lnTo>
                    <a:pt x="1197855" y="36284"/>
                  </a:lnTo>
                  <a:lnTo>
                    <a:pt x="1239918" y="26783"/>
                  </a:lnTo>
                  <a:lnTo>
                    <a:pt x="1282386" y="18686"/>
                  </a:lnTo>
                  <a:lnTo>
                    <a:pt x="1325243" y="12015"/>
                  </a:lnTo>
                  <a:lnTo>
                    <a:pt x="1368470" y="6790"/>
                  </a:lnTo>
                  <a:lnTo>
                    <a:pt x="1412049" y="3031"/>
                  </a:lnTo>
                  <a:lnTo>
                    <a:pt x="1455965" y="761"/>
                  </a:lnTo>
                  <a:lnTo>
                    <a:pt x="1500197" y="0"/>
                  </a:lnTo>
                  <a:lnTo>
                    <a:pt x="1547859" y="900"/>
                  </a:lnTo>
                  <a:lnTo>
                    <a:pt x="1595332" y="3591"/>
                  </a:lnTo>
                  <a:lnTo>
                    <a:pt x="1642584" y="8057"/>
                  </a:lnTo>
                  <a:lnTo>
                    <a:pt x="1689583" y="14281"/>
                  </a:lnTo>
                  <a:lnTo>
                    <a:pt x="1736297" y="22248"/>
                  </a:lnTo>
                  <a:lnTo>
                    <a:pt x="1782693" y="31942"/>
                  </a:lnTo>
                  <a:lnTo>
                    <a:pt x="1828739" y="43347"/>
                  </a:lnTo>
                  <a:lnTo>
                    <a:pt x="1874403" y="56446"/>
                  </a:lnTo>
                  <a:lnTo>
                    <a:pt x="1919652" y="71226"/>
                  </a:lnTo>
                  <a:lnTo>
                    <a:pt x="1964455" y="87668"/>
                  </a:lnTo>
                  <a:lnTo>
                    <a:pt x="2008780" y="105758"/>
                  </a:lnTo>
                  <a:lnTo>
                    <a:pt x="2052593" y="125479"/>
                  </a:lnTo>
                  <a:lnTo>
                    <a:pt x="2095863" y="146816"/>
                  </a:lnTo>
                  <a:lnTo>
                    <a:pt x="2138558" y="169753"/>
                  </a:lnTo>
                  <a:lnTo>
                    <a:pt x="2180645" y="194274"/>
                  </a:lnTo>
                  <a:lnTo>
                    <a:pt x="2222092" y="220362"/>
                  </a:lnTo>
                  <a:lnTo>
                    <a:pt x="2262866" y="248002"/>
                  </a:lnTo>
                  <a:lnTo>
                    <a:pt x="2302937" y="277179"/>
                  </a:lnTo>
                  <a:lnTo>
                    <a:pt x="2342270" y="307876"/>
                  </a:lnTo>
                  <a:lnTo>
                    <a:pt x="2380835" y="340077"/>
                  </a:lnTo>
                  <a:lnTo>
                    <a:pt x="2418599" y="373767"/>
                  </a:lnTo>
                  <a:lnTo>
                    <a:pt x="2455529" y="408929"/>
                  </a:lnTo>
                  <a:lnTo>
                    <a:pt x="2491594" y="445548"/>
                  </a:lnTo>
                  <a:lnTo>
                    <a:pt x="2526761" y="483608"/>
                  </a:lnTo>
                  <a:lnTo>
                    <a:pt x="2560997" y="523092"/>
                  </a:lnTo>
                  <a:lnTo>
                    <a:pt x="2591749" y="560793"/>
                  </a:lnTo>
                  <a:lnTo>
                    <a:pt x="2621474" y="599445"/>
                  </a:lnTo>
                  <a:lnTo>
                    <a:pt x="2650164" y="639018"/>
                  </a:lnTo>
                  <a:lnTo>
                    <a:pt x="2677808" y="679483"/>
                  </a:lnTo>
                  <a:lnTo>
                    <a:pt x="2704394" y="720807"/>
                  </a:lnTo>
                  <a:lnTo>
                    <a:pt x="2729913" y="762961"/>
                  </a:lnTo>
                  <a:lnTo>
                    <a:pt x="2754353" y="805915"/>
                  </a:lnTo>
                  <a:lnTo>
                    <a:pt x="2777704" y="849638"/>
                  </a:lnTo>
                  <a:lnTo>
                    <a:pt x="2799956" y="894099"/>
                  </a:lnTo>
                  <a:lnTo>
                    <a:pt x="2821098" y="939268"/>
                  </a:lnTo>
                  <a:lnTo>
                    <a:pt x="2841119" y="985115"/>
                  </a:lnTo>
                  <a:lnTo>
                    <a:pt x="2860009" y="1031609"/>
                  </a:lnTo>
                  <a:lnTo>
                    <a:pt x="2877757" y="1078719"/>
                  </a:lnTo>
                  <a:lnTo>
                    <a:pt x="2894353" y="1126416"/>
                  </a:lnTo>
                  <a:lnTo>
                    <a:pt x="2909785" y="1174668"/>
                  </a:lnTo>
                  <a:lnTo>
                    <a:pt x="2924044" y="1223445"/>
                  </a:lnTo>
                  <a:lnTo>
                    <a:pt x="2937118" y="1272717"/>
                  </a:lnTo>
                  <a:lnTo>
                    <a:pt x="2948998" y="1322454"/>
                  </a:lnTo>
                  <a:lnTo>
                    <a:pt x="2959672" y="1372624"/>
                  </a:lnTo>
                  <a:lnTo>
                    <a:pt x="2969130" y="1423198"/>
                  </a:lnTo>
                  <a:lnTo>
                    <a:pt x="2977361" y="1474145"/>
                  </a:lnTo>
                  <a:lnTo>
                    <a:pt x="2984355" y="1525434"/>
                  </a:lnTo>
                  <a:lnTo>
                    <a:pt x="2990102" y="1577035"/>
                  </a:lnTo>
                  <a:lnTo>
                    <a:pt x="2994589" y="1628917"/>
                  </a:lnTo>
                  <a:lnTo>
                    <a:pt x="2997808" y="1681051"/>
                  </a:lnTo>
                  <a:lnTo>
                    <a:pt x="2999747" y="1733405"/>
                  </a:lnTo>
                  <a:lnTo>
                    <a:pt x="3000395" y="1785949"/>
                  </a:lnTo>
                  <a:lnTo>
                    <a:pt x="2999756" y="1838608"/>
                  </a:lnTo>
                  <a:lnTo>
                    <a:pt x="2997849" y="1890888"/>
                  </a:lnTo>
                  <a:lnTo>
                    <a:pt x="2994692" y="1942768"/>
                  </a:lnTo>
                  <a:lnTo>
                    <a:pt x="2990303" y="1994229"/>
                  </a:lnTo>
                  <a:lnTo>
                    <a:pt x="2984699" y="2045249"/>
                  </a:lnTo>
                  <a:lnTo>
                    <a:pt x="2977897" y="2095806"/>
                  </a:lnTo>
                  <a:lnTo>
                    <a:pt x="2969917" y="2145881"/>
                  </a:lnTo>
                  <a:lnTo>
                    <a:pt x="2960774" y="2195451"/>
                  </a:lnTo>
                  <a:lnTo>
                    <a:pt x="2950487" y="2244497"/>
                  </a:lnTo>
                  <a:lnTo>
                    <a:pt x="2939073" y="2292997"/>
                  </a:lnTo>
                  <a:lnTo>
                    <a:pt x="2926551" y="2340931"/>
                  </a:lnTo>
                  <a:lnTo>
                    <a:pt x="2912936" y="2388277"/>
                  </a:lnTo>
                  <a:lnTo>
                    <a:pt x="2898247" y="2435014"/>
                  </a:lnTo>
                  <a:lnTo>
                    <a:pt x="2882502" y="2481122"/>
                  </a:lnTo>
                  <a:lnTo>
                    <a:pt x="2865719" y="2526579"/>
                  </a:lnTo>
                  <a:lnTo>
                    <a:pt x="2847914" y="2571365"/>
                  </a:lnTo>
                  <a:lnTo>
                    <a:pt x="2829105" y="2615459"/>
                  </a:lnTo>
                  <a:lnTo>
                    <a:pt x="2809310" y="2658839"/>
                  </a:lnTo>
                  <a:lnTo>
                    <a:pt x="2788547" y="2701485"/>
                  </a:lnTo>
                  <a:lnTo>
                    <a:pt x="2766833" y="2743376"/>
                  </a:lnTo>
                  <a:lnTo>
                    <a:pt x="2744185" y="2784491"/>
                  </a:lnTo>
                  <a:lnTo>
                    <a:pt x="2720622" y="2824809"/>
                  </a:lnTo>
                  <a:lnTo>
                    <a:pt x="2696161" y="2864309"/>
                  </a:lnTo>
                  <a:lnTo>
                    <a:pt x="2670819" y="2902970"/>
                  </a:lnTo>
                  <a:lnTo>
                    <a:pt x="2644614" y="2940771"/>
                  </a:lnTo>
                  <a:lnTo>
                    <a:pt x="2617564" y="2977692"/>
                  </a:lnTo>
                  <a:lnTo>
                    <a:pt x="2589686" y="3013711"/>
                  </a:lnTo>
                  <a:lnTo>
                    <a:pt x="2560998" y="3048807"/>
                  </a:lnTo>
                  <a:lnTo>
                    <a:pt x="2531517" y="3082959"/>
                  </a:lnTo>
                  <a:lnTo>
                    <a:pt x="2501261" y="3116147"/>
                  </a:lnTo>
                  <a:lnTo>
                    <a:pt x="2470248" y="3148350"/>
                  </a:lnTo>
                  <a:lnTo>
                    <a:pt x="2438495" y="3179546"/>
                  </a:lnTo>
                  <a:lnTo>
                    <a:pt x="2406019" y="3209715"/>
                  </a:lnTo>
                  <a:lnTo>
                    <a:pt x="2372839" y="3238836"/>
                  </a:lnTo>
                  <a:lnTo>
                    <a:pt x="2338972" y="3266887"/>
                  </a:lnTo>
                  <a:lnTo>
                    <a:pt x="2304436" y="3293849"/>
                  </a:lnTo>
                  <a:lnTo>
                    <a:pt x="2269247" y="3319699"/>
                  </a:lnTo>
                  <a:lnTo>
                    <a:pt x="2233425" y="3344417"/>
                  </a:lnTo>
                  <a:lnTo>
                    <a:pt x="2196985" y="3367982"/>
                  </a:lnTo>
                  <a:lnTo>
                    <a:pt x="2159946" y="3390373"/>
                  </a:lnTo>
                  <a:lnTo>
                    <a:pt x="2122326" y="3411570"/>
                  </a:lnTo>
                  <a:lnTo>
                    <a:pt x="2084142" y="3431551"/>
                  </a:lnTo>
                  <a:lnTo>
                    <a:pt x="2045412" y="3450295"/>
                  </a:lnTo>
                  <a:lnTo>
                    <a:pt x="2006152" y="3467781"/>
                  </a:lnTo>
                  <a:lnTo>
                    <a:pt x="1966382" y="3483989"/>
                  </a:lnTo>
                  <a:lnTo>
                    <a:pt x="1926118" y="3498897"/>
                  </a:lnTo>
                  <a:lnTo>
                    <a:pt x="1885378" y="3512485"/>
                  </a:lnTo>
                  <a:lnTo>
                    <a:pt x="1844179" y="3524731"/>
                  </a:lnTo>
                  <a:lnTo>
                    <a:pt x="1802540" y="3535615"/>
                  </a:lnTo>
                  <a:lnTo>
                    <a:pt x="1760477" y="3545116"/>
                  </a:lnTo>
                  <a:lnTo>
                    <a:pt x="1718009" y="3553213"/>
                  </a:lnTo>
                  <a:lnTo>
                    <a:pt x="1675152" y="3559884"/>
                  </a:lnTo>
                  <a:lnTo>
                    <a:pt x="1631925" y="3565109"/>
                  </a:lnTo>
                  <a:lnTo>
                    <a:pt x="1588345" y="3568868"/>
                  </a:lnTo>
                  <a:lnTo>
                    <a:pt x="1544430" y="3571138"/>
                  </a:lnTo>
                  <a:lnTo>
                    <a:pt x="1500197" y="357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29321" y="1357297"/>
              <a:ext cx="3001010" cy="3572510"/>
            </a:xfrm>
            <a:custGeom>
              <a:avLst/>
              <a:gdLst/>
              <a:ahLst/>
              <a:cxnLst/>
              <a:rect l="l" t="t" r="r" b="b"/>
              <a:pathLst>
                <a:path w="3001009" h="3572510">
                  <a:moveTo>
                    <a:pt x="0" y="1785949"/>
                  </a:moveTo>
                  <a:lnTo>
                    <a:pt x="639" y="1733291"/>
                  </a:lnTo>
                  <a:lnTo>
                    <a:pt x="2546" y="1681011"/>
                  </a:lnTo>
                  <a:lnTo>
                    <a:pt x="5703" y="1629131"/>
                  </a:lnTo>
                  <a:lnTo>
                    <a:pt x="10092" y="1577670"/>
                  </a:lnTo>
                  <a:lnTo>
                    <a:pt x="15696" y="1526650"/>
                  </a:lnTo>
                  <a:lnTo>
                    <a:pt x="22498" y="1476093"/>
                  </a:lnTo>
                  <a:lnTo>
                    <a:pt x="30478" y="1426018"/>
                  </a:lnTo>
                  <a:lnTo>
                    <a:pt x="39621" y="1376448"/>
                  </a:lnTo>
                  <a:lnTo>
                    <a:pt x="49908" y="1327402"/>
                  </a:lnTo>
                  <a:lnTo>
                    <a:pt x="61322" y="1278902"/>
                  </a:lnTo>
                  <a:lnTo>
                    <a:pt x="73844" y="1230968"/>
                  </a:lnTo>
                  <a:lnTo>
                    <a:pt x="87459" y="1183622"/>
                  </a:lnTo>
                  <a:lnTo>
                    <a:pt x="102148" y="1136885"/>
                  </a:lnTo>
                  <a:lnTo>
                    <a:pt x="117892" y="1090777"/>
                  </a:lnTo>
                  <a:lnTo>
                    <a:pt x="134676" y="1045320"/>
                  </a:lnTo>
                  <a:lnTo>
                    <a:pt x="152481" y="1000534"/>
                  </a:lnTo>
                  <a:lnTo>
                    <a:pt x="171290" y="956440"/>
                  </a:lnTo>
                  <a:lnTo>
                    <a:pt x="191085" y="913060"/>
                  </a:lnTo>
                  <a:lnTo>
                    <a:pt x="211848" y="870414"/>
                  </a:lnTo>
                  <a:lnTo>
                    <a:pt x="233562" y="828523"/>
                  </a:lnTo>
                  <a:lnTo>
                    <a:pt x="256210" y="787408"/>
                  </a:lnTo>
                  <a:lnTo>
                    <a:pt x="279773" y="747090"/>
                  </a:lnTo>
                  <a:lnTo>
                    <a:pt x="304234" y="707590"/>
                  </a:lnTo>
                  <a:lnTo>
                    <a:pt x="329576" y="668929"/>
                  </a:lnTo>
                  <a:lnTo>
                    <a:pt x="355781" y="631128"/>
                  </a:lnTo>
                  <a:lnTo>
                    <a:pt x="382831" y="594207"/>
                  </a:lnTo>
                  <a:lnTo>
                    <a:pt x="410709" y="558188"/>
                  </a:lnTo>
                  <a:lnTo>
                    <a:pt x="439397" y="523092"/>
                  </a:lnTo>
                  <a:lnTo>
                    <a:pt x="468878" y="488940"/>
                  </a:lnTo>
                  <a:lnTo>
                    <a:pt x="499134" y="455752"/>
                  </a:lnTo>
                  <a:lnTo>
                    <a:pt x="530147" y="423549"/>
                  </a:lnTo>
                  <a:lnTo>
                    <a:pt x="561900" y="392353"/>
                  </a:lnTo>
                  <a:lnTo>
                    <a:pt x="594375" y="362184"/>
                  </a:lnTo>
                  <a:lnTo>
                    <a:pt x="627555" y="333063"/>
                  </a:lnTo>
                  <a:lnTo>
                    <a:pt x="661423" y="305012"/>
                  </a:lnTo>
                  <a:lnTo>
                    <a:pt x="695959" y="278050"/>
                  </a:lnTo>
                  <a:lnTo>
                    <a:pt x="731148" y="252200"/>
                  </a:lnTo>
                  <a:lnTo>
                    <a:pt x="766970" y="227482"/>
                  </a:lnTo>
                  <a:lnTo>
                    <a:pt x="803410" y="203917"/>
                  </a:lnTo>
                  <a:lnTo>
                    <a:pt x="840448" y="181526"/>
                  </a:lnTo>
                  <a:lnTo>
                    <a:pt x="878069" y="160329"/>
                  </a:lnTo>
                  <a:lnTo>
                    <a:pt x="916253" y="140348"/>
                  </a:lnTo>
                  <a:lnTo>
                    <a:pt x="954983" y="121604"/>
                  </a:lnTo>
                  <a:lnTo>
                    <a:pt x="994243" y="104118"/>
                  </a:lnTo>
                  <a:lnTo>
                    <a:pt x="1034013" y="87910"/>
                  </a:lnTo>
                  <a:lnTo>
                    <a:pt x="1074277" y="73002"/>
                  </a:lnTo>
                  <a:lnTo>
                    <a:pt x="1115017" y="59414"/>
                  </a:lnTo>
                  <a:lnTo>
                    <a:pt x="1156216" y="47168"/>
                  </a:lnTo>
                  <a:lnTo>
                    <a:pt x="1197855" y="36284"/>
                  </a:lnTo>
                  <a:lnTo>
                    <a:pt x="1239918" y="26783"/>
                  </a:lnTo>
                  <a:lnTo>
                    <a:pt x="1282386" y="18686"/>
                  </a:lnTo>
                  <a:lnTo>
                    <a:pt x="1325243" y="12015"/>
                  </a:lnTo>
                  <a:lnTo>
                    <a:pt x="1368470" y="6790"/>
                  </a:lnTo>
                  <a:lnTo>
                    <a:pt x="1412049" y="3031"/>
                  </a:lnTo>
                  <a:lnTo>
                    <a:pt x="1455965" y="761"/>
                  </a:lnTo>
                  <a:lnTo>
                    <a:pt x="1500197" y="0"/>
                  </a:lnTo>
                  <a:lnTo>
                    <a:pt x="1547859" y="900"/>
                  </a:lnTo>
                  <a:lnTo>
                    <a:pt x="1595332" y="3591"/>
                  </a:lnTo>
                  <a:lnTo>
                    <a:pt x="1642584" y="8057"/>
                  </a:lnTo>
                  <a:lnTo>
                    <a:pt x="1689583" y="14281"/>
                  </a:lnTo>
                  <a:lnTo>
                    <a:pt x="1736297" y="22248"/>
                  </a:lnTo>
                  <a:lnTo>
                    <a:pt x="1782693" y="31942"/>
                  </a:lnTo>
                  <a:lnTo>
                    <a:pt x="1828739" y="43347"/>
                  </a:lnTo>
                  <a:lnTo>
                    <a:pt x="1874403" y="56446"/>
                  </a:lnTo>
                  <a:lnTo>
                    <a:pt x="1919652" y="71226"/>
                  </a:lnTo>
                  <a:lnTo>
                    <a:pt x="1964455" y="87668"/>
                  </a:lnTo>
                  <a:lnTo>
                    <a:pt x="2008780" y="105758"/>
                  </a:lnTo>
                  <a:lnTo>
                    <a:pt x="2052593" y="125479"/>
                  </a:lnTo>
                  <a:lnTo>
                    <a:pt x="2095863" y="146816"/>
                  </a:lnTo>
                  <a:lnTo>
                    <a:pt x="2138558" y="169753"/>
                  </a:lnTo>
                  <a:lnTo>
                    <a:pt x="2180645" y="194274"/>
                  </a:lnTo>
                  <a:lnTo>
                    <a:pt x="2222092" y="220362"/>
                  </a:lnTo>
                  <a:lnTo>
                    <a:pt x="2262866" y="248002"/>
                  </a:lnTo>
                  <a:lnTo>
                    <a:pt x="2302937" y="277179"/>
                  </a:lnTo>
                  <a:lnTo>
                    <a:pt x="2342270" y="307876"/>
                  </a:lnTo>
                  <a:lnTo>
                    <a:pt x="2380835" y="340077"/>
                  </a:lnTo>
                  <a:lnTo>
                    <a:pt x="2418599" y="373767"/>
                  </a:lnTo>
                  <a:lnTo>
                    <a:pt x="2455529" y="408929"/>
                  </a:lnTo>
                  <a:lnTo>
                    <a:pt x="2491594" y="445548"/>
                  </a:lnTo>
                  <a:lnTo>
                    <a:pt x="2526761" y="483608"/>
                  </a:lnTo>
                  <a:lnTo>
                    <a:pt x="2560997" y="523092"/>
                  </a:lnTo>
                  <a:lnTo>
                    <a:pt x="2591749" y="560793"/>
                  </a:lnTo>
                  <a:lnTo>
                    <a:pt x="2621474" y="599445"/>
                  </a:lnTo>
                  <a:lnTo>
                    <a:pt x="2650164" y="639018"/>
                  </a:lnTo>
                  <a:lnTo>
                    <a:pt x="2677808" y="679483"/>
                  </a:lnTo>
                  <a:lnTo>
                    <a:pt x="2704394" y="720807"/>
                  </a:lnTo>
                  <a:lnTo>
                    <a:pt x="2729913" y="762961"/>
                  </a:lnTo>
                  <a:lnTo>
                    <a:pt x="2754353" y="805915"/>
                  </a:lnTo>
                  <a:lnTo>
                    <a:pt x="2777704" y="849638"/>
                  </a:lnTo>
                  <a:lnTo>
                    <a:pt x="2799956" y="894099"/>
                  </a:lnTo>
                  <a:lnTo>
                    <a:pt x="2821098" y="939268"/>
                  </a:lnTo>
                  <a:lnTo>
                    <a:pt x="2841119" y="985115"/>
                  </a:lnTo>
                  <a:lnTo>
                    <a:pt x="2860009" y="1031609"/>
                  </a:lnTo>
                  <a:lnTo>
                    <a:pt x="2877757" y="1078719"/>
                  </a:lnTo>
                  <a:lnTo>
                    <a:pt x="2894353" y="1126416"/>
                  </a:lnTo>
                  <a:lnTo>
                    <a:pt x="2909785" y="1174668"/>
                  </a:lnTo>
                  <a:lnTo>
                    <a:pt x="2924044" y="1223445"/>
                  </a:lnTo>
                  <a:lnTo>
                    <a:pt x="2937118" y="1272717"/>
                  </a:lnTo>
                  <a:lnTo>
                    <a:pt x="2948998" y="1322454"/>
                  </a:lnTo>
                  <a:lnTo>
                    <a:pt x="2959672" y="1372624"/>
                  </a:lnTo>
                  <a:lnTo>
                    <a:pt x="2969130" y="1423198"/>
                  </a:lnTo>
                  <a:lnTo>
                    <a:pt x="2977361" y="1474145"/>
                  </a:lnTo>
                  <a:lnTo>
                    <a:pt x="2984355" y="1525434"/>
                  </a:lnTo>
                  <a:lnTo>
                    <a:pt x="2990102" y="1577035"/>
                  </a:lnTo>
                  <a:lnTo>
                    <a:pt x="2994589" y="1628917"/>
                  </a:lnTo>
                  <a:lnTo>
                    <a:pt x="2997808" y="1681051"/>
                  </a:lnTo>
                  <a:lnTo>
                    <a:pt x="2999747" y="1733405"/>
                  </a:lnTo>
                  <a:lnTo>
                    <a:pt x="3000395" y="1785949"/>
                  </a:lnTo>
                  <a:lnTo>
                    <a:pt x="2999756" y="1838608"/>
                  </a:lnTo>
                  <a:lnTo>
                    <a:pt x="2997849" y="1890888"/>
                  </a:lnTo>
                  <a:lnTo>
                    <a:pt x="2994692" y="1942768"/>
                  </a:lnTo>
                  <a:lnTo>
                    <a:pt x="2990303" y="1994229"/>
                  </a:lnTo>
                  <a:lnTo>
                    <a:pt x="2984699" y="2045249"/>
                  </a:lnTo>
                  <a:lnTo>
                    <a:pt x="2977897" y="2095806"/>
                  </a:lnTo>
                  <a:lnTo>
                    <a:pt x="2969917" y="2145881"/>
                  </a:lnTo>
                  <a:lnTo>
                    <a:pt x="2960774" y="2195451"/>
                  </a:lnTo>
                  <a:lnTo>
                    <a:pt x="2950487" y="2244497"/>
                  </a:lnTo>
                  <a:lnTo>
                    <a:pt x="2939073" y="2292997"/>
                  </a:lnTo>
                  <a:lnTo>
                    <a:pt x="2926551" y="2340931"/>
                  </a:lnTo>
                  <a:lnTo>
                    <a:pt x="2912936" y="2388277"/>
                  </a:lnTo>
                  <a:lnTo>
                    <a:pt x="2898247" y="2435014"/>
                  </a:lnTo>
                  <a:lnTo>
                    <a:pt x="2882502" y="2481122"/>
                  </a:lnTo>
                  <a:lnTo>
                    <a:pt x="2865719" y="2526579"/>
                  </a:lnTo>
                  <a:lnTo>
                    <a:pt x="2847914" y="2571365"/>
                  </a:lnTo>
                  <a:lnTo>
                    <a:pt x="2829105" y="2615459"/>
                  </a:lnTo>
                  <a:lnTo>
                    <a:pt x="2809310" y="2658839"/>
                  </a:lnTo>
                  <a:lnTo>
                    <a:pt x="2788547" y="2701485"/>
                  </a:lnTo>
                  <a:lnTo>
                    <a:pt x="2766833" y="2743376"/>
                  </a:lnTo>
                  <a:lnTo>
                    <a:pt x="2744185" y="2784491"/>
                  </a:lnTo>
                  <a:lnTo>
                    <a:pt x="2720622" y="2824809"/>
                  </a:lnTo>
                  <a:lnTo>
                    <a:pt x="2696161" y="2864309"/>
                  </a:lnTo>
                  <a:lnTo>
                    <a:pt x="2670819" y="2902970"/>
                  </a:lnTo>
                  <a:lnTo>
                    <a:pt x="2644614" y="2940771"/>
                  </a:lnTo>
                  <a:lnTo>
                    <a:pt x="2617564" y="2977692"/>
                  </a:lnTo>
                  <a:lnTo>
                    <a:pt x="2589686" y="3013711"/>
                  </a:lnTo>
                  <a:lnTo>
                    <a:pt x="2560998" y="3048807"/>
                  </a:lnTo>
                  <a:lnTo>
                    <a:pt x="2531517" y="3082959"/>
                  </a:lnTo>
                  <a:lnTo>
                    <a:pt x="2501261" y="3116147"/>
                  </a:lnTo>
                  <a:lnTo>
                    <a:pt x="2470248" y="3148350"/>
                  </a:lnTo>
                  <a:lnTo>
                    <a:pt x="2438495" y="3179546"/>
                  </a:lnTo>
                  <a:lnTo>
                    <a:pt x="2406019" y="3209715"/>
                  </a:lnTo>
                  <a:lnTo>
                    <a:pt x="2372839" y="3238836"/>
                  </a:lnTo>
                  <a:lnTo>
                    <a:pt x="2338972" y="3266887"/>
                  </a:lnTo>
                  <a:lnTo>
                    <a:pt x="2304436" y="3293849"/>
                  </a:lnTo>
                  <a:lnTo>
                    <a:pt x="2269247" y="3319699"/>
                  </a:lnTo>
                  <a:lnTo>
                    <a:pt x="2233425" y="3344417"/>
                  </a:lnTo>
                  <a:lnTo>
                    <a:pt x="2196985" y="3367982"/>
                  </a:lnTo>
                  <a:lnTo>
                    <a:pt x="2159946" y="3390373"/>
                  </a:lnTo>
                  <a:lnTo>
                    <a:pt x="2122326" y="3411570"/>
                  </a:lnTo>
                  <a:lnTo>
                    <a:pt x="2084142" y="3431551"/>
                  </a:lnTo>
                  <a:lnTo>
                    <a:pt x="2045412" y="3450295"/>
                  </a:lnTo>
                  <a:lnTo>
                    <a:pt x="2006152" y="3467781"/>
                  </a:lnTo>
                  <a:lnTo>
                    <a:pt x="1966382" y="3483989"/>
                  </a:lnTo>
                  <a:lnTo>
                    <a:pt x="1926118" y="3498897"/>
                  </a:lnTo>
                  <a:lnTo>
                    <a:pt x="1885378" y="3512485"/>
                  </a:lnTo>
                  <a:lnTo>
                    <a:pt x="1844179" y="3524731"/>
                  </a:lnTo>
                  <a:lnTo>
                    <a:pt x="1802540" y="3535615"/>
                  </a:lnTo>
                  <a:lnTo>
                    <a:pt x="1760477" y="3545116"/>
                  </a:lnTo>
                  <a:lnTo>
                    <a:pt x="1718009" y="3553213"/>
                  </a:lnTo>
                  <a:lnTo>
                    <a:pt x="1675152" y="3559884"/>
                  </a:lnTo>
                  <a:lnTo>
                    <a:pt x="1631925" y="3565109"/>
                  </a:lnTo>
                  <a:lnTo>
                    <a:pt x="1588345" y="3568868"/>
                  </a:lnTo>
                  <a:lnTo>
                    <a:pt x="1544430" y="3571138"/>
                  </a:lnTo>
                  <a:lnTo>
                    <a:pt x="1500197" y="3571899"/>
                  </a:lnTo>
                  <a:lnTo>
                    <a:pt x="1455965" y="3571138"/>
                  </a:lnTo>
                  <a:lnTo>
                    <a:pt x="1412049" y="3568868"/>
                  </a:lnTo>
                  <a:lnTo>
                    <a:pt x="1368470" y="3565109"/>
                  </a:lnTo>
                  <a:lnTo>
                    <a:pt x="1325243" y="3559884"/>
                  </a:lnTo>
                  <a:lnTo>
                    <a:pt x="1282386" y="3553213"/>
                  </a:lnTo>
                  <a:lnTo>
                    <a:pt x="1239918" y="3545116"/>
                  </a:lnTo>
                  <a:lnTo>
                    <a:pt x="1197855" y="3535615"/>
                  </a:lnTo>
                  <a:lnTo>
                    <a:pt x="1156216" y="3524731"/>
                  </a:lnTo>
                  <a:lnTo>
                    <a:pt x="1115017" y="3512485"/>
                  </a:lnTo>
                  <a:lnTo>
                    <a:pt x="1074277" y="3498897"/>
                  </a:lnTo>
                  <a:lnTo>
                    <a:pt x="1034013" y="3483989"/>
                  </a:lnTo>
                  <a:lnTo>
                    <a:pt x="994243" y="3467781"/>
                  </a:lnTo>
                  <a:lnTo>
                    <a:pt x="954983" y="3450295"/>
                  </a:lnTo>
                  <a:lnTo>
                    <a:pt x="916253" y="3431551"/>
                  </a:lnTo>
                  <a:lnTo>
                    <a:pt x="878069" y="3411570"/>
                  </a:lnTo>
                  <a:lnTo>
                    <a:pt x="840448" y="3390373"/>
                  </a:lnTo>
                  <a:lnTo>
                    <a:pt x="803410" y="3367982"/>
                  </a:lnTo>
                  <a:lnTo>
                    <a:pt x="766970" y="3344417"/>
                  </a:lnTo>
                  <a:lnTo>
                    <a:pt x="731148" y="3319699"/>
                  </a:lnTo>
                  <a:lnTo>
                    <a:pt x="695959" y="3293849"/>
                  </a:lnTo>
                  <a:lnTo>
                    <a:pt x="661423" y="3266887"/>
                  </a:lnTo>
                  <a:lnTo>
                    <a:pt x="627555" y="3238836"/>
                  </a:lnTo>
                  <a:lnTo>
                    <a:pt x="594375" y="3209715"/>
                  </a:lnTo>
                  <a:lnTo>
                    <a:pt x="561900" y="3179546"/>
                  </a:lnTo>
                  <a:lnTo>
                    <a:pt x="530147" y="3148350"/>
                  </a:lnTo>
                  <a:lnTo>
                    <a:pt x="499134" y="3116147"/>
                  </a:lnTo>
                  <a:lnTo>
                    <a:pt x="468878" y="3082959"/>
                  </a:lnTo>
                  <a:lnTo>
                    <a:pt x="439397" y="3048807"/>
                  </a:lnTo>
                  <a:lnTo>
                    <a:pt x="410709" y="3013711"/>
                  </a:lnTo>
                  <a:lnTo>
                    <a:pt x="382831" y="2977692"/>
                  </a:lnTo>
                  <a:lnTo>
                    <a:pt x="355781" y="2940771"/>
                  </a:lnTo>
                  <a:lnTo>
                    <a:pt x="329576" y="2902970"/>
                  </a:lnTo>
                  <a:lnTo>
                    <a:pt x="304234" y="2864309"/>
                  </a:lnTo>
                  <a:lnTo>
                    <a:pt x="279773" y="2824809"/>
                  </a:lnTo>
                  <a:lnTo>
                    <a:pt x="256210" y="2784491"/>
                  </a:lnTo>
                  <a:lnTo>
                    <a:pt x="233562" y="2743376"/>
                  </a:lnTo>
                  <a:lnTo>
                    <a:pt x="211848" y="2701485"/>
                  </a:lnTo>
                  <a:lnTo>
                    <a:pt x="191085" y="2658839"/>
                  </a:lnTo>
                  <a:lnTo>
                    <a:pt x="171290" y="2615459"/>
                  </a:lnTo>
                  <a:lnTo>
                    <a:pt x="152481" y="2571365"/>
                  </a:lnTo>
                  <a:lnTo>
                    <a:pt x="134676" y="2526579"/>
                  </a:lnTo>
                  <a:lnTo>
                    <a:pt x="117892" y="2481122"/>
                  </a:lnTo>
                  <a:lnTo>
                    <a:pt x="102148" y="2435014"/>
                  </a:lnTo>
                  <a:lnTo>
                    <a:pt x="87459" y="2388277"/>
                  </a:lnTo>
                  <a:lnTo>
                    <a:pt x="73844" y="2340931"/>
                  </a:lnTo>
                  <a:lnTo>
                    <a:pt x="61322" y="2292997"/>
                  </a:lnTo>
                  <a:lnTo>
                    <a:pt x="49908" y="2244497"/>
                  </a:lnTo>
                  <a:lnTo>
                    <a:pt x="39621" y="2195451"/>
                  </a:lnTo>
                  <a:lnTo>
                    <a:pt x="30478" y="2145881"/>
                  </a:lnTo>
                  <a:lnTo>
                    <a:pt x="22498" y="2095806"/>
                  </a:lnTo>
                  <a:lnTo>
                    <a:pt x="15696" y="2045249"/>
                  </a:lnTo>
                  <a:lnTo>
                    <a:pt x="10092" y="1994229"/>
                  </a:lnTo>
                  <a:lnTo>
                    <a:pt x="5703" y="1942768"/>
                  </a:lnTo>
                  <a:lnTo>
                    <a:pt x="2546" y="1890888"/>
                  </a:lnTo>
                  <a:lnTo>
                    <a:pt x="639" y="1838608"/>
                  </a:lnTo>
                  <a:lnTo>
                    <a:pt x="0" y="1785949"/>
                  </a:lnTo>
                  <a:close/>
                </a:path>
              </a:pathLst>
            </a:custGeom>
            <a:ln w="25399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839" y="2452504"/>
              <a:ext cx="2547564" cy="1547999"/>
            </a:xfrm>
            <a:prstGeom prst="rect">
              <a:avLst/>
            </a:prstGeom>
          </p:spPr>
        </p:pic>
      </p:grpSp>
      <p:grpSp>
        <p:nvGrpSpPr>
          <p:cNvPr id="2" name="object 2"/>
          <p:cNvGrpSpPr/>
          <p:nvPr/>
        </p:nvGrpSpPr>
        <p:grpSpPr>
          <a:xfrm>
            <a:off x="0" y="6412396"/>
            <a:ext cx="9144000" cy="445770"/>
            <a:chOff x="0" y="6412396"/>
            <a:chExt cx="9144000" cy="44577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83858"/>
              <a:ext cx="1754480" cy="3741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4612" y="6412396"/>
              <a:ext cx="3937652" cy="4456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1090" y="6412396"/>
              <a:ext cx="580066" cy="44560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0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dirty="0"/>
              <a:t>November</a:t>
            </a:r>
            <a:r>
              <a:rPr spc="35" dirty="0"/>
              <a:t> </a:t>
            </a:r>
            <a:r>
              <a:rPr spc="-20" dirty="0"/>
              <a:t>2023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pc="-10"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AI&amp;DS</a:t>
            </a:r>
            <a:r>
              <a:rPr spc="-30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MCOERC</a:t>
            </a:r>
            <a:r>
              <a:rPr spc="-30" dirty="0"/>
              <a:t> </a:t>
            </a:r>
            <a:r>
              <a:rPr spc="-10" dirty="0"/>
              <a:t>Nashik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470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1209</Words>
  <Application>Microsoft Office PowerPoint</Application>
  <PresentationFormat>On-screen Show (4:3)</PresentationFormat>
  <Paragraphs>191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A Project Stage I Presentation on</vt:lpstr>
      <vt:lpstr>Presentation Outline</vt:lpstr>
      <vt:lpstr>Introduction</vt:lpstr>
      <vt:lpstr>Introduction</vt:lpstr>
      <vt:lpstr>Literature Survey</vt:lpstr>
      <vt:lpstr>Proposed System Architecture</vt:lpstr>
      <vt:lpstr>Details of Modules</vt:lpstr>
      <vt:lpstr>Algorithm</vt:lpstr>
      <vt:lpstr>DFD and UML Diagrams</vt:lpstr>
      <vt:lpstr>DFD and UML Diagrams</vt:lpstr>
      <vt:lpstr>DFD and UML Diagrams</vt:lpstr>
      <vt:lpstr>DFD and UML Diagrams</vt:lpstr>
      <vt:lpstr>Software and Hardware Requirements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Template.pptx</dc:title>
  <dc:creator>Shrihari Kasar</dc:creator>
  <cp:lastModifiedBy>Shrihari Kasar</cp:lastModifiedBy>
  <cp:revision>2</cp:revision>
  <dcterms:created xsi:type="dcterms:W3CDTF">2026-10-20T07:29:30Z</dcterms:created>
  <dcterms:modified xsi:type="dcterms:W3CDTF">2026-10-20T07:53:47Z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2026-10-20T00:00:00Z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2026-10-20T00:00:00Z</vt:filetime>
  </property>
</Properties>
</file>