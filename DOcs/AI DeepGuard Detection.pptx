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0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Neue Haas Grotesk Text Pro" panose="020B0504020202020204" pitchFamily="34" charset="0"/>
      <p:regular r:id="rId13"/>
    </p:embeddedFont>
    <p:embeddedFont>
      <p:font typeface="TT Interphases" panose="020B0604020202020204" charset="0"/>
      <p:regular r:id="rId14"/>
    </p:embeddedFont>
    <p:embeddedFont>
      <p:font typeface="TT Interphases Bold" panose="020B0604020202020204" charset="0"/>
      <p:regular r:id="rId15"/>
    </p:embeddedFont>
    <p:embeddedFont>
      <p:font typeface="TT Interphases Bold Italics" panose="020B0604020202020204" charset="0"/>
      <p:regular r:id="rId16"/>
    </p:embeddedFont>
    <p:embeddedFont>
      <p:font typeface="TT Interphases Italics"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BA75E8-D161-43AA-A8DB-5E025B224E62}">
          <p14:sldIdLst>
            <p14:sldId id="256"/>
            <p14:sldId id="257"/>
            <p14:sldId id="258"/>
          </p14:sldIdLst>
        </p14:section>
        <p14:section name="Untitled Section" id="{0C676658-D8E9-44A3-A1AE-17E174DAF251}">
          <p14:sldIdLst>
            <p14:sldId id="259"/>
            <p14:sldId id="260"/>
            <p14:sldId id="261"/>
            <p14:sldId id="262"/>
            <p14:sldId id="263"/>
            <p14:sldId id="264"/>
            <p14:sldId id="265"/>
            <p14:sldId id="26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4964" y="145656"/>
            <a:ext cx="6201536" cy="4997844"/>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18972" y="6738732"/>
            <a:ext cx="5024627" cy="2117034"/>
          </a:xfrm>
        </p:spPr>
        <p:txBody>
          <a:bodyPr vert="horz" lIns="91440" tIns="45720" rIns="91440" bIns="45720" rtlCol="0" anchor="b">
            <a:normAutofit/>
          </a:bodyPr>
          <a:lstStyle>
            <a:lvl1pPr marL="0" indent="0">
              <a:buNone/>
              <a:defRPr lang="en-US" sz="24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560820" y="0"/>
            <a:ext cx="11727180" cy="10287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84967" y="9508055"/>
            <a:ext cx="3295049" cy="547688"/>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575504" y="9508055"/>
            <a:ext cx="2088867" cy="547688"/>
          </a:xfrm>
        </p:spPr>
        <p:txBody>
          <a:bodyPr/>
          <a:lstStyle/>
          <a:p>
            <a:fld id="{1D8BD707-D9CF-40AE-B4C6-C98DA3205C09}" type="datetimeFigureOut">
              <a:rPr lang="en-US" smtClean="0"/>
              <a:pPr/>
              <a:t>9/10/2026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5664371" y="9513452"/>
            <a:ext cx="64381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557420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918971" y="2564793"/>
            <a:ext cx="16445484" cy="6770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15503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769585" y="2117038"/>
            <a:ext cx="5832615" cy="4268351"/>
          </a:xfrm>
        </p:spPr>
        <p:txBody>
          <a:bodyPr vert="horz" lIns="91440" tIns="45720" rIns="91440" bIns="45720" rtlCol="0" anchor="b">
            <a:normAutofit/>
          </a:bodyPr>
          <a:lstStyle>
            <a:lvl1pPr>
              <a:defRPr lang="en-US" sz="6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69582" y="6604559"/>
            <a:ext cx="5832615" cy="1684683"/>
          </a:xfrm>
        </p:spPr>
        <p:txBody>
          <a:bodyPr vert="horz" lIns="91440" tIns="45720" rIns="91440" bIns="45720" rtlCol="0">
            <a:normAutofit/>
          </a:bodyPr>
          <a:lstStyle>
            <a:lvl1pPr marL="0" indent="0">
              <a:buNone/>
              <a:defRPr lang="en-US" sz="24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11136408" cy="10287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1769582" y="9515933"/>
            <a:ext cx="3150723" cy="547688"/>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4651780" y="9515933"/>
            <a:ext cx="2212745" cy="547688"/>
          </a:xfrm>
        </p:spPr>
        <p:txBody>
          <a:bodyPr/>
          <a:lstStyle>
            <a:lvl1pPr>
              <a:defRPr>
                <a:solidFill>
                  <a:schemeClr val="tx1"/>
                </a:solidFill>
                <a:effectLst/>
              </a:defRPr>
            </a:lvl1pPr>
          </a:lstStyle>
          <a:p>
            <a:fld id="{1D8BD707-D9CF-40AE-B4C6-C98DA3205C09}" type="datetimeFigureOut">
              <a:rPr lang="en-US" smtClean="0"/>
              <a:pPr/>
              <a:t>9/10/2026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6944100" y="9515933"/>
            <a:ext cx="64381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346137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18971" y="1714501"/>
            <a:ext cx="13025630" cy="4642724"/>
          </a:xfrm>
        </p:spPr>
        <p:txBody>
          <a:bodyPr vert="horz" lIns="91440" tIns="45720" rIns="91440" bIns="45720" rtlCol="0" anchor="b">
            <a:norm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18971" y="6748272"/>
            <a:ext cx="10322186" cy="1522476"/>
          </a:xfrm>
        </p:spPr>
        <p:txBody>
          <a:bodyPr vert="horz" lIns="91440" tIns="45720" rIns="91440" bIns="45720" rtlCol="0">
            <a:normAutofit/>
          </a:bodyPr>
          <a:lstStyle>
            <a:lvl1pPr marL="0" indent="0">
              <a:buNone/>
              <a:defRPr lang="en-US" sz="27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18971" y="9515933"/>
            <a:ext cx="4208108" cy="547688"/>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2332264" y="9515933"/>
            <a:ext cx="4312596" cy="547688"/>
          </a:xfrm>
        </p:spPr>
        <p:txBody>
          <a:bodyPr/>
          <a:lstStyle/>
          <a:p>
            <a:fld id="{1D8BD707-D9CF-40AE-B4C6-C98DA3205C09}" type="datetimeFigureOut">
              <a:rPr lang="en-US" smtClean="0"/>
              <a:pPr/>
              <a:t>9/10/2026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72826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67637" y="2803655"/>
            <a:ext cx="14005563" cy="7360394"/>
          </a:xfrm>
        </p:spPr>
        <p:txBody>
          <a:bodyPr>
            <a:normAutofit/>
          </a:bodyPr>
          <a:lstStyle>
            <a:lvl1pPr>
              <a:defRPr sz="111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18971" y="206083"/>
            <a:ext cx="4208108" cy="547688"/>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340894" y="206083"/>
            <a:ext cx="3303966" cy="547688"/>
          </a:xfrm>
        </p:spPr>
        <p:txBody>
          <a:bodyPr/>
          <a:lstStyle/>
          <a:p>
            <a:fld id="{1D8BD707-D9CF-40AE-B4C6-C98DA3205C09}" type="datetimeFigureOut">
              <a:rPr lang="en-US" smtClean="0"/>
              <a:pPr/>
              <a:t>9/10/2026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6720645" y="206083"/>
            <a:ext cx="64381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582297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97667" y="157794"/>
            <a:ext cx="13535342" cy="3170088"/>
          </a:xfrm>
        </p:spPr>
        <p:txBody>
          <a:bodyPr anchor="t">
            <a:normAutofit/>
          </a:bodyPr>
          <a:lstStyle>
            <a:lvl1pPr>
              <a:defRPr sz="108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18971" y="3726383"/>
            <a:ext cx="12701337" cy="5309271"/>
          </a:xfrm>
        </p:spPr>
        <p:txBody>
          <a:bodyPr>
            <a:normAutofit/>
          </a:bodyPr>
          <a:lstStyle>
            <a:lvl1pPr marL="685800" indent="-685800">
              <a:buFont typeface="+mj-lt"/>
              <a:buAutoNum type="arabicPeriod"/>
              <a:defRPr sz="2700"/>
            </a:lvl1pPr>
            <a:lvl2pPr marL="1028700" indent="-685800">
              <a:buFont typeface="+mj-lt"/>
              <a:buAutoNum type="arabicPeriod"/>
              <a:defRPr sz="2400"/>
            </a:lvl2pPr>
            <a:lvl3pPr marL="1200150" indent="-514350">
              <a:buFont typeface="+mj-lt"/>
              <a:buAutoNum type="arabicPeriod"/>
              <a:defRPr sz="2100"/>
            </a:lvl3pPr>
            <a:lvl4pPr marL="1543050" indent="-514350">
              <a:buFont typeface="+mj-lt"/>
              <a:buAutoNum type="arabicPeriod"/>
              <a:defRPr sz="2100"/>
            </a:lvl4pPr>
            <a:lvl5pPr marL="1885950" indent="-514350">
              <a:buFont typeface="+mj-lt"/>
              <a:buAutoNum type="arabicPeriod"/>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8987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961517" y="110613"/>
            <a:ext cx="10295244" cy="3331089"/>
          </a:xfrm>
        </p:spPr>
        <p:txBody>
          <a:bodyPr anchor="t">
            <a:normAutofit/>
          </a:bodyPr>
          <a:lstStyle>
            <a:lvl1pPr>
              <a:defRPr sz="108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2" y="0"/>
            <a:ext cx="6848387" cy="10287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382001" y="4089401"/>
            <a:ext cx="8874761" cy="5155184"/>
          </a:xfrm>
        </p:spPr>
        <p:txBody>
          <a:bodyPr>
            <a:normAutofit/>
          </a:bodyPr>
          <a:lstStyle>
            <a:lvl1pPr marL="685800" indent="-685800">
              <a:buFont typeface="+mj-lt"/>
              <a:buAutoNum type="arabicPeriod"/>
              <a:defRPr sz="3000"/>
            </a:lvl1pPr>
            <a:lvl2pPr marL="857250" indent="-514350">
              <a:buFont typeface="+mj-lt"/>
              <a:buAutoNum type="arabicPeriod"/>
              <a:defRPr sz="2700"/>
            </a:lvl2pPr>
            <a:lvl3pPr marL="1200150" indent="-514350">
              <a:buFont typeface="+mj-lt"/>
              <a:buAutoNum type="arabicPeriod"/>
              <a:defRPr sz="2400"/>
            </a:lvl3pPr>
            <a:lvl4pPr marL="1543050" indent="-514350">
              <a:buFont typeface="+mj-lt"/>
              <a:buAutoNum type="arabicPeriod"/>
              <a:defRPr sz="2100"/>
            </a:lvl4pPr>
            <a:lvl5pPr>
              <a:buFont typeface="+mj-lt"/>
              <a:buAutoNum type="arabicPeriod"/>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382000" y="9515933"/>
            <a:ext cx="4478100" cy="547688"/>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4303829" y="9515933"/>
            <a:ext cx="2329662" cy="547688"/>
          </a:xfrm>
        </p:spPr>
        <p:txBody>
          <a:bodyPr/>
          <a:lstStyle/>
          <a:p>
            <a:fld id="{1D8BD707-D9CF-40AE-B4C6-C98DA3205C09}" type="datetimeFigureOut">
              <a:rPr lang="en-US" smtClean="0"/>
              <a:pPr/>
              <a:t>9/10/2026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6720645" y="9515933"/>
            <a:ext cx="64381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1549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922018" y="2083050"/>
            <a:ext cx="5885183" cy="612537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7734017" y="2083702"/>
            <a:ext cx="9068085" cy="61253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71657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918969" y="1061324"/>
            <a:ext cx="5024631" cy="4082177"/>
          </a:xfrm>
        </p:spPr>
        <p:txBody>
          <a:bodyPr vert="horz" lIns="91440" tIns="45720" rIns="91440" bIns="45720" rtlCol="0" anchor="t">
            <a:normAutofit/>
          </a:bodyPr>
          <a:lstStyle>
            <a:lvl1pPr>
              <a:defRPr lang="en-US" sz="375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6972301" y="1062276"/>
            <a:ext cx="10392155" cy="8272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9464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34017" y="918972"/>
            <a:ext cx="9639584" cy="17145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2"/>
            <a:ext cx="6840681" cy="10287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7736053" y="2967732"/>
            <a:ext cx="9628403" cy="6428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7734016" y="9515933"/>
            <a:ext cx="5047355" cy="547688"/>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13546070" y="9515933"/>
            <a:ext cx="3091212" cy="547688"/>
          </a:xfrm>
        </p:spPr>
        <p:txBody>
          <a:bodyPr/>
          <a:lstStyle/>
          <a:p>
            <a:fld id="{1D8BD707-D9CF-40AE-B4C6-C98DA3205C09}" type="datetimeFigureOut">
              <a:rPr lang="en-US" smtClean="0"/>
              <a:pPr/>
              <a:t>9/10/2026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6720645" y="9515933"/>
            <a:ext cx="64381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4347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948252" y="711266"/>
            <a:ext cx="10425348" cy="139903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
            <a:ext cx="6035040" cy="10287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948252" y="2441448"/>
            <a:ext cx="10425348" cy="70293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6948252" y="9515933"/>
            <a:ext cx="5134359" cy="547688"/>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3418549" y="9515933"/>
            <a:ext cx="3226310" cy="547688"/>
          </a:xfrm>
        </p:spPr>
        <p:txBody>
          <a:bodyPr/>
          <a:lstStyle/>
          <a:p>
            <a:fld id="{1D8BD707-D9CF-40AE-B4C6-C98DA3205C09}" type="datetimeFigureOut">
              <a:rPr lang="en-US" smtClean="0"/>
              <a:pPr/>
              <a:t>9/10/2026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6720645" y="9515933"/>
            <a:ext cx="64381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577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18971" y="713232"/>
            <a:ext cx="10287000" cy="139903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918971" y="2441448"/>
            <a:ext cx="10287000" cy="68030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918971" y="9520306"/>
            <a:ext cx="4208108" cy="547688"/>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173780" y="9520306"/>
            <a:ext cx="4388381" cy="547688"/>
          </a:xfrm>
        </p:spPr>
        <p:txBody>
          <a:bodyPr/>
          <a:lstStyle/>
          <a:p>
            <a:fld id="{1D8BD707-D9CF-40AE-B4C6-C98DA3205C09}" type="datetimeFigureOut">
              <a:rPr lang="en-US" smtClean="0"/>
              <a:pPr/>
              <a:t>9/10/2026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562161" y="9520306"/>
            <a:ext cx="643811" cy="547688"/>
          </a:xfrm>
        </p:spPr>
        <p:txBody>
          <a:bodyPr/>
          <a:lstStyle/>
          <a:p>
            <a:fld id="{B6F15528-21DE-4FAA-801E-634DDDAF4B2B}"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137599" y="0"/>
            <a:ext cx="6150401" cy="10287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379757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18974" y="630935"/>
            <a:ext cx="6741284" cy="198882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919163" y="2962656"/>
            <a:ext cx="6741095" cy="6235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19164" y="9515933"/>
            <a:ext cx="3147930" cy="54768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20477" y="9515933"/>
            <a:ext cx="2359556" cy="547688"/>
          </a:xfrm>
        </p:spPr>
        <p:txBody>
          <a:bodyPr/>
          <a:lstStyle/>
          <a:p>
            <a:fld id="{1D8BD707-D9CF-40AE-B4C6-C98DA3205C09}" type="datetimeFigureOut">
              <a:rPr lang="en-US" smtClean="0"/>
              <a:pPr/>
              <a:t>9/10/2026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194988" y="9515933"/>
            <a:ext cx="643811" cy="547688"/>
          </a:xfrm>
        </p:spPr>
        <p:txBody>
          <a:bodyPr/>
          <a:lstStyle>
            <a:lvl1pPr>
              <a:defRPr>
                <a:solidFill>
                  <a:schemeClr val="tx1"/>
                </a:solidFill>
                <a:effectLst/>
              </a:defRPr>
            </a:lvl1pPr>
          </a:lstStyle>
          <a:p>
            <a:fld id="{B6F15528-21DE-4FAA-801E-634DDDAF4B2B}"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488392" y="0"/>
            <a:ext cx="9799608" cy="10287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655372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23546" y="644652"/>
            <a:ext cx="5486400" cy="2500839"/>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923735" y="3473354"/>
            <a:ext cx="5486400" cy="57223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23546" y="9515933"/>
            <a:ext cx="2456006" cy="547688"/>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4055171" y="9515933"/>
            <a:ext cx="1424649" cy="547688"/>
          </a:xfrm>
        </p:spPr>
        <p:txBody>
          <a:bodyPr/>
          <a:lstStyle/>
          <a:p>
            <a:fld id="{1D8BD707-D9CF-40AE-B4C6-C98DA3205C09}" type="datetimeFigureOut">
              <a:rPr lang="en-US" smtClean="0"/>
              <a:pPr/>
              <a:t>9/10/2026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5479820" y="9515933"/>
            <a:ext cx="643811" cy="547688"/>
          </a:xfrm>
        </p:spPr>
        <p:txBody>
          <a:bodyPr/>
          <a:lstStyle/>
          <a:p>
            <a:fld id="{B6F15528-21DE-4FAA-801E-634DDDAF4B2B}"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42632" y="0"/>
            <a:ext cx="10945368" cy="10287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382183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332092" y="1394332"/>
            <a:ext cx="4048881" cy="2788412"/>
          </a:xfrm>
        </p:spPr>
        <p:txBody>
          <a:bodyPr vert="horz" lIns="91440" tIns="45720" rIns="91440" bIns="45720" rtlCol="0" anchor="b">
            <a:normAutofit/>
          </a:bodyPr>
          <a:lstStyle>
            <a:lvl1pPr>
              <a:defRPr lang="en-US" sz="375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 y="0"/>
            <a:ext cx="12489485" cy="10287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3333583" y="4517003"/>
            <a:ext cx="4040019" cy="3984375"/>
          </a:xfrm>
        </p:spPr>
        <p:txBody>
          <a:bodyPr vert="horz" lIns="91440" tIns="45720" rIns="91440" bIns="45720" rtlCol="0">
            <a:normAutofit/>
          </a:bodyPr>
          <a:lstStyle>
            <a:lvl1pPr marL="0" indent="0">
              <a:buNone/>
              <a:defRPr lang="en-US" dirty="0"/>
            </a:lvl1pPr>
            <a:lvl2pPr marL="342900" indent="0">
              <a:buNone/>
              <a:defRPr lang="en-US" dirty="0"/>
            </a:lvl2pPr>
            <a:lvl3pPr marL="685800" indent="0">
              <a:buNone/>
              <a:defRPr lang="en-US" dirty="0"/>
            </a:lvl3pPr>
            <a:lvl4pPr marL="1028700" indent="0">
              <a:buNone/>
              <a:defRPr lang="en-US" dirty="0"/>
            </a:lvl4pPr>
            <a:lvl5pPr marL="13716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332092" y="9515933"/>
            <a:ext cx="2106690" cy="54768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5438784" y="9515933"/>
            <a:ext cx="1281860" cy="547688"/>
          </a:xfrm>
        </p:spPr>
        <p:txBody>
          <a:bodyPr/>
          <a:lstStyle>
            <a:lvl1pPr>
              <a:defRPr>
                <a:solidFill>
                  <a:schemeClr val="tx1"/>
                </a:solidFill>
                <a:effectLst/>
              </a:defRPr>
            </a:lvl1pPr>
          </a:lstStyle>
          <a:p>
            <a:fld id="{1D8BD707-D9CF-40AE-B4C6-C98DA3205C09}" type="datetimeFigureOut">
              <a:rPr lang="en-US" smtClean="0"/>
              <a:pPr/>
              <a:t>9/10/2026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6720645" y="9515933"/>
            <a:ext cx="64381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8254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18969" y="6243477"/>
            <a:ext cx="4567431" cy="2839212"/>
          </a:xfrm>
        </p:spPr>
        <p:txBody>
          <a:bodyPr vert="horz" lIns="91440" tIns="45720" rIns="91440" bIns="45720" rtlCol="0" anchor="t">
            <a:normAutofit/>
          </a:bodyPr>
          <a:lstStyle>
            <a:lvl1pPr>
              <a:defRPr lang="en-US" sz="375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2" y="0"/>
            <a:ext cx="18288000" cy="566740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183556" y="6243477"/>
            <a:ext cx="11190044" cy="3137288"/>
          </a:xfrm>
        </p:spPr>
        <p:txBody>
          <a:bodyPr vert="horz" lIns="91440" tIns="45720" rIns="91440" bIns="45720" rtlCol="0">
            <a:normAutofit/>
          </a:bodyPr>
          <a:lstStyle>
            <a:lvl1pPr marL="0" indent="0">
              <a:buNone/>
              <a:defRPr lang="en-US" dirty="0"/>
            </a:lvl1pPr>
            <a:lvl2pPr marL="342900" indent="0">
              <a:buNone/>
              <a:defRPr lang="en-US" dirty="0"/>
            </a:lvl2pPr>
            <a:lvl3pPr marL="685800" indent="0">
              <a:buNone/>
              <a:defRPr lang="en-US" dirty="0"/>
            </a:lvl3pPr>
            <a:lvl4pPr marL="1028700" indent="0">
              <a:buNone/>
              <a:defRPr lang="en-US" dirty="0"/>
            </a:lvl4pPr>
            <a:lvl5pPr marL="13716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99115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18971" y="839012"/>
            <a:ext cx="16454630" cy="139903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918971" y="2868598"/>
            <a:ext cx="6955904" cy="63115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918971" y="9515933"/>
            <a:ext cx="3964398" cy="547688"/>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8605832" y="2869408"/>
            <a:ext cx="8612988" cy="6336506"/>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4529893" y="9515933"/>
            <a:ext cx="2174546" cy="547688"/>
          </a:xfrm>
        </p:spPr>
        <p:txBody>
          <a:bodyPr/>
          <a:lstStyle/>
          <a:p>
            <a:fld id="{1D8BD707-D9CF-40AE-B4C6-C98DA3205C09}" type="datetimeFigureOut">
              <a:rPr lang="en-US" smtClean="0"/>
              <a:pPr/>
              <a:t>9/10/2026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6704440" y="9515933"/>
            <a:ext cx="664590"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51337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18972" y="1060203"/>
            <a:ext cx="7008876" cy="190422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080703" y="3260775"/>
            <a:ext cx="6847145" cy="5945523"/>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8858345" y="1098233"/>
            <a:ext cx="8515257" cy="81080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544108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828799" y="7340600"/>
            <a:ext cx="14643102" cy="1589709"/>
          </a:xfrm>
        </p:spPr>
        <p:txBody>
          <a:bodyPr anchor="ctr">
            <a:normAutofit/>
          </a:bodyPr>
          <a:lstStyle>
            <a:lvl1pPr algn="ctr">
              <a:lnSpc>
                <a:spcPct val="110000"/>
              </a:lnSpc>
              <a:defRPr sz="39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234440" y="726142"/>
            <a:ext cx="15814548" cy="6804212"/>
          </a:xfrm>
        </p:spPr>
        <p:txBody>
          <a:bodyPr anchor="b">
            <a:normAutofit/>
          </a:bodyPr>
          <a:lstStyle>
            <a:lvl1pPr marL="0" indent="0" algn="ctr">
              <a:lnSpc>
                <a:spcPct val="90000"/>
              </a:lnSpc>
              <a:buNone/>
              <a:defRPr sz="405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9/10/2026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511973413"/>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918972" y="-1700784"/>
            <a:ext cx="15979140" cy="13716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88897" y="63503"/>
            <a:ext cx="17275559" cy="9258300"/>
          </a:xfrm>
        </p:spPr>
        <p:txBody>
          <a:bodyPr anchor="t">
            <a:normAutofit/>
          </a:bodyPr>
          <a:lstStyle>
            <a:lvl1pPr marL="0" indent="0">
              <a:lnSpc>
                <a:spcPct val="90000"/>
              </a:lnSpc>
              <a:buNone/>
              <a:defRPr sz="12000" b="1"/>
            </a:lvl1pPr>
            <a:lvl2pPr marL="342900" indent="0">
              <a:lnSpc>
                <a:spcPct val="90000"/>
              </a:lnSpc>
              <a:buNone/>
              <a:defRPr sz="10800" b="1"/>
            </a:lvl2pPr>
            <a:lvl3pPr marL="685800" indent="0">
              <a:lnSpc>
                <a:spcPct val="90000"/>
              </a:lnSpc>
              <a:buNone/>
              <a:defRPr sz="9900" b="1"/>
            </a:lvl3pPr>
            <a:lvl4pPr marL="1028700" indent="0">
              <a:lnSpc>
                <a:spcPct val="90000"/>
              </a:lnSpc>
              <a:buNone/>
              <a:defRPr sz="9000" b="1"/>
            </a:lvl4pPr>
            <a:lvl5pPr marL="1371600" indent="0">
              <a:lnSpc>
                <a:spcPct val="90000"/>
              </a:lnSpc>
              <a:buNone/>
              <a:defRPr sz="81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11095228"/>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249424" y="7543800"/>
            <a:ext cx="13798296" cy="960120"/>
          </a:xfrm>
        </p:spPr>
        <p:txBody>
          <a:bodyPr anchor="ctr">
            <a:normAutofit/>
          </a:bodyPr>
          <a:lstStyle>
            <a:lvl1pPr>
              <a:lnSpc>
                <a:spcPct val="120000"/>
              </a:lnSpc>
              <a:defRPr sz="3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2249424" y="1783080"/>
            <a:ext cx="13798296" cy="4998720"/>
          </a:xfrm>
        </p:spPr>
        <p:txBody>
          <a:bodyPr anchor="ctr">
            <a:normAutofit/>
          </a:bodyPr>
          <a:lstStyle>
            <a:lvl1pPr marL="246888" indent="-246888">
              <a:lnSpc>
                <a:spcPct val="100000"/>
              </a:lnSpc>
              <a:spcBef>
                <a:spcPts val="0"/>
              </a:spcBef>
              <a:buNone/>
              <a:defRPr sz="72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672603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18972" y="768096"/>
            <a:ext cx="16111728" cy="145389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919163" y="2738438"/>
            <a:ext cx="761238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9417845" y="2738438"/>
            <a:ext cx="7612856"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25595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914400" y="768096"/>
            <a:ext cx="16118682" cy="145389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14400" y="2528603"/>
            <a:ext cx="7612380" cy="839751"/>
          </a:xfrm>
        </p:spPr>
        <p:txBody>
          <a:bodyPr anchor="b">
            <a:normAutofit/>
          </a:bodyPr>
          <a:lstStyle>
            <a:lvl1pPr marL="0" indent="0">
              <a:lnSpc>
                <a:spcPct val="90000"/>
              </a:lnSpc>
              <a:buNone/>
              <a:defRPr sz="2400" b="1" cap="all" baseline="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14400" y="3581400"/>
            <a:ext cx="7612857" cy="5679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9420702" y="2528603"/>
            <a:ext cx="7612380" cy="839751"/>
          </a:xfrm>
        </p:spPr>
        <p:txBody>
          <a:bodyPr anchor="b">
            <a:normAutofit/>
          </a:bodyPr>
          <a:lstStyle>
            <a:lvl1pPr marL="0" indent="0">
              <a:lnSpc>
                <a:spcPct val="90000"/>
              </a:lnSpc>
              <a:buNone/>
              <a:defRPr sz="2400" b="1" cap="all" baseline="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9419748" y="3581400"/>
            <a:ext cx="7613334" cy="5679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453097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918972" y="768096"/>
            <a:ext cx="16445484"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190563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19847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1449" y="134712"/>
            <a:ext cx="17193005" cy="3771900"/>
          </a:xfrm>
        </p:spPr>
        <p:txBody>
          <a:bodyPr anchor="t">
            <a:normAutofit/>
          </a:bodyPr>
          <a:lstStyle>
            <a:lvl1pPr>
              <a:defRPr sz="10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919163" y="4678136"/>
            <a:ext cx="16445292" cy="3931104"/>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7922023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918971" y="2440977"/>
            <a:ext cx="12646151" cy="2763030"/>
          </a:xfrm>
        </p:spPr>
        <p:txBody>
          <a:bodyPr anchor="b">
            <a:noAutofit/>
          </a:bodyPr>
          <a:lstStyle>
            <a:lvl1pPr>
              <a:defRPr sz="10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919163" y="5434011"/>
            <a:ext cx="12645959" cy="2412012"/>
          </a:xfrm>
        </p:spPr>
        <p:txBody>
          <a:bodyPr>
            <a:normAutofit/>
          </a:bodyPr>
          <a:lstStyle>
            <a:lvl1pPr marL="0" indent="0">
              <a:buNone/>
              <a:defRPr sz="2700"/>
            </a:lvl1pPr>
            <a:lvl2pPr marL="342900" indent="0">
              <a:buNone/>
              <a:defRPr sz="2400"/>
            </a:lvl2pPr>
            <a:lvl3pPr marL="685800" indent="0">
              <a:buNone/>
              <a:defRPr sz="2100"/>
            </a:lvl3pPr>
            <a:lvl4pPr marL="1028700" indent="0">
              <a:buNone/>
              <a:defRPr sz="2100"/>
            </a:lvl4pPr>
            <a:lvl5pPr marL="13716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641603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918973" y="771974"/>
            <a:ext cx="16445483" cy="14585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918971" y="2564793"/>
            <a:ext cx="16445484" cy="67706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918971" y="9515933"/>
            <a:ext cx="4208108" cy="547688"/>
          </a:xfrm>
          <a:prstGeom prst="rect">
            <a:avLst/>
          </a:prstGeom>
        </p:spPr>
        <p:txBody>
          <a:bodyPr vert="horz" lIns="91440" tIns="45720" rIns="91440" bIns="45720" rtlCol="0" anchor="ctr"/>
          <a:lstStyle>
            <a:lvl1pPr algn="l">
              <a:defRPr sz="12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340894" y="9515933"/>
            <a:ext cx="3303966" cy="547688"/>
          </a:xfrm>
          <a:prstGeom prst="rect">
            <a:avLst/>
          </a:prstGeom>
        </p:spPr>
        <p:txBody>
          <a:bodyPr vert="horz" lIns="91440" tIns="45720" rIns="91440" bIns="45720" rtlCol="0" anchor="ctr"/>
          <a:lstStyle>
            <a:lvl1pPr algn="r">
              <a:defRPr sz="1200">
                <a:solidFill>
                  <a:schemeClr val="tx1"/>
                </a:solidFill>
              </a:defRPr>
            </a:lvl1pPr>
          </a:lstStyle>
          <a:p>
            <a:fld id="{1D8BD707-D9CF-40AE-B4C6-C98DA3205C09}" type="datetimeFigureOut">
              <a:rPr lang="en-US" smtClean="0"/>
              <a:pPr/>
              <a:t>9/10/2026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6720645" y="9515933"/>
            <a:ext cx="643811" cy="547688"/>
          </a:xfrm>
          <a:prstGeom prst="rect">
            <a:avLst/>
          </a:prstGeom>
        </p:spPr>
        <p:txBody>
          <a:bodyPr vert="horz" lIns="91440" tIns="45720" rIns="91440" bIns="45720" rtlCol="0" anchor="ctr"/>
          <a:lstStyle>
            <a:lvl1pPr algn="r">
              <a:defRPr sz="1200">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6687808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 id="2147483812" r:id="rId12"/>
    <p:sldLayoutId id="2147483813" r:id="rId13"/>
    <p:sldLayoutId id="2147483814" r:id="rId14"/>
    <p:sldLayoutId id="2147483815" r:id="rId15"/>
    <p:sldLayoutId id="2147483816" r:id="rId16"/>
    <p:sldLayoutId id="2147483817" r:id="rId17"/>
    <p:sldLayoutId id="2147483818" r:id="rId18"/>
    <p:sldLayoutId id="2147483819" r:id="rId19"/>
    <p:sldLayoutId id="2147483820" r:id="rId20"/>
    <p:sldLayoutId id="2147483821" r:id="rId21"/>
    <p:sldLayoutId id="2147483822" r:id="rId22"/>
    <p:sldLayoutId id="2147483823" r:id="rId23"/>
    <p:sldLayoutId id="2147483824" r:id="rId24"/>
    <p:sldLayoutId id="2147483825" r:id="rId25"/>
    <p:sldLayoutId id="2147483826" r:id="rId26"/>
    <p:sldLayoutId id="2147483827" r:id="rId27"/>
  </p:sldLayoutIdLst>
  <p:txStyles>
    <p:titleStyle>
      <a:lvl1pPr algn="l" defTabSz="1371600" rtl="0" eaLnBrk="1" latinLnBrk="0" hangingPunct="1">
        <a:lnSpc>
          <a:spcPct val="95000"/>
        </a:lnSpc>
        <a:spcBef>
          <a:spcPct val="0"/>
        </a:spcBef>
        <a:buNone/>
        <a:defRPr sz="4200" b="1" kern="1200" spc="-45" baseline="0">
          <a:solidFill>
            <a:schemeClr val="tx1"/>
          </a:solidFill>
          <a:latin typeface="+mj-lt"/>
          <a:ea typeface="+mj-ea"/>
          <a:cs typeface="+mj-cs"/>
        </a:defRPr>
      </a:lvl1pPr>
    </p:titleStyle>
    <p:bodyStyle>
      <a:lvl1pPr marL="342900" indent="-342900" algn="l" defTabSz="1371600" rtl="0" eaLnBrk="1" latinLnBrk="0" hangingPunct="1">
        <a:lnSpc>
          <a:spcPct val="120000"/>
        </a:lnSpc>
        <a:spcBef>
          <a:spcPts val="1500"/>
        </a:spcBef>
        <a:buFont typeface="Arial" panose="020B0604020202020204" pitchFamily="34" charset="0"/>
        <a:buChar char="•"/>
        <a:defRPr sz="2100" kern="1200">
          <a:solidFill>
            <a:schemeClr val="tx1"/>
          </a:solidFill>
          <a:latin typeface="+mn-lt"/>
          <a:ea typeface="+mn-ea"/>
          <a:cs typeface="+mn-cs"/>
        </a:defRPr>
      </a:lvl1pPr>
      <a:lvl2pPr marL="685800" indent="-342900" algn="l" defTabSz="1371600" rtl="0" eaLnBrk="1" latinLnBrk="0" hangingPunct="1">
        <a:lnSpc>
          <a:spcPct val="120000"/>
        </a:lnSpc>
        <a:spcBef>
          <a:spcPts val="750"/>
        </a:spcBef>
        <a:buFont typeface="Arial" panose="020B0604020202020204" pitchFamily="34" charset="0"/>
        <a:buChar char="•"/>
        <a:defRPr sz="2100" kern="1200">
          <a:solidFill>
            <a:schemeClr val="tx1"/>
          </a:solidFill>
          <a:latin typeface="+mn-lt"/>
          <a:ea typeface="+mn-ea"/>
          <a:cs typeface="+mn-cs"/>
        </a:defRPr>
      </a:lvl2pPr>
      <a:lvl3pPr marL="1028700" indent="-342900" algn="l" defTabSz="1371600" rtl="0" eaLnBrk="1" latinLnBrk="0" hangingPunct="1">
        <a:lnSpc>
          <a:spcPct val="120000"/>
        </a:lnSpc>
        <a:spcBef>
          <a:spcPts val="750"/>
        </a:spcBef>
        <a:buFont typeface="Arial" panose="020B0604020202020204" pitchFamily="34" charset="0"/>
        <a:buChar char="•"/>
        <a:defRPr sz="2100" kern="1200">
          <a:solidFill>
            <a:schemeClr val="tx1"/>
          </a:solidFill>
          <a:latin typeface="+mn-lt"/>
          <a:ea typeface="+mn-ea"/>
          <a:cs typeface="+mn-cs"/>
        </a:defRPr>
      </a:lvl3pPr>
      <a:lvl4pPr marL="1371600" indent="-342900" algn="l" defTabSz="1371600" rtl="0" eaLnBrk="1" latinLnBrk="0" hangingPunct="1">
        <a:lnSpc>
          <a:spcPct val="120000"/>
        </a:lnSpc>
        <a:spcBef>
          <a:spcPts val="750"/>
        </a:spcBef>
        <a:buFont typeface="Arial" panose="020B0604020202020204" pitchFamily="34" charset="0"/>
        <a:buChar char="•"/>
        <a:defRPr sz="2100" kern="1200">
          <a:solidFill>
            <a:schemeClr val="tx1"/>
          </a:solidFill>
          <a:latin typeface="+mn-lt"/>
          <a:ea typeface="+mn-ea"/>
          <a:cs typeface="+mn-cs"/>
        </a:defRPr>
      </a:lvl4pPr>
      <a:lvl5pPr marL="1714500" indent="-342900" algn="l" defTabSz="1371600" rtl="0" eaLnBrk="1" latinLnBrk="0" hangingPunct="1">
        <a:lnSpc>
          <a:spcPct val="120000"/>
        </a:lnSpc>
        <a:spcBef>
          <a:spcPts val="750"/>
        </a:spcBef>
        <a:buFont typeface="Arial" panose="020B0604020202020204" pitchFamily="34" charset="0"/>
        <a:buChar char="•"/>
        <a:defRPr sz="21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image" Target="../media/image7.svg"/><Relationship Id="rId1" Type="http://schemas.openxmlformats.org/officeDocument/2006/relationships/slideLayout" Target="../slideLayouts/slideLayout25.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2.svg"/><Relationship Id="rId7" Type="http://schemas.openxmlformats.org/officeDocument/2006/relationships/image" Target="../media/image13.svg"/><Relationship Id="rId2" Type="http://schemas.openxmlformats.org/officeDocument/2006/relationships/image" Target="../media/image7.svg"/><Relationship Id="rId1" Type="http://schemas.openxmlformats.org/officeDocument/2006/relationships/slideLayout" Target="../slideLayouts/slideLayout25.xml"/><Relationship Id="rId6" Type="http://schemas.openxmlformats.org/officeDocument/2006/relationships/image" Target="../media/image10.png"/><Relationship Id="rId5" Type="http://schemas.openxmlformats.org/officeDocument/2006/relationships/image" Target="../media/image17.sv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5.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0.png"/><Relationship Id="rId1" Type="http://schemas.openxmlformats.org/officeDocument/2006/relationships/slideLayout" Target="../slideLayouts/slideLayout25.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Layout" Target="../slideLayouts/slideLayout25.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0.png"/><Relationship Id="rId7" Type="http://schemas.openxmlformats.org/officeDocument/2006/relationships/image" Target="../media/image25.png"/><Relationship Id="rId2" Type="http://schemas.openxmlformats.org/officeDocument/2006/relationships/image" Target="../media/image7.svg"/><Relationship Id="rId1" Type="http://schemas.openxmlformats.org/officeDocument/2006/relationships/slideLayout" Target="../slideLayouts/slideLayout25.xml"/><Relationship Id="rId6" Type="http://schemas.openxmlformats.org/officeDocument/2006/relationships/image" Target="../media/image24.png"/><Relationship Id="rId5" Type="http://schemas.openxmlformats.org/officeDocument/2006/relationships/image" Target="../media/image12.svg"/><Relationship Id="rId4" Type="http://schemas.openxmlformats.org/officeDocument/2006/relationships/image" Target="../media/image13.sv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image" Target="../media/image28.png"/><Relationship Id="rId1" Type="http://schemas.openxmlformats.org/officeDocument/2006/relationships/slideLayout" Target="../slideLayouts/slideLayout25.xml"/><Relationship Id="rId6" Type="http://schemas.openxmlformats.org/officeDocument/2006/relationships/image" Target="../media/image13.svg"/><Relationship Id="rId5" Type="http://schemas.openxmlformats.org/officeDocument/2006/relationships/image" Target="../media/image29.pn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2.svg"/><Relationship Id="rId7" Type="http://schemas.openxmlformats.org/officeDocument/2006/relationships/image" Target="../media/image13.svg"/><Relationship Id="rId2" Type="http://schemas.openxmlformats.org/officeDocument/2006/relationships/image" Target="../media/image7.svg"/><Relationship Id="rId1" Type="http://schemas.openxmlformats.org/officeDocument/2006/relationships/slideLayout" Target="../slideLayouts/slideLayout25.xml"/><Relationship Id="rId6" Type="http://schemas.openxmlformats.org/officeDocument/2006/relationships/image" Target="../media/image10.png"/><Relationship Id="rId5" Type="http://schemas.openxmlformats.org/officeDocument/2006/relationships/image" Target="../media/image17.sv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14.svg"/><Relationship Id="rId2" Type="http://schemas.openxmlformats.org/officeDocument/2006/relationships/image" Target="../media/image40.png"/><Relationship Id="rId1" Type="http://schemas.openxmlformats.org/officeDocument/2006/relationships/slideLayout" Target="../slideLayouts/slideLayout25.xml"/><Relationship Id="rId6" Type="http://schemas.openxmlformats.org/officeDocument/2006/relationships/image" Target="../media/image13.svg"/><Relationship Id="rId5" Type="http://schemas.openxmlformats.org/officeDocument/2006/relationships/image" Target="../media/image10.pn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8.png"/><Relationship Id="rId7" Type="http://schemas.openxmlformats.org/officeDocument/2006/relationships/image" Target="../media/image11.svg"/><Relationship Id="rId2" Type="http://schemas.openxmlformats.org/officeDocument/2006/relationships/image" Target="../media/image7.svg"/><Relationship Id="rId1" Type="http://schemas.openxmlformats.org/officeDocument/2006/relationships/slideLayout" Target="../slideLayouts/slideLayout25.xml"/><Relationship Id="rId6" Type="http://schemas.openxmlformats.org/officeDocument/2006/relationships/image" Target="../media/image10.png"/><Relationship Id="rId11"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14.svg"/><Relationship Id="rId4" Type="http://schemas.openxmlformats.org/officeDocument/2006/relationships/image" Target="../media/image9.svg"/><Relationship Id="rId9"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2026617">
            <a:off x="3395976" y="3190853"/>
            <a:ext cx="20299771" cy="6754287"/>
          </a:xfrm>
          <a:custGeom>
            <a:avLst/>
            <a:gdLst/>
            <a:ahLst/>
            <a:cxnLst/>
            <a:rect l="l" t="t" r="r" b="b"/>
            <a:pathLst>
              <a:path w="20299771" h="6754287">
                <a:moveTo>
                  <a:pt x="0" y="0"/>
                </a:moveTo>
                <a:lnTo>
                  <a:pt x="20299771" y="0"/>
                </a:lnTo>
                <a:lnTo>
                  <a:pt x="20299771" y="6754287"/>
                </a:lnTo>
                <a:lnTo>
                  <a:pt x="0" y="6754287"/>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8841392" y="587451"/>
            <a:ext cx="9122342" cy="9105756"/>
          </a:xfrm>
          <a:custGeom>
            <a:avLst/>
            <a:gdLst/>
            <a:ahLst/>
            <a:cxnLst/>
            <a:rect l="l" t="t" r="r" b="b"/>
            <a:pathLst>
              <a:path w="9122342" h="9105756">
                <a:moveTo>
                  <a:pt x="0" y="0"/>
                </a:moveTo>
                <a:lnTo>
                  <a:pt x="9122342" y="0"/>
                </a:lnTo>
                <a:lnTo>
                  <a:pt x="9122342" y="9105756"/>
                </a:lnTo>
                <a:lnTo>
                  <a:pt x="0" y="9105756"/>
                </a:lnTo>
                <a:lnTo>
                  <a:pt x="0" y="0"/>
                </a:lnTo>
                <a:close/>
              </a:path>
            </a:pathLst>
          </a:custGeom>
          <a:blipFill>
            <a:blip r:embed="rId3"/>
            <a:stretch>
              <a:fillRect/>
            </a:stretch>
          </a:blipFill>
        </p:spPr>
      </p:sp>
      <p:sp>
        <p:nvSpPr>
          <p:cNvPr id="4" name="Freeform 4"/>
          <p:cNvSpPr/>
          <p:nvPr/>
        </p:nvSpPr>
        <p:spPr>
          <a:xfrm rot="2157946">
            <a:off x="10971715" y="1704128"/>
            <a:ext cx="7674174" cy="2885362"/>
          </a:xfrm>
          <a:custGeom>
            <a:avLst/>
            <a:gdLst/>
            <a:ahLst/>
            <a:cxnLst/>
            <a:rect l="l" t="t" r="r" b="b"/>
            <a:pathLst>
              <a:path w="7674174" h="2885362">
                <a:moveTo>
                  <a:pt x="0" y="0"/>
                </a:moveTo>
                <a:lnTo>
                  <a:pt x="7674174" y="0"/>
                </a:lnTo>
                <a:lnTo>
                  <a:pt x="7674174" y="2885362"/>
                </a:lnTo>
                <a:lnTo>
                  <a:pt x="0" y="2885362"/>
                </a:lnTo>
                <a:lnTo>
                  <a:pt x="0" y="0"/>
                </a:lnTo>
                <a:close/>
              </a:path>
            </a:pathLst>
          </a:custGeom>
          <a:blipFill>
            <a:blip>
              <a:extLst>
                <a:ext uri="{96DAC541-7B7A-43D3-8B79-37D633B846F1}">
                  <asvg:svgBlip xmlns:asvg="http://schemas.microsoft.com/office/drawing/2016/SVG/main" r:embed="rId4"/>
                </a:ext>
              </a:extLst>
            </a:blip>
            <a:stretch>
              <a:fillRect b="-32984"/>
            </a:stretch>
          </a:blipFill>
        </p:spPr>
      </p:sp>
      <p:sp>
        <p:nvSpPr>
          <p:cNvPr id="5" name="Freeform 5"/>
          <p:cNvSpPr/>
          <p:nvPr/>
        </p:nvSpPr>
        <p:spPr>
          <a:xfrm rot="2157946" flipV="1">
            <a:off x="8438712" y="4719029"/>
            <a:ext cx="7674174" cy="3837087"/>
          </a:xfrm>
          <a:custGeom>
            <a:avLst/>
            <a:gdLst/>
            <a:ahLst/>
            <a:cxnLst/>
            <a:rect l="l" t="t" r="r" b="b"/>
            <a:pathLst>
              <a:path w="7674174" h="3837087">
                <a:moveTo>
                  <a:pt x="0" y="3837087"/>
                </a:moveTo>
                <a:lnTo>
                  <a:pt x="7674174" y="3837087"/>
                </a:lnTo>
                <a:lnTo>
                  <a:pt x="7674174" y="0"/>
                </a:lnTo>
                <a:lnTo>
                  <a:pt x="0" y="0"/>
                </a:lnTo>
                <a:lnTo>
                  <a:pt x="0" y="3837087"/>
                </a:lnTo>
                <a:close/>
              </a:path>
            </a:pathLst>
          </a:custGeom>
          <a:blipFill>
            <a:blip>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9975622" y="1713388"/>
            <a:ext cx="6853883" cy="685388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01D89">
                    <a:alpha val="100000"/>
                  </a:srgbClr>
                </a:gs>
                <a:gs pos="100000">
                  <a:srgbClr val="D2689C">
                    <a:alpha val="100000"/>
                  </a:srgbClr>
                </a:gs>
              </a:gsLst>
              <a:lin ang="0"/>
            </a:gradFill>
          </p:spPr>
        </p:sp>
        <p:sp>
          <p:nvSpPr>
            <p:cNvPr id="8" name="TextBox 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Freeform 11"/>
          <p:cNvSpPr/>
          <p:nvPr/>
        </p:nvSpPr>
        <p:spPr>
          <a:xfrm>
            <a:off x="-458594" y="5993565"/>
            <a:ext cx="1519526" cy="3084508"/>
          </a:xfrm>
          <a:custGeom>
            <a:avLst/>
            <a:gdLst/>
            <a:ahLst/>
            <a:cxnLst/>
            <a:rect l="l" t="t" r="r" b="b"/>
            <a:pathLst>
              <a:path w="1519526" h="3084508">
                <a:moveTo>
                  <a:pt x="0" y="0"/>
                </a:moveTo>
                <a:lnTo>
                  <a:pt x="1519526" y="0"/>
                </a:lnTo>
                <a:lnTo>
                  <a:pt x="1519526" y="3084508"/>
                </a:lnTo>
                <a:lnTo>
                  <a:pt x="0" y="3084508"/>
                </a:lnTo>
                <a:lnTo>
                  <a:pt x="0" y="0"/>
                </a:lnTo>
                <a:close/>
              </a:path>
            </a:pathLst>
          </a:custGeom>
          <a:blipFill>
            <a:blip r:embed="rId5"/>
            <a:stretch>
              <a:fillRect/>
            </a:stretch>
          </a:blipFill>
        </p:spPr>
      </p:sp>
      <p:sp>
        <p:nvSpPr>
          <p:cNvPr id="12" name="Freeform 12"/>
          <p:cNvSpPr/>
          <p:nvPr/>
        </p:nvSpPr>
        <p:spPr>
          <a:xfrm flipH="1">
            <a:off x="16818832" y="0"/>
            <a:ext cx="2071591" cy="4205152"/>
          </a:xfrm>
          <a:custGeom>
            <a:avLst/>
            <a:gdLst/>
            <a:ahLst/>
            <a:cxnLst/>
            <a:rect l="l" t="t" r="r" b="b"/>
            <a:pathLst>
              <a:path w="2071591" h="4205152">
                <a:moveTo>
                  <a:pt x="2071591" y="0"/>
                </a:moveTo>
                <a:lnTo>
                  <a:pt x="0" y="0"/>
                </a:lnTo>
                <a:lnTo>
                  <a:pt x="0" y="4205152"/>
                </a:lnTo>
                <a:lnTo>
                  <a:pt x="2071591" y="4205152"/>
                </a:lnTo>
                <a:lnTo>
                  <a:pt x="2071591" y="0"/>
                </a:lnTo>
                <a:close/>
              </a:path>
            </a:pathLst>
          </a:custGeom>
          <a:blipFill>
            <a:blip r:embed="rId5"/>
            <a:stretch>
              <a:fillRect/>
            </a:stretch>
          </a:blipFill>
        </p:spPr>
      </p:sp>
      <p:sp>
        <p:nvSpPr>
          <p:cNvPr id="13" name="Freeform 13"/>
          <p:cNvSpPr/>
          <p:nvPr/>
        </p:nvSpPr>
        <p:spPr>
          <a:xfrm>
            <a:off x="1060932" y="8585592"/>
            <a:ext cx="672708" cy="672708"/>
          </a:xfrm>
          <a:custGeom>
            <a:avLst/>
            <a:gdLst/>
            <a:ahLst/>
            <a:cxnLst/>
            <a:rect l="l" t="t" r="r" b="b"/>
            <a:pathLst>
              <a:path w="672708" h="672708">
                <a:moveTo>
                  <a:pt x="0" y="0"/>
                </a:moveTo>
                <a:lnTo>
                  <a:pt x="672709" y="0"/>
                </a:lnTo>
                <a:lnTo>
                  <a:pt x="672709" y="672708"/>
                </a:lnTo>
                <a:lnTo>
                  <a:pt x="0" y="67270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4" name="Freeform 14"/>
          <p:cNvSpPr/>
          <p:nvPr/>
        </p:nvSpPr>
        <p:spPr>
          <a:xfrm>
            <a:off x="7481992" y="-3498726"/>
            <a:ext cx="4793807" cy="4802539"/>
          </a:xfrm>
          <a:custGeom>
            <a:avLst/>
            <a:gdLst/>
            <a:ahLst/>
            <a:cxnLst/>
            <a:rect l="l" t="t" r="r" b="b"/>
            <a:pathLst>
              <a:path w="4793807" h="4802539">
                <a:moveTo>
                  <a:pt x="0" y="0"/>
                </a:moveTo>
                <a:lnTo>
                  <a:pt x="4793807" y="0"/>
                </a:lnTo>
                <a:lnTo>
                  <a:pt x="4793807" y="4802539"/>
                </a:lnTo>
                <a:lnTo>
                  <a:pt x="0" y="480253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5" name="Freeform 15"/>
          <p:cNvSpPr/>
          <p:nvPr/>
        </p:nvSpPr>
        <p:spPr>
          <a:xfrm>
            <a:off x="16108917" y="8366098"/>
            <a:ext cx="4940090" cy="4949088"/>
          </a:xfrm>
          <a:custGeom>
            <a:avLst/>
            <a:gdLst/>
            <a:ahLst/>
            <a:cxnLst/>
            <a:rect l="l" t="t" r="r" b="b"/>
            <a:pathLst>
              <a:path w="4940090" h="4949088">
                <a:moveTo>
                  <a:pt x="0" y="0"/>
                </a:moveTo>
                <a:lnTo>
                  <a:pt x="4940090" y="0"/>
                </a:lnTo>
                <a:lnTo>
                  <a:pt x="4940090" y="4949088"/>
                </a:lnTo>
                <a:lnTo>
                  <a:pt x="0" y="4949088"/>
                </a:lnTo>
                <a:lnTo>
                  <a:pt x="0" y="0"/>
                </a:lnTo>
                <a:close/>
              </a:path>
            </a:pathLst>
          </a:custGeom>
          <a:blipFill>
            <a:blip>
              <a:alphaModFix amt="50000"/>
              <a:extLst>
                <a:ext uri="{96DAC541-7B7A-43D3-8B79-37D633B846F1}">
                  <asvg:svgBlip xmlns:asvg="http://schemas.microsoft.com/office/drawing/2016/SVG/main" r:embed="rId7"/>
                </a:ext>
              </a:extLst>
            </a:blip>
            <a:stretch>
              <a:fillRect/>
            </a:stretch>
          </a:blipFill>
        </p:spPr>
      </p:sp>
      <p:sp>
        <p:nvSpPr>
          <p:cNvPr id="16" name="Freeform 16"/>
          <p:cNvSpPr/>
          <p:nvPr/>
        </p:nvSpPr>
        <p:spPr>
          <a:xfrm>
            <a:off x="7496449" y="2218183"/>
            <a:ext cx="1647551" cy="200702"/>
          </a:xfrm>
          <a:custGeom>
            <a:avLst/>
            <a:gdLst/>
            <a:ahLst/>
            <a:cxnLst/>
            <a:rect l="l" t="t" r="r" b="b"/>
            <a:pathLst>
              <a:path w="1647551" h="200702">
                <a:moveTo>
                  <a:pt x="0" y="0"/>
                </a:moveTo>
                <a:lnTo>
                  <a:pt x="1647551" y="0"/>
                </a:lnTo>
                <a:lnTo>
                  <a:pt x="1647551" y="200701"/>
                </a:lnTo>
                <a:lnTo>
                  <a:pt x="0" y="200701"/>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7" name="Freeform 17"/>
          <p:cNvSpPr/>
          <p:nvPr/>
        </p:nvSpPr>
        <p:spPr>
          <a:xfrm>
            <a:off x="9212750" y="8440510"/>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a:extLst>
                <a:ext uri="{96DAC541-7B7A-43D3-8B79-37D633B846F1}">
                  <asvg:svgBlip xmlns:asvg="http://schemas.microsoft.com/office/drawing/2016/SVG/main" r:embed="rId9"/>
                </a:ext>
              </a:extLst>
            </a:blip>
            <a:stretch>
              <a:fillRect t="-106388" r="-103152"/>
            </a:stretch>
          </a:blipFill>
        </p:spPr>
      </p:sp>
      <p:sp>
        <p:nvSpPr>
          <p:cNvPr id="21" name="Freeform 21"/>
          <p:cNvSpPr/>
          <p:nvPr/>
        </p:nvSpPr>
        <p:spPr>
          <a:xfrm>
            <a:off x="1028700" y="1053061"/>
            <a:ext cx="781082" cy="781082"/>
          </a:xfrm>
          <a:custGeom>
            <a:avLst/>
            <a:gdLst/>
            <a:ahLst/>
            <a:cxnLst/>
            <a:rect l="l" t="t" r="r" b="b"/>
            <a:pathLst>
              <a:path w="781082" h="781082">
                <a:moveTo>
                  <a:pt x="0" y="0"/>
                </a:moveTo>
                <a:lnTo>
                  <a:pt x="781082" y="0"/>
                </a:lnTo>
                <a:lnTo>
                  <a:pt x="781082" y="781082"/>
                </a:lnTo>
                <a:lnTo>
                  <a:pt x="0" y="781082"/>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22" name="TextBox 22"/>
          <p:cNvSpPr txBox="1"/>
          <p:nvPr/>
        </p:nvSpPr>
        <p:spPr>
          <a:xfrm>
            <a:off x="1927008" y="1198688"/>
            <a:ext cx="2885638" cy="398145"/>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TT Interphases"/>
                <a:ea typeface="TT Interphases"/>
                <a:cs typeface="TT Interphases"/>
                <a:sym typeface="TT Interphases"/>
              </a:rPr>
              <a:t>Matoshri College of Engineering &amp; Research Centre, Nashik</a:t>
            </a:r>
          </a:p>
        </p:txBody>
      </p:sp>
      <p:sp>
        <p:nvSpPr>
          <p:cNvPr id="23" name="TextBox 23"/>
          <p:cNvSpPr txBox="1"/>
          <p:nvPr/>
        </p:nvSpPr>
        <p:spPr>
          <a:xfrm>
            <a:off x="1927008" y="8733351"/>
            <a:ext cx="4301235" cy="607695"/>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TT Interphases"/>
                <a:ea typeface="TT Interphases"/>
                <a:cs typeface="TT Interphases"/>
                <a:sym typeface="TT Interphases"/>
              </a:rPr>
              <a:t>Dept. of AI &amp; Data Science Engineering  |  Guide: Dr. Ranjit M. Gawande  |  Team: Ruturani Maske, Gayatri Ahire, Kajal Kasar, Sakshi Salve</a:t>
            </a:r>
          </a:p>
        </p:txBody>
      </p:sp>
      <p:sp>
        <p:nvSpPr>
          <p:cNvPr id="25" name="TextBox 25"/>
          <p:cNvSpPr txBox="1"/>
          <p:nvPr/>
        </p:nvSpPr>
        <p:spPr>
          <a:xfrm>
            <a:off x="1028700" y="6356587"/>
            <a:ext cx="8449717" cy="179379"/>
          </a:xfrm>
          <a:prstGeom prst="rect">
            <a:avLst/>
          </a:prstGeom>
        </p:spPr>
        <p:txBody>
          <a:bodyPr lIns="0" tIns="0" rIns="0" bIns="0" rtlCol="0" anchor="t">
            <a:spAutoFit/>
          </a:bodyPr>
          <a:lstStyle/>
          <a:p>
            <a:pPr marL="0" lvl="0" indent="0" algn="l">
              <a:lnSpc>
                <a:spcPts val="1436"/>
              </a:lnSpc>
            </a:pPr>
            <a:r>
              <a:rPr lang="en-US" sz="1248" i="1" spc="8">
                <a:solidFill>
                  <a:srgbClr val="FFFFFF"/>
                </a:solidFill>
                <a:latin typeface="TT Interphases Italics"/>
                <a:ea typeface="TT Interphases Italics"/>
                <a:cs typeface="TT Interphases Italics"/>
                <a:sym typeface="TT Interphases Italics"/>
              </a:rPr>
              <a:t>AI-Based Deepfake Image Detection and Analysis System</a:t>
            </a:r>
          </a:p>
        </p:txBody>
      </p:sp>
      <p:sp>
        <p:nvSpPr>
          <p:cNvPr id="26" name="TextBox 26"/>
          <p:cNvSpPr txBox="1"/>
          <p:nvPr/>
        </p:nvSpPr>
        <p:spPr>
          <a:xfrm>
            <a:off x="959964" y="3922240"/>
            <a:ext cx="6467749" cy="769441"/>
          </a:xfrm>
          <a:prstGeom prst="rect">
            <a:avLst/>
          </a:prstGeom>
        </p:spPr>
        <p:txBody>
          <a:bodyPr lIns="0" tIns="0" rIns="0" bIns="0" rtlCol="0" anchor="t">
            <a:spAutoFit/>
          </a:bodyPr>
          <a:lstStyle/>
          <a:p>
            <a:pPr marL="0" lvl="0" indent="0" algn="l">
              <a:lnSpc>
                <a:spcPts val="6008"/>
              </a:lnSpc>
            </a:pPr>
            <a:r>
              <a:rPr lang="en-US" sz="6194" b="1" dirty="0">
                <a:solidFill>
                  <a:srgbClr val="A94BC6"/>
                </a:solidFill>
                <a:latin typeface="TT Interphases Bold"/>
                <a:ea typeface="TT Interphases Bold"/>
                <a:cs typeface="TT Interphases Bold"/>
                <a:sym typeface="TT Interphases Bold"/>
              </a:rPr>
              <a:t>AI DEEPGUARD</a:t>
            </a:r>
          </a:p>
        </p:txBody>
      </p:sp>
      <p:sp>
        <p:nvSpPr>
          <p:cNvPr id="27" name="TextBox 27"/>
          <p:cNvSpPr txBox="1"/>
          <p:nvPr/>
        </p:nvSpPr>
        <p:spPr>
          <a:xfrm>
            <a:off x="1014715" y="5034288"/>
            <a:ext cx="8265321" cy="819126"/>
          </a:xfrm>
          <a:prstGeom prst="rect">
            <a:avLst/>
          </a:prstGeom>
        </p:spPr>
        <p:txBody>
          <a:bodyPr lIns="0" tIns="0" rIns="0" bIns="0" rtlCol="0" anchor="t">
            <a:spAutoFit/>
          </a:bodyPr>
          <a:lstStyle/>
          <a:p>
            <a:pPr marL="0" lvl="0" indent="0" algn="l">
              <a:lnSpc>
                <a:spcPts val="6008"/>
              </a:lnSpc>
            </a:pPr>
            <a:r>
              <a:rPr lang="en-US" sz="6194" b="1" dirty="0">
                <a:solidFill>
                  <a:srgbClr val="FFFFFF"/>
                </a:solidFill>
                <a:latin typeface="TT Interphases Bold"/>
                <a:ea typeface="TT Interphases Bold"/>
                <a:cs typeface="TT Interphases Bold"/>
                <a:sym typeface="TT Interphases Bold"/>
              </a:rPr>
              <a:t>DETECTION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344591" flipH="1">
            <a:off x="-4148183" y="5002073"/>
            <a:ext cx="20299771" cy="6754287"/>
          </a:xfrm>
          <a:custGeom>
            <a:avLst/>
            <a:gdLst/>
            <a:ahLst/>
            <a:cxnLst/>
            <a:rect l="l" t="t" r="r" b="b"/>
            <a:pathLst>
              <a:path w="20299771" h="6754287">
                <a:moveTo>
                  <a:pt x="20299770" y="0"/>
                </a:moveTo>
                <a:lnTo>
                  <a:pt x="0" y="0"/>
                </a:lnTo>
                <a:lnTo>
                  <a:pt x="0" y="6754287"/>
                </a:lnTo>
                <a:lnTo>
                  <a:pt x="20299770" y="6754287"/>
                </a:lnTo>
                <a:lnTo>
                  <a:pt x="2029977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rot="3975364">
            <a:off x="9101346" y="-6203143"/>
            <a:ext cx="8862696" cy="8878839"/>
          </a:xfrm>
          <a:custGeom>
            <a:avLst/>
            <a:gdLst/>
            <a:ahLst/>
            <a:cxnLst/>
            <a:rect l="l" t="t" r="r" b="b"/>
            <a:pathLst>
              <a:path w="8862696" h="8878839">
                <a:moveTo>
                  <a:pt x="0" y="0"/>
                </a:moveTo>
                <a:lnTo>
                  <a:pt x="8862696" y="0"/>
                </a:lnTo>
                <a:lnTo>
                  <a:pt x="8862696" y="8878839"/>
                </a:lnTo>
                <a:lnTo>
                  <a:pt x="0" y="8878839"/>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559619" y="524618"/>
            <a:ext cx="6357873" cy="8099201"/>
          </a:xfrm>
          <a:custGeom>
            <a:avLst/>
            <a:gdLst/>
            <a:ahLst/>
            <a:cxnLst/>
            <a:rect l="l" t="t" r="r" b="b"/>
            <a:pathLst>
              <a:path w="6357873" h="8099201">
                <a:moveTo>
                  <a:pt x="0" y="0"/>
                </a:moveTo>
                <a:lnTo>
                  <a:pt x="6357873" y="0"/>
                </a:lnTo>
                <a:lnTo>
                  <a:pt x="6357873" y="8099201"/>
                </a:lnTo>
                <a:lnTo>
                  <a:pt x="0" y="8099201"/>
                </a:lnTo>
                <a:lnTo>
                  <a:pt x="0" y="0"/>
                </a:lnTo>
                <a:close/>
              </a:path>
            </a:pathLst>
          </a:custGeom>
          <a:blipFill>
            <a:blip r:embed="rId4"/>
            <a:stretch>
              <a:fillRect/>
            </a:stretch>
          </a:blipFill>
        </p:spPr>
      </p:sp>
      <p:grpSp>
        <p:nvGrpSpPr>
          <p:cNvPr id="5" name="Group 5"/>
          <p:cNvGrpSpPr/>
          <p:nvPr/>
        </p:nvGrpSpPr>
        <p:grpSpPr>
          <a:xfrm>
            <a:off x="1028700" y="5143500"/>
            <a:ext cx="643117" cy="64311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7" name="TextBox 7"/>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8" name="Group 8"/>
          <p:cNvGrpSpPr/>
          <p:nvPr/>
        </p:nvGrpSpPr>
        <p:grpSpPr>
          <a:xfrm>
            <a:off x="6192202" y="5143500"/>
            <a:ext cx="643117" cy="64311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0" name="TextBox 10"/>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11" name="Group 11"/>
          <p:cNvGrpSpPr/>
          <p:nvPr/>
        </p:nvGrpSpPr>
        <p:grpSpPr>
          <a:xfrm>
            <a:off x="1028700" y="5956151"/>
            <a:ext cx="643117" cy="64311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3" name="TextBox 13"/>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14" name="Group 14"/>
          <p:cNvGrpSpPr/>
          <p:nvPr/>
        </p:nvGrpSpPr>
        <p:grpSpPr>
          <a:xfrm>
            <a:off x="6192202" y="5956151"/>
            <a:ext cx="643117" cy="64311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6" name="TextBox 16"/>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17" name="TextBox 17"/>
          <p:cNvSpPr txBox="1"/>
          <p:nvPr/>
        </p:nvSpPr>
        <p:spPr>
          <a:xfrm>
            <a:off x="1028700" y="1152525"/>
            <a:ext cx="3681189" cy="667703"/>
          </a:xfrm>
          <a:prstGeom prst="rect">
            <a:avLst/>
          </a:prstGeom>
        </p:spPr>
        <p:txBody>
          <a:bodyPr lIns="0" tIns="0" rIns="0" bIns="0" rtlCol="0" anchor="t">
            <a:spAutoFit/>
          </a:bodyPr>
          <a:lstStyle/>
          <a:p>
            <a:pPr marL="0" lvl="0" indent="0" algn="l">
              <a:lnSpc>
                <a:spcPts val="5092"/>
              </a:lnSpc>
            </a:pPr>
            <a:r>
              <a:rPr lang="en-US" sz="5250">
                <a:solidFill>
                  <a:srgbClr val="FFFFFF"/>
                </a:solidFill>
                <a:latin typeface="TT Interphases"/>
                <a:ea typeface="TT Interphases"/>
                <a:cs typeface="TT Interphases"/>
                <a:sym typeface="TT Interphases"/>
              </a:rPr>
              <a:t>Introduction</a:t>
            </a:r>
          </a:p>
        </p:txBody>
      </p:sp>
      <p:sp>
        <p:nvSpPr>
          <p:cNvPr id="18" name="TextBox 18"/>
          <p:cNvSpPr txBox="1"/>
          <p:nvPr/>
        </p:nvSpPr>
        <p:spPr>
          <a:xfrm>
            <a:off x="1848258" y="5337282"/>
            <a:ext cx="3512629" cy="187742"/>
          </a:xfrm>
          <a:prstGeom prst="rect">
            <a:avLst/>
          </a:prstGeom>
        </p:spPr>
        <p:txBody>
          <a:bodyPr lIns="0" tIns="0" rIns="0" bIns="0" rtlCol="0" anchor="t">
            <a:spAutoFit/>
          </a:bodyPr>
          <a:lstStyle/>
          <a:p>
            <a:pPr marL="0" lvl="0" indent="0" algn="l">
              <a:lnSpc>
                <a:spcPts val="1489"/>
              </a:lnSpc>
            </a:pPr>
            <a:r>
              <a:rPr lang="en-US" sz="1536" dirty="0">
                <a:solidFill>
                  <a:srgbClr val="FFFFFF"/>
                </a:solidFill>
                <a:latin typeface="TT Interphases"/>
                <a:ea typeface="TT Interphases"/>
                <a:cs typeface="TT Interphases"/>
                <a:sym typeface="TT Interphases"/>
              </a:rPr>
              <a:t>Digital Identity &amp; Privacy</a:t>
            </a:r>
          </a:p>
        </p:txBody>
      </p:sp>
      <p:sp>
        <p:nvSpPr>
          <p:cNvPr id="19" name="TextBox 19"/>
          <p:cNvSpPr txBox="1"/>
          <p:nvPr/>
        </p:nvSpPr>
        <p:spPr>
          <a:xfrm>
            <a:off x="7023420" y="5381610"/>
            <a:ext cx="3390294" cy="187742"/>
          </a:xfrm>
          <a:prstGeom prst="rect">
            <a:avLst/>
          </a:prstGeom>
        </p:spPr>
        <p:txBody>
          <a:bodyPr lIns="0" tIns="0" rIns="0" bIns="0" rtlCol="0" anchor="t">
            <a:spAutoFit/>
          </a:bodyPr>
          <a:lstStyle/>
          <a:p>
            <a:pPr marL="0" lvl="0" indent="0" algn="l">
              <a:lnSpc>
                <a:spcPts val="1489"/>
              </a:lnSpc>
            </a:pPr>
            <a:r>
              <a:rPr lang="en-US" sz="1536" dirty="0">
                <a:solidFill>
                  <a:srgbClr val="FFFFFF"/>
                </a:solidFill>
                <a:latin typeface="TT Interphases"/>
                <a:ea typeface="TT Interphases"/>
                <a:cs typeface="TT Interphases"/>
                <a:sym typeface="TT Interphases"/>
              </a:rPr>
              <a:t>Media Authenticity</a:t>
            </a:r>
          </a:p>
        </p:txBody>
      </p:sp>
      <p:sp>
        <p:nvSpPr>
          <p:cNvPr id="20" name="TextBox 20"/>
          <p:cNvSpPr txBox="1"/>
          <p:nvPr/>
        </p:nvSpPr>
        <p:spPr>
          <a:xfrm>
            <a:off x="1827974" y="6177407"/>
            <a:ext cx="3128146" cy="187742"/>
          </a:xfrm>
          <a:prstGeom prst="rect">
            <a:avLst/>
          </a:prstGeom>
        </p:spPr>
        <p:txBody>
          <a:bodyPr lIns="0" tIns="0" rIns="0" bIns="0" rtlCol="0" anchor="t">
            <a:spAutoFit/>
          </a:bodyPr>
          <a:lstStyle/>
          <a:p>
            <a:pPr marL="0" lvl="0" indent="0" algn="l">
              <a:lnSpc>
                <a:spcPts val="1489"/>
              </a:lnSpc>
            </a:pPr>
            <a:r>
              <a:rPr lang="en-US" sz="1536" dirty="0">
                <a:solidFill>
                  <a:srgbClr val="FFFFFF"/>
                </a:solidFill>
                <a:latin typeface="TT Interphases"/>
                <a:ea typeface="TT Interphases"/>
                <a:cs typeface="TT Interphases"/>
                <a:sym typeface="TT Interphases"/>
              </a:rPr>
              <a:t>Misinformation Detection</a:t>
            </a:r>
          </a:p>
        </p:txBody>
      </p:sp>
      <p:sp>
        <p:nvSpPr>
          <p:cNvPr id="21" name="TextBox 21"/>
          <p:cNvSpPr txBox="1"/>
          <p:nvPr/>
        </p:nvSpPr>
        <p:spPr>
          <a:xfrm>
            <a:off x="7023420" y="6218092"/>
            <a:ext cx="2070892" cy="187742"/>
          </a:xfrm>
          <a:prstGeom prst="rect">
            <a:avLst/>
          </a:prstGeom>
        </p:spPr>
        <p:txBody>
          <a:bodyPr lIns="0" tIns="0" rIns="0" bIns="0" rtlCol="0" anchor="t">
            <a:spAutoFit/>
          </a:bodyPr>
          <a:lstStyle/>
          <a:p>
            <a:pPr marL="0" lvl="0" indent="0" algn="l">
              <a:lnSpc>
                <a:spcPts val="1489"/>
              </a:lnSpc>
            </a:pPr>
            <a:r>
              <a:rPr lang="en-US" sz="1536" dirty="0">
                <a:solidFill>
                  <a:srgbClr val="FFFFFF"/>
                </a:solidFill>
                <a:latin typeface="TT Interphases"/>
                <a:ea typeface="TT Interphases"/>
                <a:cs typeface="TT Interphases"/>
                <a:sym typeface="TT Interphases"/>
              </a:rPr>
              <a:t>Digital Security</a:t>
            </a:r>
          </a:p>
        </p:txBody>
      </p:sp>
      <p:sp>
        <p:nvSpPr>
          <p:cNvPr id="22" name="TextBox 22"/>
          <p:cNvSpPr txBox="1"/>
          <p:nvPr/>
        </p:nvSpPr>
        <p:spPr>
          <a:xfrm>
            <a:off x="1028700" y="2031648"/>
            <a:ext cx="6179482" cy="949413"/>
          </a:xfrm>
          <a:prstGeom prst="rect">
            <a:avLst/>
          </a:prstGeom>
        </p:spPr>
        <p:txBody>
          <a:bodyPr lIns="0" tIns="0" rIns="0" bIns="0" rtlCol="0" anchor="t">
            <a:spAutoFit/>
          </a:bodyPr>
          <a:lstStyle/>
          <a:p>
            <a:pPr marL="0" lvl="0" indent="0" algn="l">
              <a:lnSpc>
                <a:spcPts val="3693"/>
              </a:lnSpc>
            </a:pPr>
            <a:r>
              <a:rPr lang="en-US" sz="3807" b="1">
                <a:solidFill>
                  <a:srgbClr val="A94BC6"/>
                </a:solidFill>
                <a:latin typeface="TT Interphases Bold"/>
                <a:ea typeface="TT Interphases Bold"/>
                <a:cs typeface="TT Interphases Bold"/>
                <a:sym typeface="TT Interphases Bold"/>
              </a:rPr>
              <a:t>Deepfake Technology &amp; AI DeepGuard</a:t>
            </a:r>
          </a:p>
        </p:txBody>
      </p:sp>
      <p:sp>
        <p:nvSpPr>
          <p:cNvPr id="23" name="TextBox 23"/>
          <p:cNvSpPr txBox="1"/>
          <p:nvPr/>
        </p:nvSpPr>
        <p:spPr>
          <a:xfrm>
            <a:off x="1028700" y="3324094"/>
            <a:ext cx="9946004" cy="365760"/>
          </a:xfrm>
          <a:prstGeom prst="rect">
            <a:avLst/>
          </a:prstGeom>
        </p:spPr>
        <p:txBody>
          <a:bodyPr lIns="0" tIns="0" rIns="0" bIns="0" rtlCol="0" anchor="t">
            <a:spAutoFit/>
          </a:bodyPr>
          <a:lstStyle/>
          <a:p>
            <a:pPr marL="0" lvl="0" indent="0" algn="l">
              <a:lnSpc>
                <a:spcPts val="1560"/>
              </a:lnSpc>
            </a:pPr>
            <a:r>
              <a:rPr lang="en-US" sz="1200">
                <a:solidFill>
                  <a:srgbClr val="FFFFFF"/>
                </a:solidFill>
                <a:latin typeface="TT Interphases"/>
                <a:ea typeface="TT Interphases"/>
                <a:cs typeface="TT Interphases"/>
                <a:sym typeface="TT Interphases"/>
              </a:rPr>
              <a:t>Deepfake technology uses AI and deep learning to create or manipulate realistic facial images. Modern deepfakes are increasingly difficult to distinguish from genuine images through manual inspection, posing serious threats to digital identity, media authenticity, and online trust.</a:t>
            </a:r>
          </a:p>
        </p:txBody>
      </p:sp>
      <p:grpSp>
        <p:nvGrpSpPr>
          <p:cNvPr id="24" name="Group 24"/>
          <p:cNvGrpSpPr/>
          <p:nvPr/>
        </p:nvGrpSpPr>
        <p:grpSpPr>
          <a:xfrm>
            <a:off x="1028700" y="6768802"/>
            <a:ext cx="643117" cy="643117"/>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26" name="TextBox 26"/>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27" name="TextBox 27"/>
          <p:cNvSpPr txBox="1"/>
          <p:nvPr/>
        </p:nvSpPr>
        <p:spPr>
          <a:xfrm>
            <a:off x="1857420" y="7052521"/>
            <a:ext cx="6493119" cy="187742"/>
          </a:xfrm>
          <a:prstGeom prst="rect">
            <a:avLst/>
          </a:prstGeom>
        </p:spPr>
        <p:txBody>
          <a:bodyPr lIns="0" tIns="0" rIns="0" bIns="0" rtlCol="0" anchor="t">
            <a:spAutoFit/>
          </a:bodyPr>
          <a:lstStyle/>
          <a:p>
            <a:pPr marL="0" lvl="0" indent="0" algn="l">
              <a:lnSpc>
                <a:spcPts val="1489"/>
              </a:lnSpc>
            </a:pPr>
            <a:r>
              <a:rPr lang="en-US" sz="1536" dirty="0">
                <a:solidFill>
                  <a:srgbClr val="FFFFFF"/>
                </a:solidFill>
                <a:latin typeface="TT Interphases"/>
                <a:ea typeface="TT Interphases"/>
                <a:cs typeface="TT Interphases"/>
                <a:sym typeface="TT Interphases"/>
              </a:rPr>
              <a:t>AI </a:t>
            </a:r>
            <a:r>
              <a:rPr lang="en-US" sz="1536" dirty="0" err="1">
                <a:solidFill>
                  <a:srgbClr val="FFFFFF"/>
                </a:solidFill>
                <a:latin typeface="TT Interphases"/>
                <a:ea typeface="TT Interphases"/>
                <a:cs typeface="TT Interphases"/>
                <a:sym typeface="TT Interphases"/>
              </a:rPr>
              <a:t>DeepGuard</a:t>
            </a:r>
            <a:r>
              <a:rPr lang="en-US" sz="1536" dirty="0">
                <a:solidFill>
                  <a:srgbClr val="FFFFFF"/>
                </a:solidFill>
                <a:latin typeface="TT Interphases"/>
                <a:ea typeface="TT Interphases"/>
                <a:cs typeface="TT Interphases"/>
                <a:sym typeface="TT Interphases"/>
              </a:rPr>
              <a:t>: Deep Learning + Computer Vision + XAI</a:t>
            </a:r>
          </a:p>
        </p:txBody>
      </p:sp>
      <p:sp>
        <p:nvSpPr>
          <p:cNvPr id="28" name="Freeform 28"/>
          <p:cNvSpPr/>
          <p:nvPr/>
        </p:nvSpPr>
        <p:spPr>
          <a:xfrm>
            <a:off x="1165652" y="5294079"/>
            <a:ext cx="369212" cy="341958"/>
          </a:xfrm>
          <a:custGeom>
            <a:avLst/>
            <a:gdLst/>
            <a:ahLst/>
            <a:cxnLst/>
            <a:rect l="l" t="t" r="r" b="b"/>
            <a:pathLst>
              <a:path w="369212" h="341958">
                <a:moveTo>
                  <a:pt x="0" y="0"/>
                </a:moveTo>
                <a:lnTo>
                  <a:pt x="369213" y="0"/>
                </a:lnTo>
                <a:lnTo>
                  <a:pt x="369213" y="341959"/>
                </a:lnTo>
                <a:lnTo>
                  <a:pt x="0" y="34195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9" name="Freeform 29"/>
          <p:cNvSpPr/>
          <p:nvPr/>
        </p:nvSpPr>
        <p:spPr>
          <a:xfrm>
            <a:off x="6329154" y="5294079"/>
            <a:ext cx="369212" cy="341958"/>
          </a:xfrm>
          <a:custGeom>
            <a:avLst/>
            <a:gdLst/>
            <a:ahLst/>
            <a:cxnLst/>
            <a:rect l="l" t="t" r="r" b="b"/>
            <a:pathLst>
              <a:path w="369212" h="341958">
                <a:moveTo>
                  <a:pt x="0" y="0"/>
                </a:moveTo>
                <a:lnTo>
                  <a:pt x="369212" y="0"/>
                </a:lnTo>
                <a:lnTo>
                  <a:pt x="369212" y="341959"/>
                </a:lnTo>
                <a:lnTo>
                  <a:pt x="0" y="34195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0" name="Freeform 30"/>
          <p:cNvSpPr/>
          <p:nvPr/>
        </p:nvSpPr>
        <p:spPr>
          <a:xfrm>
            <a:off x="1165652" y="6110467"/>
            <a:ext cx="369212" cy="341958"/>
          </a:xfrm>
          <a:custGeom>
            <a:avLst/>
            <a:gdLst/>
            <a:ahLst/>
            <a:cxnLst/>
            <a:rect l="l" t="t" r="r" b="b"/>
            <a:pathLst>
              <a:path w="369212" h="341958">
                <a:moveTo>
                  <a:pt x="0" y="0"/>
                </a:moveTo>
                <a:lnTo>
                  <a:pt x="369213" y="0"/>
                </a:lnTo>
                <a:lnTo>
                  <a:pt x="369213" y="341958"/>
                </a:lnTo>
                <a:lnTo>
                  <a:pt x="0" y="3419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1" name="Freeform 31"/>
          <p:cNvSpPr/>
          <p:nvPr/>
        </p:nvSpPr>
        <p:spPr>
          <a:xfrm>
            <a:off x="6329154" y="6110467"/>
            <a:ext cx="369212" cy="341958"/>
          </a:xfrm>
          <a:custGeom>
            <a:avLst/>
            <a:gdLst/>
            <a:ahLst/>
            <a:cxnLst/>
            <a:rect l="l" t="t" r="r" b="b"/>
            <a:pathLst>
              <a:path w="369212" h="341958">
                <a:moveTo>
                  <a:pt x="0" y="0"/>
                </a:moveTo>
                <a:lnTo>
                  <a:pt x="369212" y="0"/>
                </a:lnTo>
                <a:lnTo>
                  <a:pt x="369212" y="341958"/>
                </a:lnTo>
                <a:lnTo>
                  <a:pt x="0" y="3419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2" name="Freeform 32"/>
          <p:cNvSpPr/>
          <p:nvPr/>
        </p:nvSpPr>
        <p:spPr>
          <a:xfrm>
            <a:off x="1165652" y="6923118"/>
            <a:ext cx="369212" cy="341958"/>
          </a:xfrm>
          <a:custGeom>
            <a:avLst/>
            <a:gdLst/>
            <a:ahLst/>
            <a:cxnLst/>
            <a:rect l="l" t="t" r="r" b="b"/>
            <a:pathLst>
              <a:path w="369212" h="341958">
                <a:moveTo>
                  <a:pt x="0" y="0"/>
                </a:moveTo>
                <a:lnTo>
                  <a:pt x="369213" y="0"/>
                </a:lnTo>
                <a:lnTo>
                  <a:pt x="369213" y="341958"/>
                </a:lnTo>
                <a:lnTo>
                  <a:pt x="0" y="3419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3" name="Freeform 33"/>
          <p:cNvSpPr/>
          <p:nvPr/>
        </p:nvSpPr>
        <p:spPr>
          <a:xfrm>
            <a:off x="-431506" y="292352"/>
            <a:ext cx="1248533" cy="2534416"/>
          </a:xfrm>
          <a:custGeom>
            <a:avLst/>
            <a:gdLst/>
            <a:ahLst/>
            <a:cxnLst/>
            <a:rect l="l" t="t" r="r" b="b"/>
            <a:pathLst>
              <a:path w="1248533" h="2534416">
                <a:moveTo>
                  <a:pt x="0" y="0"/>
                </a:moveTo>
                <a:lnTo>
                  <a:pt x="1248533" y="0"/>
                </a:lnTo>
                <a:lnTo>
                  <a:pt x="1248533" y="2534416"/>
                </a:lnTo>
                <a:lnTo>
                  <a:pt x="0" y="2534416"/>
                </a:lnTo>
                <a:lnTo>
                  <a:pt x="0" y="0"/>
                </a:lnTo>
                <a:close/>
              </a:path>
            </a:pathLst>
          </a:custGeom>
          <a:blipFill>
            <a:blip r:embed="rId6"/>
            <a:stretch>
              <a:fillRect/>
            </a:stretch>
          </a:blipFill>
        </p:spPr>
      </p:sp>
      <p:sp>
        <p:nvSpPr>
          <p:cNvPr id="34" name="Freeform 34"/>
          <p:cNvSpPr/>
          <p:nvPr/>
        </p:nvSpPr>
        <p:spPr>
          <a:xfrm rot="-5400000">
            <a:off x="9501573" y="8413669"/>
            <a:ext cx="1520526" cy="3086537"/>
          </a:xfrm>
          <a:custGeom>
            <a:avLst/>
            <a:gdLst/>
            <a:ahLst/>
            <a:cxnLst/>
            <a:rect l="l" t="t" r="r" b="b"/>
            <a:pathLst>
              <a:path w="1520526" h="3086537">
                <a:moveTo>
                  <a:pt x="0" y="0"/>
                </a:moveTo>
                <a:lnTo>
                  <a:pt x="1520525" y="0"/>
                </a:lnTo>
                <a:lnTo>
                  <a:pt x="1520525" y="3086537"/>
                </a:lnTo>
                <a:lnTo>
                  <a:pt x="0" y="3086537"/>
                </a:lnTo>
                <a:lnTo>
                  <a:pt x="0" y="0"/>
                </a:lnTo>
                <a:close/>
              </a:path>
            </a:pathLst>
          </a:custGeom>
          <a:blipFill>
            <a:blip r:embed="rId6"/>
            <a:stretch>
              <a:fillRect/>
            </a:stretch>
          </a:blipFill>
        </p:spPr>
      </p:sp>
      <p:sp>
        <p:nvSpPr>
          <p:cNvPr id="35" name="Freeform 35"/>
          <p:cNvSpPr/>
          <p:nvPr/>
        </p:nvSpPr>
        <p:spPr>
          <a:xfrm>
            <a:off x="10150928" y="7813705"/>
            <a:ext cx="1647551" cy="200702"/>
          </a:xfrm>
          <a:custGeom>
            <a:avLst/>
            <a:gdLst/>
            <a:ahLst/>
            <a:cxnLst/>
            <a:rect l="l" t="t" r="r" b="b"/>
            <a:pathLst>
              <a:path w="1647551" h="200702">
                <a:moveTo>
                  <a:pt x="0" y="0"/>
                </a:moveTo>
                <a:lnTo>
                  <a:pt x="1647551" y="0"/>
                </a:lnTo>
                <a:lnTo>
                  <a:pt x="1647551" y="200702"/>
                </a:lnTo>
                <a:lnTo>
                  <a:pt x="0" y="20070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36" name="Freeform 36"/>
          <p:cNvSpPr/>
          <p:nvPr/>
        </p:nvSpPr>
        <p:spPr>
          <a:xfrm>
            <a:off x="8718567" y="1229307"/>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a:extLst>
                <a:ext uri="{96DAC541-7B7A-43D3-8B79-37D633B846F1}">
                  <asvg:svgBlip xmlns:asvg="http://schemas.microsoft.com/office/drawing/2016/SVG/main" r:embed="rId8"/>
                </a:ext>
              </a:extLst>
            </a:blip>
            <a:stretch>
              <a:fillRect t="-106388" r="-103152"/>
            </a:stretch>
          </a:blipFill>
        </p:spPr>
      </p:sp>
      <p:grpSp>
        <p:nvGrpSpPr>
          <p:cNvPr id="37" name="Group 37"/>
          <p:cNvGrpSpPr/>
          <p:nvPr/>
        </p:nvGrpSpPr>
        <p:grpSpPr>
          <a:xfrm>
            <a:off x="1028700" y="8767760"/>
            <a:ext cx="4726694" cy="490540"/>
            <a:chOff x="0" y="0"/>
            <a:chExt cx="3915949" cy="406400"/>
          </a:xfrm>
        </p:grpSpPr>
        <p:sp>
          <p:nvSpPr>
            <p:cNvPr id="38" name="Freeform 38"/>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39" name="TextBox 39"/>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40" name="TextBox 40"/>
          <p:cNvSpPr txBox="1"/>
          <p:nvPr/>
        </p:nvSpPr>
        <p:spPr>
          <a:xfrm>
            <a:off x="1525025" y="8805373"/>
            <a:ext cx="3734045" cy="398145"/>
          </a:xfrm>
          <a:prstGeom prst="rect">
            <a:avLst/>
          </a:prstGeom>
        </p:spPr>
        <p:txBody>
          <a:bodyPr lIns="0" tIns="0" rIns="0" bIns="0" rtlCol="0" anchor="t">
            <a:spAutoFit/>
          </a:bodyPr>
          <a:lstStyle/>
          <a:p>
            <a:pPr marL="0" lvl="0" indent="0" algn="ctr">
              <a:lnSpc>
                <a:spcPts val="1679"/>
              </a:lnSpc>
              <a:spcBef>
                <a:spcPct val="0"/>
              </a:spcBef>
            </a:pPr>
            <a:r>
              <a:rPr lang="en-US" sz="1200">
                <a:solidFill>
                  <a:srgbClr val="FFFFFF"/>
                </a:solidFill>
                <a:latin typeface="TT Interphases"/>
                <a:ea typeface="TT Interphases"/>
                <a:cs typeface="TT Interphases"/>
                <a:sym typeface="TT Interphases"/>
              </a:rPr>
              <a:t>Matoshri College of Engineering &amp; Research Centre, Nashik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0509813">
            <a:off x="919220" y="-4120016"/>
            <a:ext cx="6543519" cy="6534198"/>
          </a:xfrm>
          <a:custGeom>
            <a:avLst/>
            <a:gdLst/>
            <a:ahLst/>
            <a:cxnLst/>
            <a:rect l="l" t="t" r="r" b="b"/>
            <a:pathLst>
              <a:path w="6543519" h="6534198">
                <a:moveTo>
                  <a:pt x="0" y="0"/>
                </a:moveTo>
                <a:lnTo>
                  <a:pt x="6543519" y="0"/>
                </a:lnTo>
                <a:lnTo>
                  <a:pt x="6543519" y="6534198"/>
                </a:lnTo>
                <a:lnTo>
                  <a:pt x="0" y="6534198"/>
                </a:lnTo>
                <a:lnTo>
                  <a:pt x="0" y="0"/>
                </a:lnTo>
                <a:close/>
              </a:path>
            </a:pathLst>
          </a:custGeom>
          <a:blipFill>
            <a:blip r:embed="rId2">
              <a:alphaModFix amt="50000"/>
            </a:blip>
            <a:stretch>
              <a:fillRect/>
            </a:stretch>
          </a:blipFill>
        </p:spPr>
      </p:sp>
      <p:sp>
        <p:nvSpPr>
          <p:cNvPr id="3" name="Freeform 3"/>
          <p:cNvSpPr/>
          <p:nvPr/>
        </p:nvSpPr>
        <p:spPr>
          <a:xfrm rot="-2454844">
            <a:off x="-4091209" y="4741899"/>
            <a:ext cx="36052691" cy="5407904"/>
          </a:xfrm>
          <a:custGeom>
            <a:avLst/>
            <a:gdLst/>
            <a:ahLst/>
            <a:cxnLst/>
            <a:rect l="l" t="t" r="r" b="b"/>
            <a:pathLst>
              <a:path w="36052691" h="5407904">
                <a:moveTo>
                  <a:pt x="0" y="0"/>
                </a:moveTo>
                <a:lnTo>
                  <a:pt x="36052691" y="0"/>
                </a:lnTo>
                <a:lnTo>
                  <a:pt x="36052691" y="5407903"/>
                </a:lnTo>
                <a:lnTo>
                  <a:pt x="0" y="5407903"/>
                </a:lnTo>
                <a:lnTo>
                  <a:pt x="0" y="0"/>
                </a:lnTo>
                <a:close/>
              </a:path>
            </a:pathLst>
          </a:custGeom>
          <a:blipFill>
            <a:blip r:embed="rId3">
              <a:alphaModFix amt="15000"/>
            </a:blip>
            <a:stretch>
              <a:fillRect/>
            </a:stretch>
          </a:blipFill>
        </p:spPr>
      </p:sp>
      <p:sp>
        <p:nvSpPr>
          <p:cNvPr id="4" name="Freeform 4"/>
          <p:cNvSpPr/>
          <p:nvPr/>
        </p:nvSpPr>
        <p:spPr>
          <a:xfrm flipH="1">
            <a:off x="17017745" y="5210303"/>
            <a:ext cx="1622664" cy="3293868"/>
          </a:xfrm>
          <a:custGeom>
            <a:avLst/>
            <a:gdLst/>
            <a:ahLst/>
            <a:cxnLst/>
            <a:rect l="l" t="t" r="r" b="b"/>
            <a:pathLst>
              <a:path w="1622664" h="3293868">
                <a:moveTo>
                  <a:pt x="1622664" y="0"/>
                </a:moveTo>
                <a:lnTo>
                  <a:pt x="0" y="0"/>
                </a:lnTo>
                <a:lnTo>
                  <a:pt x="0" y="3293869"/>
                </a:lnTo>
                <a:lnTo>
                  <a:pt x="1622664" y="3293869"/>
                </a:lnTo>
                <a:lnTo>
                  <a:pt x="1622664" y="0"/>
                </a:lnTo>
                <a:close/>
              </a:path>
            </a:pathLst>
          </a:custGeom>
          <a:blipFill>
            <a:blip r:embed="rId4"/>
            <a:stretch>
              <a:fillRect/>
            </a:stretch>
          </a:blipFill>
        </p:spPr>
      </p:sp>
      <p:sp>
        <p:nvSpPr>
          <p:cNvPr id="5" name="Freeform 5"/>
          <p:cNvSpPr/>
          <p:nvPr/>
        </p:nvSpPr>
        <p:spPr>
          <a:xfrm rot="5400000" flipH="1" flipV="1">
            <a:off x="1590020" y="8233202"/>
            <a:ext cx="1627419" cy="3303521"/>
          </a:xfrm>
          <a:custGeom>
            <a:avLst/>
            <a:gdLst/>
            <a:ahLst/>
            <a:cxnLst/>
            <a:rect l="l" t="t" r="r" b="b"/>
            <a:pathLst>
              <a:path w="1627419" h="3303521">
                <a:moveTo>
                  <a:pt x="1627419" y="3303521"/>
                </a:moveTo>
                <a:lnTo>
                  <a:pt x="0" y="3303521"/>
                </a:lnTo>
                <a:lnTo>
                  <a:pt x="0" y="0"/>
                </a:lnTo>
                <a:lnTo>
                  <a:pt x="1627419" y="0"/>
                </a:lnTo>
                <a:lnTo>
                  <a:pt x="1627419" y="3303521"/>
                </a:lnTo>
                <a:close/>
              </a:path>
            </a:pathLst>
          </a:custGeom>
          <a:blipFill>
            <a:blip r:embed="rId4"/>
            <a:stretch>
              <a:fillRect/>
            </a:stretch>
          </a:blipFill>
        </p:spPr>
      </p:sp>
      <p:grpSp>
        <p:nvGrpSpPr>
          <p:cNvPr id="9" name="Group 9"/>
          <p:cNvGrpSpPr/>
          <p:nvPr/>
        </p:nvGrpSpPr>
        <p:grpSpPr>
          <a:xfrm>
            <a:off x="6663951" y="6838270"/>
            <a:ext cx="5990609" cy="1556401"/>
            <a:chOff x="0" y="0"/>
            <a:chExt cx="1564239" cy="406400"/>
          </a:xfrm>
        </p:grpSpPr>
        <p:sp>
          <p:nvSpPr>
            <p:cNvPr id="10" name="Freeform 10"/>
            <p:cNvSpPr/>
            <p:nvPr/>
          </p:nvSpPr>
          <p:spPr>
            <a:xfrm>
              <a:off x="0" y="0"/>
              <a:ext cx="1564239" cy="406400"/>
            </a:xfrm>
            <a:custGeom>
              <a:avLst/>
              <a:gdLst/>
              <a:ahLst/>
              <a:cxnLst/>
              <a:rect l="l" t="t" r="r" b="b"/>
              <a:pathLst>
                <a:path w="1564239" h="406400">
                  <a:moveTo>
                    <a:pt x="1361039" y="0"/>
                  </a:moveTo>
                  <a:cubicBezTo>
                    <a:pt x="1473264" y="0"/>
                    <a:pt x="1564239" y="90976"/>
                    <a:pt x="1564239" y="203200"/>
                  </a:cubicBezTo>
                  <a:cubicBezTo>
                    <a:pt x="1564239" y="315424"/>
                    <a:pt x="1473264" y="406400"/>
                    <a:pt x="1361039"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1" name="TextBox 11"/>
            <p:cNvSpPr txBox="1"/>
            <p:nvPr/>
          </p:nvSpPr>
          <p:spPr>
            <a:xfrm>
              <a:off x="0" y="-57150"/>
              <a:ext cx="1564239" cy="463550"/>
            </a:xfrm>
            <a:prstGeom prst="rect">
              <a:avLst/>
            </a:prstGeom>
          </p:spPr>
          <p:txBody>
            <a:bodyPr lIns="50800" tIns="50800" rIns="50800" bIns="50800" rtlCol="0" anchor="ctr"/>
            <a:lstStyle/>
            <a:p>
              <a:pPr marL="0" lvl="0" indent="0" algn="ctr">
                <a:lnSpc>
                  <a:spcPts val="3359"/>
                </a:lnSpc>
              </a:pPr>
              <a:endParaRPr/>
            </a:p>
          </p:txBody>
        </p:sp>
      </p:grpSp>
      <p:sp>
        <p:nvSpPr>
          <p:cNvPr id="18" name="TextBox 18"/>
          <p:cNvSpPr txBox="1"/>
          <p:nvPr/>
        </p:nvSpPr>
        <p:spPr>
          <a:xfrm>
            <a:off x="11124535" y="511338"/>
            <a:ext cx="6179482" cy="810482"/>
          </a:xfrm>
          <a:prstGeom prst="rect">
            <a:avLst/>
          </a:prstGeom>
        </p:spPr>
        <p:txBody>
          <a:bodyPr lIns="0" tIns="0" rIns="0" bIns="0" rtlCol="0" anchor="t">
            <a:spAutoFit/>
          </a:bodyPr>
          <a:lstStyle/>
          <a:p>
            <a:pPr marL="0" lvl="0" indent="0" algn="r">
              <a:lnSpc>
                <a:spcPts val="6038"/>
              </a:lnSpc>
            </a:pPr>
            <a:r>
              <a:rPr lang="en-US" sz="6225" dirty="0">
                <a:solidFill>
                  <a:srgbClr val="FFFFFF"/>
                </a:solidFill>
                <a:latin typeface="TT Interphases"/>
                <a:ea typeface="TT Interphases"/>
                <a:cs typeface="TT Interphases"/>
                <a:sym typeface="TT Interphases"/>
              </a:rPr>
              <a:t>Problem</a:t>
            </a:r>
          </a:p>
        </p:txBody>
      </p:sp>
      <p:grpSp>
        <p:nvGrpSpPr>
          <p:cNvPr id="32" name="Group 31">
            <a:extLst>
              <a:ext uri="{FF2B5EF4-FFF2-40B4-BE49-F238E27FC236}">
                <a16:creationId xmlns:a16="http://schemas.microsoft.com/office/drawing/2014/main" id="{8376B395-13D8-A6BB-7727-7747E799A22C}"/>
              </a:ext>
            </a:extLst>
          </p:cNvPr>
          <p:cNvGrpSpPr/>
          <p:nvPr/>
        </p:nvGrpSpPr>
        <p:grpSpPr>
          <a:xfrm>
            <a:off x="2555072" y="6838271"/>
            <a:ext cx="13540962" cy="1556401"/>
            <a:chOff x="2403730" y="5926283"/>
            <a:chExt cx="13540962" cy="1556401"/>
          </a:xfrm>
        </p:grpSpPr>
        <p:grpSp>
          <p:nvGrpSpPr>
            <p:cNvPr id="6" name="Group 6"/>
            <p:cNvGrpSpPr/>
            <p:nvPr/>
          </p:nvGrpSpPr>
          <p:grpSpPr>
            <a:xfrm>
              <a:off x="9546698" y="5926283"/>
              <a:ext cx="6397994" cy="1556401"/>
              <a:chOff x="0" y="0"/>
              <a:chExt cx="1670614" cy="406400"/>
            </a:xfrm>
          </p:grpSpPr>
          <p:sp>
            <p:nvSpPr>
              <p:cNvPr id="7" name="Freeform 7"/>
              <p:cNvSpPr/>
              <p:nvPr/>
            </p:nvSpPr>
            <p:spPr>
              <a:xfrm>
                <a:off x="0" y="0"/>
                <a:ext cx="1670614" cy="406400"/>
              </a:xfrm>
              <a:custGeom>
                <a:avLst/>
                <a:gdLst/>
                <a:ahLst/>
                <a:cxnLst/>
                <a:rect l="l" t="t" r="r" b="b"/>
                <a:pathLst>
                  <a:path w="1670614" h="406400">
                    <a:moveTo>
                      <a:pt x="1467414" y="0"/>
                    </a:moveTo>
                    <a:cubicBezTo>
                      <a:pt x="1579638" y="0"/>
                      <a:pt x="1670614" y="90976"/>
                      <a:pt x="1670614" y="203200"/>
                    </a:cubicBezTo>
                    <a:cubicBezTo>
                      <a:pt x="1670614" y="315424"/>
                      <a:pt x="1579638" y="406400"/>
                      <a:pt x="1467414"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8" name="TextBox 8"/>
              <p:cNvSpPr txBox="1"/>
              <p:nvPr/>
            </p:nvSpPr>
            <p:spPr>
              <a:xfrm>
                <a:off x="0" y="-57150"/>
                <a:ext cx="1670614" cy="463550"/>
              </a:xfrm>
              <a:prstGeom prst="rect">
                <a:avLst/>
              </a:prstGeom>
            </p:spPr>
            <p:txBody>
              <a:bodyPr lIns="50800" tIns="50800" rIns="50800" bIns="50800" rtlCol="0" anchor="ctr"/>
              <a:lstStyle/>
              <a:p>
                <a:pPr marL="0" lvl="0" indent="0" algn="ctr">
                  <a:lnSpc>
                    <a:spcPts val="3359"/>
                  </a:lnSpc>
                </a:pPr>
                <a:endParaRPr/>
              </a:p>
            </p:txBody>
          </p:sp>
        </p:grpSp>
        <p:grpSp>
          <p:nvGrpSpPr>
            <p:cNvPr id="12" name="Group 12"/>
            <p:cNvGrpSpPr/>
            <p:nvPr/>
          </p:nvGrpSpPr>
          <p:grpSpPr>
            <a:xfrm>
              <a:off x="4295877" y="5926283"/>
              <a:ext cx="5041282" cy="1556401"/>
              <a:chOff x="0" y="0"/>
              <a:chExt cx="1316356" cy="406400"/>
            </a:xfrm>
          </p:grpSpPr>
          <p:sp>
            <p:nvSpPr>
              <p:cNvPr id="13" name="Freeform 13"/>
              <p:cNvSpPr/>
              <p:nvPr/>
            </p:nvSpPr>
            <p:spPr>
              <a:xfrm>
                <a:off x="0" y="0"/>
                <a:ext cx="1316356" cy="406400"/>
              </a:xfrm>
              <a:custGeom>
                <a:avLst/>
                <a:gdLst/>
                <a:ahLst/>
                <a:cxnLst/>
                <a:rect l="l" t="t" r="r" b="b"/>
                <a:pathLst>
                  <a:path w="1316356" h="406400">
                    <a:moveTo>
                      <a:pt x="1113156" y="0"/>
                    </a:moveTo>
                    <a:cubicBezTo>
                      <a:pt x="1225380" y="0"/>
                      <a:pt x="1316356" y="90976"/>
                      <a:pt x="1316356" y="203200"/>
                    </a:cubicBezTo>
                    <a:cubicBezTo>
                      <a:pt x="1316356" y="315424"/>
                      <a:pt x="1225380" y="406400"/>
                      <a:pt x="1113156"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4" name="TextBox 14"/>
              <p:cNvSpPr txBox="1"/>
              <p:nvPr/>
            </p:nvSpPr>
            <p:spPr>
              <a:xfrm>
                <a:off x="0" y="-57150"/>
                <a:ext cx="1316356" cy="463550"/>
              </a:xfrm>
              <a:prstGeom prst="rect">
                <a:avLst/>
              </a:prstGeom>
            </p:spPr>
            <p:txBody>
              <a:bodyPr lIns="50800" tIns="50800" rIns="50800" bIns="50800" rtlCol="0" anchor="ctr"/>
              <a:lstStyle/>
              <a:p>
                <a:pPr marL="0" lvl="0" indent="0" algn="ctr">
                  <a:lnSpc>
                    <a:spcPts val="3359"/>
                  </a:lnSpc>
                </a:pPr>
                <a:endParaRPr/>
              </a:p>
            </p:txBody>
          </p:sp>
        </p:grpSp>
        <p:grpSp>
          <p:nvGrpSpPr>
            <p:cNvPr id="15" name="Group 15"/>
            <p:cNvGrpSpPr/>
            <p:nvPr/>
          </p:nvGrpSpPr>
          <p:grpSpPr>
            <a:xfrm>
              <a:off x="2403730" y="5926283"/>
              <a:ext cx="3631495" cy="1556401"/>
              <a:chOff x="0" y="0"/>
              <a:chExt cx="948239" cy="406400"/>
            </a:xfrm>
          </p:grpSpPr>
          <p:sp>
            <p:nvSpPr>
              <p:cNvPr id="16" name="Freeform 16"/>
              <p:cNvSpPr/>
              <p:nvPr/>
            </p:nvSpPr>
            <p:spPr>
              <a:xfrm>
                <a:off x="0" y="0"/>
                <a:ext cx="948239" cy="406400"/>
              </a:xfrm>
              <a:custGeom>
                <a:avLst/>
                <a:gdLst/>
                <a:ahLst/>
                <a:cxnLst/>
                <a:rect l="l" t="t" r="r" b="b"/>
                <a:pathLst>
                  <a:path w="948239" h="406400">
                    <a:moveTo>
                      <a:pt x="745039" y="0"/>
                    </a:moveTo>
                    <a:cubicBezTo>
                      <a:pt x="857263" y="0"/>
                      <a:pt x="948239" y="90976"/>
                      <a:pt x="948239" y="203200"/>
                    </a:cubicBezTo>
                    <a:cubicBezTo>
                      <a:pt x="948239" y="315424"/>
                      <a:pt x="857263" y="406400"/>
                      <a:pt x="745039"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7" name="TextBox 17"/>
              <p:cNvSpPr txBox="1"/>
              <p:nvPr/>
            </p:nvSpPr>
            <p:spPr>
              <a:xfrm>
                <a:off x="0" y="-57150"/>
                <a:ext cx="948239" cy="463550"/>
              </a:xfrm>
              <a:prstGeom prst="rect">
                <a:avLst/>
              </a:prstGeom>
            </p:spPr>
            <p:txBody>
              <a:bodyPr lIns="50800" tIns="50800" rIns="50800" bIns="50800" rtlCol="0" anchor="ctr"/>
              <a:lstStyle/>
              <a:p>
                <a:pPr marL="0" lvl="0" indent="0" algn="ctr">
                  <a:lnSpc>
                    <a:spcPts val="3359"/>
                  </a:lnSpc>
                </a:pPr>
                <a:endParaRPr/>
              </a:p>
            </p:txBody>
          </p:sp>
        </p:grpSp>
        <p:sp>
          <p:nvSpPr>
            <p:cNvPr id="19" name="TextBox 19"/>
            <p:cNvSpPr txBox="1"/>
            <p:nvPr/>
          </p:nvSpPr>
          <p:spPr>
            <a:xfrm>
              <a:off x="2892087" y="6146718"/>
              <a:ext cx="2669103" cy="896662"/>
            </a:xfrm>
            <a:prstGeom prst="rect">
              <a:avLst/>
            </a:prstGeom>
          </p:spPr>
          <p:txBody>
            <a:bodyPr lIns="0" tIns="0" rIns="0" bIns="0" rtlCol="0" anchor="t">
              <a:spAutoFit/>
            </a:bodyPr>
            <a:lstStyle/>
            <a:p>
              <a:pPr marL="0" lvl="0" indent="0" algn="ctr">
                <a:lnSpc>
                  <a:spcPts val="3522"/>
                </a:lnSpc>
              </a:pPr>
              <a:r>
                <a:rPr lang="en-US" sz="3631" b="1" i="1" dirty="0">
                  <a:solidFill>
                    <a:srgbClr val="FFFFFF"/>
                  </a:solidFill>
                  <a:latin typeface="TT Interphases Bold Italics"/>
                  <a:ea typeface="TT Interphases Bold Italics"/>
                  <a:cs typeface="TT Interphases Bold Italics"/>
                  <a:sym typeface="TT Interphases Bold Italics"/>
                </a:rPr>
                <a:t>Upload &amp;</a:t>
              </a:r>
            </a:p>
            <a:p>
              <a:pPr marL="0" lvl="0" indent="0" algn="ctr">
                <a:lnSpc>
                  <a:spcPts val="3522"/>
                </a:lnSpc>
              </a:pPr>
              <a:r>
                <a:rPr lang="en-US" sz="3631" b="1" i="1" dirty="0">
                  <a:solidFill>
                    <a:srgbClr val="FFFFFF"/>
                  </a:solidFill>
                  <a:latin typeface="TT Interphases Bold Italics"/>
                  <a:ea typeface="TT Interphases Bold Italics"/>
                  <a:cs typeface="TT Interphases Bold Italics"/>
                  <a:sym typeface="TT Interphases Bold Italics"/>
                </a:rPr>
                <a:t>Detect Face</a:t>
              </a:r>
            </a:p>
          </p:txBody>
        </p:sp>
      </p:grpSp>
      <p:sp>
        <p:nvSpPr>
          <p:cNvPr id="20" name="TextBox 20"/>
          <p:cNvSpPr txBox="1"/>
          <p:nvPr/>
        </p:nvSpPr>
        <p:spPr>
          <a:xfrm>
            <a:off x="6370714" y="7087427"/>
            <a:ext cx="2669103" cy="896662"/>
          </a:xfrm>
          <a:prstGeom prst="rect">
            <a:avLst/>
          </a:prstGeom>
        </p:spPr>
        <p:txBody>
          <a:bodyPr lIns="0" tIns="0" rIns="0" bIns="0" rtlCol="0" anchor="t">
            <a:spAutoFit/>
          </a:bodyPr>
          <a:lstStyle/>
          <a:p>
            <a:pPr marL="0" lvl="0" indent="0" algn="ctr">
              <a:lnSpc>
                <a:spcPts val="3522"/>
              </a:lnSpc>
            </a:pPr>
            <a:r>
              <a:rPr lang="en-US" sz="3631" b="1" i="1" dirty="0">
                <a:solidFill>
                  <a:srgbClr val="FFFFFF"/>
                </a:solidFill>
                <a:latin typeface="TT Interphases Bold Italics"/>
                <a:ea typeface="TT Interphases Bold Italics"/>
                <a:cs typeface="TT Interphases Bold Italics"/>
                <a:sym typeface="TT Interphases Bold Italics"/>
              </a:rPr>
              <a:t>Analyze &amp;</a:t>
            </a:r>
          </a:p>
          <a:p>
            <a:pPr marL="0" lvl="0" indent="0" algn="ctr">
              <a:lnSpc>
                <a:spcPts val="3522"/>
              </a:lnSpc>
            </a:pPr>
            <a:r>
              <a:rPr lang="en-US" sz="3631" b="1" i="1" dirty="0">
                <a:solidFill>
                  <a:srgbClr val="FFFFFF"/>
                </a:solidFill>
                <a:latin typeface="TT Interphases Bold Italics"/>
                <a:ea typeface="TT Interphases Bold Italics"/>
                <a:cs typeface="TT Interphases Bold Italics"/>
                <a:sym typeface="TT Interphases Bold Italics"/>
              </a:rPr>
              <a:t>Predict</a:t>
            </a:r>
          </a:p>
        </p:txBody>
      </p:sp>
      <p:sp>
        <p:nvSpPr>
          <p:cNvPr id="21" name="TextBox 21"/>
          <p:cNvSpPr txBox="1"/>
          <p:nvPr/>
        </p:nvSpPr>
        <p:spPr>
          <a:xfrm>
            <a:off x="13360221" y="1321820"/>
            <a:ext cx="4008243" cy="769441"/>
          </a:xfrm>
          <a:prstGeom prst="rect">
            <a:avLst/>
          </a:prstGeom>
        </p:spPr>
        <p:txBody>
          <a:bodyPr lIns="0" tIns="0" rIns="0" bIns="0" rtlCol="0" anchor="t">
            <a:spAutoFit/>
          </a:bodyPr>
          <a:lstStyle/>
          <a:p>
            <a:pPr marL="0" lvl="0" indent="0" algn="r">
              <a:lnSpc>
                <a:spcPts val="6038"/>
              </a:lnSpc>
            </a:pPr>
            <a:r>
              <a:rPr lang="en-US" sz="6225" b="1" dirty="0">
                <a:solidFill>
                  <a:schemeClr val="accent1"/>
                </a:solidFill>
                <a:latin typeface="TT Interphases Bold"/>
                <a:ea typeface="TT Interphases Bold"/>
                <a:cs typeface="TT Interphases Bold"/>
                <a:sym typeface="TT Interphases Bold"/>
              </a:rPr>
              <a:t>Statement</a:t>
            </a:r>
          </a:p>
        </p:txBody>
      </p:sp>
      <p:sp>
        <p:nvSpPr>
          <p:cNvPr id="22" name="TextBox 22"/>
          <p:cNvSpPr txBox="1"/>
          <p:nvPr/>
        </p:nvSpPr>
        <p:spPr>
          <a:xfrm>
            <a:off x="717700" y="2819342"/>
            <a:ext cx="8455998" cy="3877985"/>
          </a:xfrm>
          <a:prstGeom prst="rect">
            <a:avLst/>
          </a:prstGeom>
        </p:spPr>
        <p:txBody>
          <a:bodyPr wrap="square" lIns="0" tIns="0" rIns="0" bIns="0" rtlCol="0" anchor="t">
            <a:spAutoFit/>
          </a:bodyPr>
          <a:lstStyle/>
          <a:p>
            <a:pPr marL="0" lvl="0" indent="0"/>
            <a:r>
              <a:rPr lang="en-US" sz="2800" dirty="0">
                <a:solidFill>
                  <a:srgbClr val="A94BC6"/>
                </a:solidFill>
                <a:latin typeface="TT Interphases Bold"/>
                <a:sym typeface="TT Interphases"/>
              </a:rPr>
              <a:t>Deepfake facial images are increasingly realistic and difficult to identify through conventional methods. Existing tools lack user-friendly interfaces, offer predictions without sufficient explanation, and provide limited visualization of manipulated regions. There is no integrated solution for detection history, report generation, user authentication, or administrative management.</a:t>
            </a:r>
          </a:p>
        </p:txBody>
      </p:sp>
      <p:sp>
        <p:nvSpPr>
          <p:cNvPr id="23" name="TextBox 23"/>
          <p:cNvSpPr txBox="1"/>
          <p:nvPr/>
        </p:nvSpPr>
        <p:spPr>
          <a:xfrm>
            <a:off x="9413323" y="2880230"/>
            <a:ext cx="7845977" cy="3447098"/>
          </a:xfrm>
          <a:prstGeom prst="rect">
            <a:avLst/>
          </a:prstGeom>
        </p:spPr>
        <p:txBody>
          <a:bodyPr wrap="square" lIns="0" tIns="0" rIns="0" bIns="0" rtlCol="0" anchor="t">
            <a:spAutoFit/>
          </a:bodyPr>
          <a:lstStyle>
            <a:defPPr>
              <a:defRPr lang="en-US"/>
            </a:defPPr>
            <a:lvl1pPr lvl="0" indent="0">
              <a:defRPr sz="2800">
                <a:solidFill>
                  <a:srgbClr val="A94BC6"/>
                </a:solidFill>
                <a:latin typeface="TT Interphases Bold"/>
              </a:defRPr>
            </a:lvl1pPr>
          </a:lstStyle>
          <a:p>
            <a:r>
              <a:rPr lang="en-US" dirty="0">
                <a:sym typeface="TT Interphases"/>
              </a:rPr>
              <a:t>Proposed Solution Workflow:</a:t>
            </a:r>
          </a:p>
          <a:p>
            <a:r>
              <a:rPr lang="en-US" dirty="0">
                <a:sym typeface="TT Interphases"/>
              </a:rPr>
              <a:t>Upload Image → Detect Face → Analyze Image → Predict Real/Fake → Generate Confidence Score → Explain Using Grad-CAM Heatmap → Store Result in Database → Generate Downloadable Report</a:t>
            </a:r>
          </a:p>
          <a:p>
            <a:r>
              <a:rPr lang="en-US" dirty="0">
                <a:sym typeface="TT Interphases"/>
              </a:rPr>
              <a:t>AI </a:t>
            </a:r>
            <a:r>
              <a:rPr lang="en-US" dirty="0" err="1">
                <a:sym typeface="TT Interphases"/>
              </a:rPr>
              <a:t>DeepGuard</a:t>
            </a:r>
            <a:r>
              <a:rPr lang="en-US" dirty="0">
                <a:sym typeface="TT Interphases"/>
              </a:rPr>
              <a:t> addresses all identified gaps in a single integrated web-based platform.</a:t>
            </a:r>
          </a:p>
        </p:txBody>
      </p:sp>
      <p:sp>
        <p:nvSpPr>
          <p:cNvPr id="24" name="TextBox 24"/>
          <p:cNvSpPr txBox="1"/>
          <p:nvPr/>
        </p:nvSpPr>
        <p:spPr>
          <a:xfrm>
            <a:off x="9855294" y="7142927"/>
            <a:ext cx="2669103" cy="896662"/>
          </a:xfrm>
          <a:prstGeom prst="rect">
            <a:avLst/>
          </a:prstGeom>
        </p:spPr>
        <p:txBody>
          <a:bodyPr lIns="0" tIns="0" rIns="0" bIns="0" rtlCol="0" anchor="t">
            <a:spAutoFit/>
          </a:bodyPr>
          <a:lstStyle/>
          <a:p>
            <a:pPr marL="0" lvl="0" indent="0" algn="ctr">
              <a:lnSpc>
                <a:spcPts val="3522"/>
              </a:lnSpc>
            </a:pPr>
            <a:r>
              <a:rPr lang="en-US" sz="3631" b="1" i="1" dirty="0">
                <a:solidFill>
                  <a:srgbClr val="FFFFFF"/>
                </a:solidFill>
                <a:latin typeface="TT Interphases Bold Italics"/>
                <a:ea typeface="TT Interphases Bold Italics"/>
                <a:cs typeface="TT Interphases Bold Italics"/>
                <a:sym typeface="TT Interphases Bold Italics"/>
              </a:rPr>
              <a:t>Confidence</a:t>
            </a:r>
          </a:p>
          <a:p>
            <a:pPr marL="0" lvl="0" indent="0" algn="ctr">
              <a:lnSpc>
                <a:spcPts val="3522"/>
              </a:lnSpc>
            </a:pPr>
            <a:r>
              <a:rPr lang="en-US" sz="3631" b="1" i="1" dirty="0">
                <a:solidFill>
                  <a:srgbClr val="FFFFFF"/>
                </a:solidFill>
                <a:latin typeface="TT Interphases Bold Italics"/>
                <a:ea typeface="TT Interphases Bold Italics"/>
                <a:cs typeface="TT Interphases Bold Italics"/>
                <a:sym typeface="TT Interphases Bold Italics"/>
              </a:rPr>
              <a:t>&amp; Heatmap</a:t>
            </a:r>
          </a:p>
        </p:txBody>
      </p:sp>
      <p:sp>
        <p:nvSpPr>
          <p:cNvPr id="25" name="TextBox 25"/>
          <p:cNvSpPr txBox="1"/>
          <p:nvPr/>
        </p:nvSpPr>
        <p:spPr>
          <a:xfrm>
            <a:off x="13209512" y="7168140"/>
            <a:ext cx="2009528" cy="896662"/>
          </a:xfrm>
          <a:prstGeom prst="rect">
            <a:avLst/>
          </a:prstGeom>
        </p:spPr>
        <p:txBody>
          <a:bodyPr lIns="0" tIns="0" rIns="0" bIns="0" rtlCol="0" anchor="t">
            <a:spAutoFit/>
          </a:bodyPr>
          <a:lstStyle/>
          <a:p>
            <a:pPr marL="0" lvl="0" indent="0" algn="ctr">
              <a:lnSpc>
                <a:spcPts val="3522"/>
              </a:lnSpc>
            </a:pPr>
            <a:r>
              <a:rPr lang="en-US" sz="3631" b="1" i="1" dirty="0">
                <a:solidFill>
                  <a:srgbClr val="FFFFFF"/>
                </a:solidFill>
                <a:latin typeface="TT Interphases Bold Italics"/>
                <a:ea typeface="TT Interphases Bold Italics"/>
                <a:cs typeface="TT Interphases Bold Italics"/>
                <a:sym typeface="TT Interphases Bold Italics"/>
              </a:rPr>
              <a:t>Store &amp;</a:t>
            </a:r>
          </a:p>
          <a:p>
            <a:pPr marL="0" lvl="0" indent="0" algn="ctr">
              <a:lnSpc>
                <a:spcPts val="3522"/>
              </a:lnSpc>
            </a:pPr>
            <a:r>
              <a:rPr lang="en-US" sz="3631" b="1" i="1" dirty="0">
                <a:solidFill>
                  <a:srgbClr val="FFFFFF"/>
                </a:solidFill>
                <a:latin typeface="TT Interphases Bold Italics"/>
                <a:ea typeface="TT Interphases Bold Italics"/>
                <a:cs typeface="TT Interphases Bold Italics"/>
                <a:sym typeface="TT Interphases Bold Italics"/>
              </a:rPr>
              <a:t>Report</a:t>
            </a:r>
          </a:p>
        </p:txBody>
      </p:sp>
      <p:grpSp>
        <p:nvGrpSpPr>
          <p:cNvPr id="26" name="Group 26"/>
          <p:cNvGrpSpPr/>
          <p:nvPr/>
        </p:nvGrpSpPr>
        <p:grpSpPr>
          <a:xfrm>
            <a:off x="6054259" y="8616989"/>
            <a:ext cx="6179482" cy="921028"/>
            <a:chOff x="0" y="0"/>
            <a:chExt cx="3915949" cy="406400"/>
          </a:xfrm>
        </p:grpSpPr>
        <p:sp>
          <p:nvSpPr>
            <p:cNvPr id="27" name="Freeform 27"/>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28" name="TextBox 28"/>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29" name="TextBox 29"/>
          <p:cNvSpPr txBox="1"/>
          <p:nvPr/>
        </p:nvSpPr>
        <p:spPr>
          <a:xfrm>
            <a:off x="6335737" y="8767425"/>
            <a:ext cx="5616526" cy="357525"/>
          </a:xfrm>
          <a:prstGeom prst="rect">
            <a:avLst/>
          </a:prstGeom>
        </p:spPr>
        <p:txBody>
          <a:bodyPr lIns="0" tIns="0" rIns="0" bIns="0" rtlCol="0" anchor="t">
            <a:spAutoFit/>
          </a:bodyPr>
          <a:lstStyle/>
          <a:p>
            <a:pPr marL="0" lvl="0" indent="0" algn="ctr">
              <a:lnSpc>
                <a:spcPts val="2985"/>
              </a:lnSpc>
              <a:spcBef>
                <a:spcPct val="0"/>
              </a:spcBef>
            </a:pPr>
            <a:r>
              <a:rPr lang="en-US" sz="2132" dirty="0">
                <a:solidFill>
                  <a:srgbClr val="FFFFFF"/>
                </a:solidFill>
                <a:latin typeface="TT Interphases"/>
                <a:ea typeface="TT Interphases"/>
                <a:cs typeface="TT Interphases"/>
                <a:sym typeface="TT Interphases"/>
              </a:rPr>
              <a:t>AI </a:t>
            </a:r>
            <a:r>
              <a:rPr lang="en-US" sz="2132" dirty="0" err="1">
                <a:solidFill>
                  <a:srgbClr val="FFFFFF"/>
                </a:solidFill>
                <a:latin typeface="TT Interphases"/>
                <a:ea typeface="TT Interphases"/>
                <a:cs typeface="TT Interphases"/>
                <a:sym typeface="TT Interphases"/>
              </a:rPr>
              <a:t>DeepGuard</a:t>
            </a:r>
            <a:r>
              <a:rPr lang="en-US" sz="2132" dirty="0">
                <a:solidFill>
                  <a:srgbClr val="FFFFFF"/>
                </a:solidFill>
                <a:latin typeface="TT Interphases"/>
                <a:ea typeface="TT Interphases"/>
                <a:cs typeface="TT Interphases"/>
                <a:sym typeface="TT Interphases"/>
              </a:rPr>
              <a:t> Detection — Problem Statement</a:t>
            </a:r>
          </a:p>
        </p:txBody>
      </p:sp>
      <p:sp>
        <p:nvSpPr>
          <p:cNvPr id="30" name="Freeform 30"/>
          <p:cNvSpPr/>
          <p:nvPr/>
        </p:nvSpPr>
        <p:spPr>
          <a:xfrm>
            <a:off x="7365349" y="1806816"/>
            <a:ext cx="1971810" cy="240202"/>
          </a:xfrm>
          <a:custGeom>
            <a:avLst/>
            <a:gdLst/>
            <a:ahLst/>
            <a:cxnLst/>
            <a:rect l="l" t="t" r="r" b="b"/>
            <a:pathLst>
              <a:path w="1971810" h="240202">
                <a:moveTo>
                  <a:pt x="0" y="0"/>
                </a:moveTo>
                <a:lnTo>
                  <a:pt x="1971810" y="0"/>
                </a:lnTo>
                <a:lnTo>
                  <a:pt x="1971810" y="240203"/>
                </a:lnTo>
                <a:lnTo>
                  <a:pt x="0" y="24020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1" name="Freeform 31"/>
          <p:cNvSpPr/>
          <p:nvPr/>
        </p:nvSpPr>
        <p:spPr>
          <a:xfrm>
            <a:off x="14841251" y="8597794"/>
            <a:ext cx="666145" cy="660506"/>
          </a:xfrm>
          <a:custGeom>
            <a:avLst/>
            <a:gdLst/>
            <a:ahLst/>
            <a:cxnLst/>
            <a:rect l="l" t="t" r="r" b="b"/>
            <a:pathLst>
              <a:path w="666145" h="660506">
                <a:moveTo>
                  <a:pt x="0" y="0"/>
                </a:moveTo>
                <a:lnTo>
                  <a:pt x="666144" y="0"/>
                </a:lnTo>
                <a:lnTo>
                  <a:pt x="666144" y="660506"/>
                </a:lnTo>
                <a:lnTo>
                  <a:pt x="0" y="660506"/>
                </a:lnTo>
                <a:lnTo>
                  <a:pt x="0" y="0"/>
                </a:lnTo>
                <a:close/>
              </a:path>
            </a:pathLst>
          </a:custGeom>
          <a:blipFill>
            <a:blip>
              <a:extLst>
                <a:ext uri="{96DAC541-7B7A-43D3-8B79-37D633B846F1}">
                  <asvg:svgBlip xmlns:asvg="http://schemas.microsoft.com/office/drawing/2016/SVG/main" r:embed="rId6"/>
                </a:ext>
              </a:extLst>
            </a:blip>
            <a:stretch>
              <a:fillRect t="-106388" r="-103152"/>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181100"/>
            <a:ext cx="3681189" cy="909176"/>
          </a:xfrm>
          <a:prstGeom prst="rect">
            <a:avLst/>
          </a:prstGeom>
        </p:spPr>
        <p:txBody>
          <a:bodyPr lIns="0" tIns="0" rIns="0" bIns="0" rtlCol="0" anchor="t">
            <a:spAutoFit/>
          </a:bodyPr>
          <a:lstStyle/>
          <a:p>
            <a:pPr marL="0" lvl="0" indent="0" algn="l">
              <a:lnSpc>
                <a:spcPts val="6785"/>
              </a:lnSpc>
            </a:pPr>
            <a:r>
              <a:rPr lang="en-US" sz="6995">
                <a:solidFill>
                  <a:srgbClr val="FFFFFF"/>
                </a:solidFill>
                <a:latin typeface="TT Interphases"/>
                <a:ea typeface="TT Interphases"/>
                <a:cs typeface="TT Interphases"/>
                <a:sym typeface="TT Interphases"/>
              </a:rPr>
              <a:t>Project</a:t>
            </a:r>
          </a:p>
        </p:txBody>
      </p:sp>
      <p:sp>
        <p:nvSpPr>
          <p:cNvPr id="3" name="Freeform 3"/>
          <p:cNvSpPr/>
          <p:nvPr/>
        </p:nvSpPr>
        <p:spPr>
          <a:xfrm rot="1344591">
            <a:off x="-8584714" y="4942437"/>
            <a:ext cx="30086303" cy="7032673"/>
          </a:xfrm>
          <a:custGeom>
            <a:avLst/>
            <a:gdLst/>
            <a:ahLst/>
            <a:cxnLst/>
            <a:rect l="l" t="t" r="r" b="b"/>
            <a:pathLst>
              <a:path w="30086303" h="7032673">
                <a:moveTo>
                  <a:pt x="0" y="0"/>
                </a:moveTo>
                <a:lnTo>
                  <a:pt x="30086303" y="0"/>
                </a:lnTo>
                <a:lnTo>
                  <a:pt x="30086303" y="7032674"/>
                </a:lnTo>
                <a:lnTo>
                  <a:pt x="0" y="7032674"/>
                </a:lnTo>
                <a:lnTo>
                  <a:pt x="0" y="0"/>
                </a:lnTo>
                <a:close/>
              </a:path>
            </a:pathLst>
          </a:custGeom>
          <a:blipFill>
            <a:blip r:embed="rId2">
              <a:alphaModFix amt="15000"/>
            </a:blip>
            <a:stretch>
              <a:fillRect/>
            </a:stretch>
          </a:blipFill>
        </p:spPr>
      </p:sp>
      <p:sp>
        <p:nvSpPr>
          <p:cNvPr id="4" name="TextBox 4"/>
          <p:cNvSpPr txBox="1"/>
          <p:nvPr/>
        </p:nvSpPr>
        <p:spPr>
          <a:xfrm>
            <a:off x="1028700" y="2088798"/>
            <a:ext cx="7217520" cy="909176"/>
          </a:xfrm>
          <a:prstGeom prst="rect">
            <a:avLst/>
          </a:prstGeom>
        </p:spPr>
        <p:txBody>
          <a:bodyPr lIns="0" tIns="0" rIns="0" bIns="0" rtlCol="0" anchor="t">
            <a:spAutoFit/>
          </a:bodyPr>
          <a:lstStyle/>
          <a:p>
            <a:pPr marL="0" lvl="0" indent="0" algn="l">
              <a:lnSpc>
                <a:spcPts val="6785"/>
              </a:lnSpc>
            </a:pPr>
            <a:r>
              <a:rPr lang="en-US" sz="6995" b="1" dirty="0">
                <a:solidFill>
                  <a:srgbClr val="A94BC6"/>
                </a:solidFill>
                <a:latin typeface="TT Interphases Bold"/>
                <a:ea typeface="TT Interphases Bold"/>
                <a:cs typeface="TT Interphases Bold"/>
                <a:sym typeface="TT Interphases Bold"/>
              </a:rPr>
              <a:t>Objectives</a:t>
            </a:r>
          </a:p>
        </p:txBody>
      </p:sp>
      <p:sp>
        <p:nvSpPr>
          <p:cNvPr id="5" name="Freeform 5"/>
          <p:cNvSpPr/>
          <p:nvPr/>
        </p:nvSpPr>
        <p:spPr>
          <a:xfrm>
            <a:off x="-431506" y="2115465"/>
            <a:ext cx="1248533" cy="2534416"/>
          </a:xfrm>
          <a:custGeom>
            <a:avLst/>
            <a:gdLst/>
            <a:ahLst/>
            <a:cxnLst/>
            <a:rect l="l" t="t" r="r" b="b"/>
            <a:pathLst>
              <a:path w="1248533" h="2534416">
                <a:moveTo>
                  <a:pt x="0" y="0"/>
                </a:moveTo>
                <a:lnTo>
                  <a:pt x="1248533" y="0"/>
                </a:lnTo>
                <a:lnTo>
                  <a:pt x="1248533" y="2534416"/>
                </a:lnTo>
                <a:lnTo>
                  <a:pt x="0" y="2534416"/>
                </a:lnTo>
                <a:lnTo>
                  <a:pt x="0" y="0"/>
                </a:lnTo>
                <a:close/>
              </a:path>
            </a:pathLst>
          </a:custGeom>
          <a:blipFill>
            <a:blip r:embed="rId3"/>
            <a:stretch>
              <a:fillRect/>
            </a:stretch>
          </a:blipFill>
        </p:spPr>
      </p:sp>
      <p:sp>
        <p:nvSpPr>
          <p:cNvPr id="6" name="Freeform 6"/>
          <p:cNvSpPr/>
          <p:nvPr/>
        </p:nvSpPr>
        <p:spPr>
          <a:xfrm rot="-5400000">
            <a:off x="9356748" y="8168662"/>
            <a:ext cx="1639686" cy="3328423"/>
          </a:xfrm>
          <a:custGeom>
            <a:avLst/>
            <a:gdLst/>
            <a:ahLst/>
            <a:cxnLst/>
            <a:rect l="l" t="t" r="r" b="b"/>
            <a:pathLst>
              <a:path w="1639686" h="3328423">
                <a:moveTo>
                  <a:pt x="0" y="0"/>
                </a:moveTo>
                <a:lnTo>
                  <a:pt x="1639686" y="0"/>
                </a:lnTo>
                <a:lnTo>
                  <a:pt x="1639686" y="3328423"/>
                </a:lnTo>
                <a:lnTo>
                  <a:pt x="0" y="3328423"/>
                </a:lnTo>
                <a:lnTo>
                  <a:pt x="0" y="0"/>
                </a:lnTo>
                <a:close/>
              </a:path>
            </a:pathLst>
          </a:custGeom>
          <a:blipFill>
            <a:blip r:embed="rId3"/>
            <a:stretch>
              <a:fillRect/>
            </a:stretch>
          </a:blipFill>
        </p:spPr>
      </p:sp>
      <p:sp>
        <p:nvSpPr>
          <p:cNvPr id="7" name="Freeform 7"/>
          <p:cNvSpPr/>
          <p:nvPr/>
        </p:nvSpPr>
        <p:spPr>
          <a:xfrm rot="3975364">
            <a:off x="7780910" y="-6454903"/>
            <a:ext cx="11751685" cy="9034108"/>
          </a:xfrm>
          <a:custGeom>
            <a:avLst/>
            <a:gdLst/>
            <a:ahLst/>
            <a:cxnLst/>
            <a:rect l="l" t="t" r="r" b="b"/>
            <a:pathLst>
              <a:path w="11751685" h="9034108">
                <a:moveTo>
                  <a:pt x="0" y="0"/>
                </a:moveTo>
                <a:lnTo>
                  <a:pt x="11751685" y="0"/>
                </a:lnTo>
                <a:lnTo>
                  <a:pt x="11751685" y="9034108"/>
                </a:lnTo>
                <a:lnTo>
                  <a:pt x="0" y="9034108"/>
                </a:lnTo>
                <a:lnTo>
                  <a:pt x="0" y="0"/>
                </a:lnTo>
                <a:close/>
              </a:path>
            </a:pathLst>
          </a:custGeom>
          <a:blipFill>
            <a:blip r:embed="rId4">
              <a:alphaModFix amt="50000"/>
            </a:blip>
            <a:stretch>
              <a:fillRect/>
            </a:stretch>
          </a:blipFill>
        </p:spPr>
      </p:sp>
      <p:sp>
        <p:nvSpPr>
          <p:cNvPr id="8" name="TextBox 8"/>
          <p:cNvSpPr txBox="1"/>
          <p:nvPr/>
        </p:nvSpPr>
        <p:spPr>
          <a:xfrm>
            <a:off x="347122" y="3010742"/>
            <a:ext cx="11002353" cy="6894195"/>
          </a:xfrm>
          <a:prstGeom prst="rect">
            <a:avLst/>
          </a:prstGeom>
        </p:spPr>
        <p:txBody>
          <a:bodyPr wrap="square" lIns="0" tIns="0" rIns="0" bIns="0" rtlCol="0" anchor="t">
            <a:spAutoFit/>
          </a:bodyPr>
          <a:lstStyle>
            <a:defPPr>
              <a:defRPr lang="en-US"/>
            </a:defPPr>
            <a:lvl1pPr lvl="0" indent="0">
              <a:lnSpc>
                <a:spcPts val="6785"/>
              </a:lnSpc>
              <a:defRPr sz="6995" b="1">
                <a:solidFill>
                  <a:srgbClr val="A94BC6"/>
                </a:solidFill>
                <a:latin typeface="TT Interphases Bold"/>
                <a:ea typeface="TT Interphases Bold"/>
                <a:cs typeface="TT Interphases Bold"/>
              </a:defRPr>
            </a:lvl1pPr>
          </a:lstStyle>
          <a:p>
            <a:pPr marL="971550" lvl="1" indent="-514350">
              <a:buFont typeface="+mj-lt"/>
              <a:buAutoNum type="arabicPeriod"/>
            </a:pPr>
            <a:r>
              <a:rPr lang="en-US" sz="3200" dirty="0">
                <a:solidFill>
                  <a:schemeClr val="accent1"/>
                </a:solidFill>
                <a:sym typeface="TT Interphases"/>
              </a:rPr>
              <a:t>AI-based deepfake image detection using deep learning models.</a:t>
            </a:r>
          </a:p>
          <a:p>
            <a:pPr marL="971550" lvl="1" indent="-514350">
              <a:buFont typeface="+mj-lt"/>
              <a:buAutoNum type="arabicPeriod"/>
            </a:pPr>
            <a:r>
              <a:rPr lang="en-US" sz="3200" dirty="0">
                <a:solidFill>
                  <a:schemeClr val="accent1"/>
                </a:solidFill>
                <a:sym typeface="TT Interphases"/>
              </a:rPr>
              <a:t>Detect and extract facial regions from uploaded images.</a:t>
            </a:r>
          </a:p>
          <a:p>
            <a:pPr marL="971550" lvl="1" indent="-514350">
              <a:buFont typeface="+mj-lt"/>
              <a:buAutoNum type="arabicPeriod"/>
            </a:pPr>
            <a:r>
              <a:rPr lang="en-US" sz="3200" dirty="0">
                <a:solidFill>
                  <a:schemeClr val="accent1"/>
                </a:solidFill>
                <a:sym typeface="TT Interphases"/>
              </a:rPr>
              <a:t>Perform Real / Fake classification of facial images.</a:t>
            </a:r>
          </a:p>
          <a:p>
            <a:pPr marL="971550" lvl="1" indent="-514350">
              <a:buFont typeface="+mj-lt"/>
              <a:buAutoNum type="arabicPeriod"/>
            </a:pPr>
            <a:r>
              <a:rPr lang="en-US" sz="3200" dirty="0">
                <a:solidFill>
                  <a:schemeClr val="accent1"/>
                </a:solidFill>
                <a:sym typeface="TT Interphases"/>
              </a:rPr>
              <a:t>Generate a confidence score for each prediction result.</a:t>
            </a:r>
          </a:p>
          <a:p>
            <a:pPr marL="971550" lvl="1" indent="-514350">
              <a:buFont typeface="+mj-lt"/>
              <a:buAutoNum type="arabicPeriod"/>
            </a:pPr>
            <a:r>
              <a:rPr lang="en-US" sz="3200" dirty="0">
                <a:solidFill>
                  <a:schemeClr val="accent1"/>
                </a:solidFill>
                <a:sym typeface="TT Interphases"/>
              </a:rPr>
              <a:t>Provide detailed deepfake analysis of manipulated regions.</a:t>
            </a:r>
          </a:p>
          <a:p>
            <a:pPr marL="971550" lvl="1" indent="-514350">
              <a:buFont typeface="+mj-lt"/>
              <a:buAutoNum type="arabicPeriod"/>
            </a:pPr>
            <a:r>
              <a:rPr lang="en-US" sz="3200" dirty="0">
                <a:solidFill>
                  <a:schemeClr val="accent1"/>
                </a:solidFill>
                <a:sym typeface="TT Interphases"/>
              </a:rPr>
              <a:t>Implement Grad-CAM / Heatmap for visual explainability.</a:t>
            </a:r>
          </a:p>
          <a:p>
            <a:pPr marL="971550" lvl="1" indent="-514350">
              <a:buFont typeface="+mj-lt"/>
              <a:buAutoNum type="arabicPeriod"/>
            </a:pPr>
            <a:r>
              <a:rPr lang="en-US" sz="3200" dirty="0">
                <a:solidFill>
                  <a:schemeClr val="accent1"/>
                </a:solidFill>
                <a:sym typeface="TT Interphases"/>
              </a:rPr>
              <a:t>Build an interactive result dashboard for users.</a:t>
            </a:r>
          </a:p>
          <a:p>
            <a:pPr marL="971550" lvl="1" indent="-514350">
              <a:buFont typeface="+mj-lt"/>
              <a:buAutoNum type="arabicPeriod"/>
            </a:pPr>
            <a:r>
              <a:rPr lang="en-US" sz="3200" dirty="0">
                <a:solidFill>
                  <a:schemeClr val="accent1"/>
                </a:solidFill>
                <a:sym typeface="TT Interphases"/>
              </a:rPr>
              <a:t>Maintain detection history for all user sessions.</a:t>
            </a:r>
          </a:p>
          <a:p>
            <a:pPr marL="971550" lvl="1" indent="-514350">
              <a:buFont typeface="+mj-lt"/>
              <a:buAutoNum type="arabicPeriod"/>
            </a:pPr>
            <a:r>
              <a:rPr lang="en-US" sz="3200" dirty="0">
                <a:solidFill>
                  <a:schemeClr val="accent1"/>
                </a:solidFill>
                <a:sym typeface="TT Interphases"/>
              </a:rPr>
              <a:t>Enable downloadable report generation from results.</a:t>
            </a:r>
          </a:p>
        </p:txBody>
      </p:sp>
      <p:grpSp>
        <p:nvGrpSpPr>
          <p:cNvPr id="31" name="Group 30">
            <a:extLst>
              <a:ext uri="{FF2B5EF4-FFF2-40B4-BE49-F238E27FC236}">
                <a16:creationId xmlns:a16="http://schemas.microsoft.com/office/drawing/2014/main" id="{DB4FBE2C-85BB-0CB4-EE93-5EDA41276A65}"/>
              </a:ext>
            </a:extLst>
          </p:cNvPr>
          <p:cNvGrpSpPr/>
          <p:nvPr/>
        </p:nvGrpSpPr>
        <p:grpSpPr>
          <a:xfrm>
            <a:off x="11970407" y="9531036"/>
            <a:ext cx="4726694" cy="490540"/>
            <a:chOff x="1028700" y="8767760"/>
            <a:chExt cx="4726694" cy="490540"/>
          </a:xfrm>
        </p:grpSpPr>
        <p:grpSp>
          <p:nvGrpSpPr>
            <p:cNvPr id="9" name="Group 9"/>
            <p:cNvGrpSpPr/>
            <p:nvPr/>
          </p:nvGrpSpPr>
          <p:grpSpPr>
            <a:xfrm>
              <a:off x="1028700" y="8767760"/>
              <a:ext cx="4726694" cy="490540"/>
              <a:chOff x="0" y="0"/>
              <a:chExt cx="3915949" cy="406400"/>
            </a:xfrm>
          </p:grpSpPr>
          <p:sp>
            <p:nvSpPr>
              <p:cNvPr id="10" name="Freeform 10"/>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11" name="TextBox 11"/>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12" name="TextBox 12"/>
            <p:cNvSpPr txBox="1"/>
            <p:nvPr/>
          </p:nvSpPr>
          <p:spPr>
            <a:xfrm>
              <a:off x="1525025" y="8805373"/>
              <a:ext cx="3734045" cy="398145"/>
            </a:xfrm>
            <a:prstGeom prst="rect">
              <a:avLst/>
            </a:prstGeom>
          </p:spPr>
          <p:txBody>
            <a:bodyPr lIns="0" tIns="0" rIns="0" bIns="0" rtlCol="0" anchor="t">
              <a:spAutoFit/>
            </a:bodyPr>
            <a:lstStyle/>
            <a:p>
              <a:pPr marL="0" lvl="0" indent="0" algn="ctr">
                <a:lnSpc>
                  <a:spcPts val="1679"/>
                </a:lnSpc>
                <a:spcBef>
                  <a:spcPct val="0"/>
                </a:spcBef>
              </a:pPr>
              <a:r>
                <a:rPr lang="en-US" sz="1200">
                  <a:solidFill>
                    <a:srgbClr val="FFFFFF"/>
                  </a:solidFill>
                  <a:latin typeface="TT Interphases"/>
                  <a:ea typeface="TT Interphases"/>
                  <a:cs typeface="TT Interphases"/>
                  <a:sym typeface="TT Interphases"/>
                </a:rPr>
                <a:t>AI DeepGuard Detection — Matoshri College of Engineering, Nashik</a:t>
              </a:r>
            </a:p>
          </p:txBody>
        </p:sp>
      </p:grpSp>
      <p:grpSp>
        <p:nvGrpSpPr>
          <p:cNvPr id="13" name="Group 13"/>
          <p:cNvGrpSpPr/>
          <p:nvPr/>
        </p:nvGrpSpPr>
        <p:grpSpPr>
          <a:xfrm>
            <a:off x="11840802" y="3611547"/>
            <a:ext cx="5405162" cy="993858"/>
            <a:chOff x="0" y="0"/>
            <a:chExt cx="2210233" cy="406400"/>
          </a:xfrm>
        </p:grpSpPr>
        <p:sp>
          <p:nvSpPr>
            <p:cNvPr id="14" name="Freeform 14"/>
            <p:cNvSpPr/>
            <p:nvPr/>
          </p:nvSpPr>
          <p:spPr>
            <a:xfrm>
              <a:off x="0" y="0"/>
              <a:ext cx="2210233" cy="406400"/>
            </a:xfrm>
            <a:custGeom>
              <a:avLst/>
              <a:gdLst/>
              <a:ahLst/>
              <a:cxnLst/>
              <a:rect l="l" t="t" r="r" b="b"/>
              <a:pathLst>
                <a:path w="2210233" h="406400">
                  <a:moveTo>
                    <a:pt x="2007033" y="0"/>
                  </a:moveTo>
                  <a:cubicBezTo>
                    <a:pt x="2119257" y="0"/>
                    <a:pt x="2210233" y="90976"/>
                    <a:pt x="2210233" y="203200"/>
                  </a:cubicBezTo>
                  <a:cubicBezTo>
                    <a:pt x="2210233" y="315424"/>
                    <a:pt x="2119257" y="406400"/>
                    <a:pt x="2007033"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5" name="TextBox 15"/>
            <p:cNvSpPr txBox="1"/>
            <p:nvPr/>
          </p:nvSpPr>
          <p:spPr>
            <a:xfrm>
              <a:off x="0" y="-57150"/>
              <a:ext cx="2210233" cy="463550"/>
            </a:xfrm>
            <a:prstGeom prst="rect">
              <a:avLst/>
            </a:prstGeom>
          </p:spPr>
          <p:txBody>
            <a:bodyPr lIns="50800" tIns="50800" rIns="50800" bIns="50800" rtlCol="0" anchor="ctr"/>
            <a:lstStyle/>
            <a:p>
              <a:pPr marL="0" lvl="0" indent="0" algn="ctr">
                <a:lnSpc>
                  <a:spcPts val="3359"/>
                </a:lnSpc>
              </a:pPr>
              <a:endParaRPr sz="3200">
                <a:solidFill>
                  <a:schemeClr val="accent1"/>
                </a:solidFill>
              </a:endParaRPr>
            </a:p>
          </p:txBody>
        </p:sp>
      </p:grpSp>
      <p:sp>
        <p:nvSpPr>
          <p:cNvPr id="16" name="TextBox 16"/>
          <p:cNvSpPr txBox="1"/>
          <p:nvPr/>
        </p:nvSpPr>
        <p:spPr>
          <a:xfrm>
            <a:off x="12389665" y="3951406"/>
            <a:ext cx="4307436" cy="348557"/>
          </a:xfrm>
          <a:prstGeom prst="rect">
            <a:avLst/>
          </a:prstGeom>
        </p:spPr>
        <p:txBody>
          <a:bodyPr lIns="0" tIns="0" rIns="0" bIns="0" rtlCol="0" anchor="t">
            <a:spAutoFit/>
          </a:bodyPr>
          <a:lstStyle/>
          <a:p>
            <a:pPr marL="0" lvl="0" indent="0" algn="ctr">
              <a:lnSpc>
                <a:spcPts val="2572"/>
              </a:lnSpc>
              <a:spcBef>
                <a:spcPct val="0"/>
              </a:spcBef>
            </a:pPr>
            <a:r>
              <a:rPr lang="en-US" sz="3200" dirty="0">
                <a:solidFill>
                  <a:schemeClr val="accent1"/>
                </a:solidFill>
                <a:latin typeface="TT Interphases"/>
                <a:ea typeface="TT Interphases"/>
                <a:cs typeface="TT Interphases"/>
                <a:sym typeface="TT Interphases"/>
              </a:rPr>
              <a:t>Web Interface</a:t>
            </a:r>
          </a:p>
        </p:txBody>
      </p:sp>
      <p:grpSp>
        <p:nvGrpSpPr>
          <p:cNvPr id="17" name="Group 17"/>
          <p:cNvGrpSpPr/>
          <p:nvPr/>
        </p:nvGrpSpPr>
        <p:grpSpPr>
          <a:xfrm>
            <a:off x="11840802" y="4779698"/>
            <a:ext cx="5405162" cy="993858"/>
            <a:chOff x="0" y="0"/>
            <a:chExt cx="2210233" cy="406400"/>
          </a:xfrm>
        </p:grpSpPr>
        <p:sp>
          <p:nvSpPr>
            <p:cNvPr id="18" name="Freeform 18"/>
            <p:cNvSpPr/>
            <p:nvPr/>
          </p:nvSpPr>
          <p:spPr>
            <a:xfrm>
              <a:off x="0" y="0"/>
              <a:ext cx="2210233" cy="406400"/>
            </a:xfrm>
            <a:custGeom>
              <a:avLst/>
              <a:gdLst/>
              <a:ahLst/>
              <a:cxnLst/>
              <a:rect l="l" t="t" r="r" b="b"/>
              <a:pathLst>
                <a:path w="2210233" h="406400">
                  <a:moveTo>
                    <a:pt x="2007033" y="0"/>
                  </a:moveTo>
                  <a:cubicBezTo>
                    <a:pt x="2119257" y="0"/>
                    <a:pt x="2210233" y="90976"/>
                    <a:pt x="2210233" y="203200"/>
                  </a:cubicBezTo>
                  <a:cubicBezTo>
                    <a:pt x="2210233" y="315424"/>
                    <a:pt x="2119257" y="406400"/>
                    <a:pt x="2007033"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9" name="TextBox 19"/>
            <p:cNvSpPr txBox="1"/>
            <p:nvPr/>
          </p:nvSpPr>
          <p:spPr>
            <a:xfrm>
              <a:off x="0" y="-57150"/>
              <a:ext cx="2210233" cy="463550"/>
            </a:xfrm>
            <a:prstGeom prst="rect">
              <a:avLst/>
            </a:prstGeom>
          </p:spPr>
          <p:txBody>
            <a:bodyPr lIns="50800" tIns="50800" rIns="50800" bIns="50800" rtlCol="0" anchor="ctr"/>
            <a:lstStyle/>
            <a:p>
              <a:pPr marL="0" lvl="0" indent="0" algn="ctr">
                <a:lnSpc>
                  <a:spcPts val="3359"/>
                </a:lnSpc>
              </a:pPr>
              <a:endParaRPr sz="3200">
                <a:solidFill>
                  <a:schemeClr val="accent1"/>
                </a:solidFill>
              </a:endParaRPr>
            </a:p>
          </p:txBody>
        </p:sp>
      </p:grpSp>
      <p:sp>
        <p:nvSpPr>
          <p:cNvPr id="20" name="TextBox 20"/>
          <p:cNvSpPr txBox="1"/>
          <p:nvPr/>
        </p:nvSpPr>
        <p:spPr>
          <a:xfrm>
            <a:off x="12389665" y="5109745"/>
            <a:ext cx="4307436" cy="348557"/>
          </a:xfrm>
          <a:prstGeom prst="rect">
            <a:avLst/>
          </a:prstGeom>
        </p:spPr>
        <p:txBody>
          <a:bodyPr lIns="0" tIns="0" rIns="0" bIns="0" rtlCol="0" anchor="t">
            <a:spAutoFit/>
          </a:bodyPr>
          <a:lstStyle/>
          <a:p>
            <a:pPr marL="0" lvl="0" indent="0" algn="ctr">
              <a:lnSpc>
                <a:spcPts val="2572"/>
              </a:lnSpc>
              <a:spcBef>
                <a:spcPct val="0"/>
              </a:spcBef>
            </a:pPr>
            <a:r>
              <a:rPr lang="en-US" sz="3200" dirty="0">
                <a:solidFill>
                  <a:schemeClr val="accent1"/>
                </a:solidFill>
                <a:latin typeface="TT Interphases"/>
                <a:ea typeface="TT Interphases"/>
                <a:cs typeface="TT Interphases"/>
                <a:sym typeface="TT Interphases"/>
              </a:rPr>
              <a:t>Secure Login</a:t>
            </a:r>
          </a:p>
        </p:txBody>
      </p:sp>
      <p:grpSp>
        <p:nvGrpSpPr>
          <p:cNvPr id="21" name="Group 21"/>
          <p:cNvGrpSpPr/>
          <p:nvPr/>
        </p:nvGrpSpPr>
        <p:grpSpPr>
          <a:xfrm>
            <a:off x="11840802" y="5953205"/>
            <a:ext cx="5405162" cy="993858"/>
            <a:chOff x="0" y="0"/>
            <a:chExt cx="2210233" cy="406400"/>
          </a:xfrm>
        </p:grpSpPr>
        <p:sp>
          <p:nvSpPr>
            <p:cNvPr id="22" name="Freeform 22"/>
            <p:cNvSpPr/>
            <p:nvPr/>
          </p:nvSpPr>
          <p:spPr>
            <a:xfrm>
              <a:off x="0" y="0"/>
              <a:ext cx="2210233" cy="406400"/>
            </a:xfrm>
            <a:custGeom>
              <a:avLst/>
              <a:gdLst/>
              <a:ahLst/>
              <a:cxnLst/>
              <a:rect l="l" t="t" r="r" b="b"/>
              <a:pathLst>
                <a:path w="2210233" h="406400">
                  <a:moveTo>
                    <a:pt x="2007033" y="0"/>
                  </a:moveTo>
                  <a:cubicBezTo>
                    <a:pt x="2119257" y="0"/>
                    <a:pt x="2210233" y="90976"/>
                    <a:pt x="2210233" y="203200"/>
                  </a:cubicBezTo>
                  <a:cubicBezTo>
                    <a:pt x="2210233" y="315424"/>
                    <a:pt x="2119257" y="406400"/>
                    <a:pt x="2007033"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3" name="TextBox 23"/>
            <p:cNvSpPr txBox="1"/>
            <p:nvPr/>
          </p:nvSpPr>
          <p:spPr>
            <a:xfrm>
              <a:off x="0" y="-57150"/>
              <a:ext cx="2210233" cy="463550"/>
            </a:xfrm>
            <a:prstGeom prst="rect">
              <a:avLst/>
            </a:prstGeom>
          </p:spPr>
          <p:txBody>
            <a:bodyPr lIns="50800" tIns="50800" rIns="50800" bIns="50800" rtlCol="0" anchor="ctr"/>
            <a:lstStyle/>
            <a:p>
              <a:pPr marL="0" lvl="0" indent="0" algn="ctr">
                <a:lnSpc>
                  <a:spcPts val="3359"/>
                </a:lnSpc>
              </a:pPr>
              <a:endParaRPr sz="3200">
                <a:solidFill>
                  <a:schemeClr val="accent1"/>
                </a:solidFill>
              </a:endParaRPr>
            </a:p>
          </p:txBody>
        </p:sp>
      </p:grpSp>
      <p:sp>
        <p:nvSpPr>
          <p:cNvPr id="24" name="TextBox 24"/>
          <p:cNvSpPr txBox="1"/>
          <p:nvPr/>
        </p:nvSpPr>
        <p:spPr>
          <a:xfrm>
            <a:off x="12389665" y="6267515"/>
            <a:ext cx="4307436" cy="348557"/>
          </a:xfrm>
          <a:prstGeom prst="rect">
            <a:avLst/>
          </a:prstGeom>
        </p:spPr>
        <p:txBody>
          <a:bodyPr lIns="0" tIns="0" rIns="0" bIns="0" rtlCol="0" anchor="t">
            <a:spAutoFit/>
          </a:bodyPr>
          <a:lstStyle/>
          <a:p>
            <a:pPr marL="0" lvl="0" indent="0" algn="ctr">
              <a:lnSpc>
                <a:spcPts val="2572"/>
              </a:lnSpc>
              <a:spcBef>
                <a:spcPct val="0"/>
              </a:spcBef>
            </a:pPr>
            <a:r>
              <a:rPr lang="en-US" sz="3200" dirty="0">
                <a:solidFill>
                  <a:schemeClr val="accent1"/>
                </a:solidFill>
                <a:latin typeface="TT Interphases"/>
                <a:ea typeface="TT Interphases"/>
                <a:cs typeface="TT Interphases"/>
                <a:sym typeface="TT Interphases"/>
              </a:rPr>
              <a:t>Database Storage</a:t>
            </a:r>
          </a:p>
        </p:txBody>
      </p:sp>
      <p:grpSp>
        <p:nvGrpSpPr>
          <p:cNvPr id="25" name="Group 25"/>
          <p:cNvGrpSpPr/>
          <p:nvPr/>
        </p:nvGrpSpPr>
        <p:grpSpPr>
          <a:xfrm>
            <a:off x="11840802" y="7160027"/>
            <a:ext cx="5405162" cy="993858"/>
            <a:chOff x="0" y="0"/>
            <a:chExt cx="2210233" cy="406400"/>
          </a:xfrm>
        </p:grpSpPr>
        <p:sp>
          <p:nvSpPr>
            <p:cNvPr id="26" name="Freeform 26"/>
            <p:cNvSpPr/>
            <p:nvPr/>
          </p:nvSpPr>
          <p:spPr>
            <a:xfrm>
              <a:off x="0" y="0"/>
              <a:ext cx="2210233" cy="406400"/>
            </a:xfrm>
            <a:custGeom>
              <a:avLst/>
              <a:gdLst/>
              <a:ahLst/>
              <a:cxnLst/>
              <a:rect l="l" t="t" r="r" b="b"/>
              <a:pathLst>
                <a:path w="2210233" h="406400">
                  <a:moveTo>
                    <a:pt x="2007033" y="0"/>
                  </a:moveTo>
                  <a:cubicBezTo>
                    <a:pt x="2119257" y="0"/>
                    <a:pt x="2210233" y="90976"/>
                    <a:pt x="2210233" y="203200"/>
                  </a:cubicBezTo>
                  <a:cubicBezTo>
                    <a:pt x="2210233" y="315424"/>
                    <a:pt x="2119257" y="406400"/>
                    <a:pt x="2007033"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7" name="TextBox 27"/>
            <p:cNvSpPr txBox="1"/>
            <p:nvPr/>
          </p:nvSpPr>
          <p:spPr>
            <a:xfrm>
              <a:off x="0" y="-57150"/>
              <a:ext cx="2210233" cy="463550"/>
            </a:xfrm>
            <a:prstGeom prst="rect">
              <a:avLst/>
            </a:prstGeom>
          </p:spPr>
          <p:txBody>
            <a:bodyPr lIns="50800" tIns="50800" rIns="50800" bIns="50800" rtlCol="0" anchor="ctr"/>
            <a:lstStyle/>
            <a:p>
              <a:pPr marL="0" lvl="0" indent="0" algn="ctr">
                <a:lnSpc>
                  <a:spcPts val="3359"/>
                </a:lnSpc>
              </a:pPr>
              <a:endParaRPr sz="3200">
                <a:solidFill>
                  <a:schemeClr val="accent1"/>
                </a:solidFill>
              </a:endParaRPr>
            </a:p>
          </p:txBody>
        </p:sp>
      </p:grpSp>
      <p:sp>
        <p:nvSpPr>
          <p:cNvPr id="28" name="TextBox 28"/>
          <p:cNvSpPr txBox="1"/>
          <p:nvPr/>
        </p:nvSpPr>
        <p:spPr>
          <a:xfrm>
            <a:off x="12466732" y="7473332"/>
            <a:ext cx="4307436" cy="348557"/>
          </a:xfrm>
          <a:prstGeom prst="rect">
            <a:avLst/>
          </a:prstGeom>
        </p:spPr>
        <p:txBody>
          <a:bodyPr lIns="0" tIns="0" rIns="0" bIns="0" rtlCol="0" anchor="t">
            <a:spAutoFit/>
          </a:bodyPr>
          <a:lstStyle/>
          <a:p>
            <a:pPr marL="0" lvl="0" indent="0" algn="ctr">
              <a:lnSpc>
                <a:spcPts val="2572"/>
              </a:lnSpc>
              <a:spcBef>
                <a:spcPct val="0"/>
              </a:spcBef>
            </a:pPr>
            <a:r>
              <a:rPr lang="en-US" sz="3200" dirty="0">
                <a:solidFill>
                  <a:schemeClr val="accent1"/>
                </a:solidFill>
                <a:latin typeface="TT Interphases"/>
                <a:ea typeface="TT Interphases"/>
                <a:cs typeface="TT Interphases"/>
                <a:sym typeface="TT Interphases"/>
              </a:rPr>
              <a:t>Admin Dashboard</a:t>
            </a:r>
          </a:p>
        </p:txBody>
      </p:sp>
      <p:sp>
        <p:nvSpPr>
          <p:cNvPr id="29" name="Freeform 29"/>
          <p:cNvSpPr/>
          <p:nvPr/>
        </p:nvSpPr>
        <p:spPr>
          <a:xfrm>
            <a:off x="10077744" y="2115465"/>
            <a:ext cx="1971810" cy="240202"/>
          </a:xfrm>
          <a:custGeom>
            <a:avLst/>
            <a:gdLst/>
            <a:ahLst/>
            <a:cxnLst/>
            <a:rect l="l" t="t" r="r" b="b"/>
            <a:pathLst>
              <a:path w="1971810" h="240202">
                <a:moveTo>
                  <a:pt x="0" y="0"/>
                </a:moveTo>
                <a:lnTo>
                  <a:pt x="1971810" y="0"/>
                </a:lnTo>
                <a:lnTo>
                  <a:pt x="1971810" y="240202"/>
                </a:lnTo>
                <a:lnTo>
                  <a:pt x="0" y="24020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0" name="Freeform 30"/>
          <p:cNvSpPr/>
          <p:nvPr/>
        </p:nvSpPr>
        <p:spPr>
          <a:xfrm>
            <a:off x="16672539" y="9002223"/>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a:extLst>
                <a:ext uri="{96DAC541-7B7A-43D3-8B79-37D633B846F1}">
                  <asvg:svgBlip xmlns:asvg="http://schemas.microsoft.com/office/drawing/2016/SVG/main" r:embed="rId6"/>
                </a:ext>
              </a:extLst>
            </a:blip>
            <a:stretch>
              <a:fillRect t="-106388" r="-103152"/>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344591">
            <a:off x="-15624528" y="5096664"/>
            <a:ext cx="45665419" cy="7763121"/>
          </a:xfrm>
          <a:custGeom>
            <a:avLst/>
            <a:gdLst/>
            <a:ahLst/>
            <a:cxnLst/>
            <a:rect l="l" t="t" r="r" b="b"/>
            <a:pathLst>
              <a:path w="45665419" h="7763121">
                <a:moveTo>
                  <a:pt x="0" y="0"/>
                </a:moveTo>
                <a:lnTo>
                  <a:pt x="45665420" y="0"/>
                </a:lnTo>
                <a:lnTo>
                  <a:pt x="45665420" y="7763121"/>
                </a:lnTo>
                <a:lnTo>
                  <a:pt x="0" y="7763121"/>
                </a:lnTo>
                <a:lnTo>
                  <a:pt x="0" y="0"/>
                </a:lnTo>
                <a:close/>
              </a:path>
            </a:pathLst>
          </a:custGeom>
          <a:blipFill>
            <a:blip r:embed="rId2">
              <a:alphaModFix amt="15000"/>
            </a:blip>
            <a:stretch>
              <a:fillRect/>
            </a:stretch>
          </a:blipFill>
        </p:spPr>
      </p:sp>
      <p:sp>
        <p:nvSpPr>
          <p:cNvPr id="3" name="Freeform 3"/>
          <p:cNvSpPr/>
          <p:nvPr/>
        </p:nvSpPr>
        <p:spPr>
          <a:xfrm>
            <a:off x="-404701" y="6789856"/>
            <a:ext cx="1216033" cy="2468444"/>
          </a:xfrm>
          <a:custGeom>
            <a:avLst/>
            <a:gdLst/>
            <a:ahLst/>
            <a:cxnLst/>
            <a:rect l="l" t="t" r="r" b="b"/>
            <a:pathLst>
              <a:path w="1216033" h="2468444">
                <a:moveTo>
                  <a:pt x="0" y="0"/>
                </a:moveTo>
                <a:lnTo>
                  <a:pt x="1216033" y="0"/>
                </a:lnTo>
                <a:lnTo>
                  <a:pt x="1216033" y="2468444"/>
                </a:lnTo>
                <a:lnTo>
                  <a:pt x="0" y="2468444"/>
                </a:lnTo>
                <a:lnTo>
                  <a:pt x="0" y="0"/>
                </a:lnTo>
                <a:close/>
              </a:path>
            </a:pathLst>
          </a:custGeom>
          <a:blipFill>
            <a:blip r:embed="rId3"/>
            <a:stretch>
              <a:fillRect/>
            </a:stretch>
          </a:blipFill>
        </p:spPr>
      </p:sp>
      <p:sp>
        <p:nvSpPr>
          <p:cNvPr id="4" name="Freeform 4"/>
          <p:cNvSpPr/>
          <p:nvPr/>
        </p:nvSpPr>
        <p:spPr>
          <a:xfrm rot="5400000" flipH="1">
            <a:off x="16014263" y="6769491"/>
            <a:ext cx="2490075" cy="5054639"/>
          </a:xfrm>
          <a:custGeom>
            <a:avLst/>
            <a:gdLst/>
            <a:ahLst/>
            <a:cxnLst/>
            <a:rect l="l" t="t" r="r" b="b"/>
            <a:pathLst>
              <a:path w="2490075" h="5054639">
                <a:moveTo>
                  <a:pt x="2490074" y="0"/>
                </a:moveTo>
                <a:lnTo>
                  <a:pt x="0" y="0"/>
                </a:lnTo>
                <a:lnTo>
                  <a:pt x="0" y="5054639"/>
                </a:lnTo>
                <a:lnTo>
                  <a:pt x="2490074" y="5054639"/>
                </a:lnTo>
                <a:lnTo>
                  <a:pt x="2490074" y="0"/>
                </a:lnTo>
                <a:close/>
              </a:path>
            </a:pathLst>
          </a:custGeom>
          <a:blipFill>
            <a:blip r:embed="rId3"/>
            <a:stretch>
              <a:fillRect/>
            </a:stretch>
          </a:blipFill>
        </p:spPr>
      </p:sp>
      <p:sp>
        <p:nvSpPr>
          <p:cNvPr id="5" name="Freeform 5"/>
          <p:cNvSpPr/>
          <p:nvPr/>
        </p:nvSpPr>
        <p:spPr>
          <a:xfrm rot="-5171694">
            <a:off x="11114704" y="-4412332"/>
            <a:ext cx="6359343" cy="7118837"/>
          </a:xfrm>
          <a:custGeom>
            <a:avLst/>
            <a:gdLst/>
            <a:ahLst/>
            <a:cxnLst/>
            <a:rect l="l" t="t" r="r" b="b"/>
            <a:pathLst>
              <a:path w="6359343" h="7118837">
                <a:moveTo>
                  <a:pt x="0" y="0"/>
                </a:moveTo>
                <a:lnTo>
                  <a:pt x="6359343" y="0"/>
                </a:lnTo>
                <a:lnTo>
                  <a:pt x="6359343" y="7118837"/>
                </a:lnTo>
                <a:lnTo>
                  <a:pt x="0" y="7118837"/>
                </a:lnTo>
                <a:lnTo>
                  <a:pt x="0" y="0"/>
                </a:lnTo>
                <a:close/>
              </a:path>
            </a:pathLst>
          </a:custGeom>
          <a:blipFill>
            <a:blip r:embed="rId4">
              <a:alphaModFix amt="50000"/>
            </a:blip>
            <a:stretch>
              <a:fillRect/>
            </a:stretch>
          </a:blipFill>
        </p:spPr>
      </p:sp>
      <p:grpSp>
        <p:nvGrpSpPr>
          <p:cNvPr id="6" name="Group 6"/>
          <p:cNvGrpSpPr/>
          <p:nvPr/>
        </p:nvGrpSpPr>
        <p:grpSpPr>
          <a:xfrm>
            <a:off x="1028700" y="5025440"/>
            <a:ext cx="7426541" cy="1699319"/>
            <a:chOff x="0" y="0"/>
            <a:chExt cx="2906720" cy="406400"/>
          </a:xfrm>
        </p:grpSpPr>
        <p:sp>
          <p:nvSpPr>
            <p:cNvPr id="7" name="Freeform 7"/>
            <p:cNvSpPr/>
            <p:nvPr/>
          </p:nvSpPr>
          <p:spPr>
            <a:xfrm>
              <a:off x="0" y="0"/>
              <a:ext cx="2906720" cy="406400"/>
            </a:xfrm>
            <a:custGeom>
              <a:avLst/>
              <a:gdLst/>
              <a:ahLst/>
              <a:cxnLst/>
              <a:rect l="l" t="t" r="r" b="b"/>
              <a:pathLst>
                <a:path w="2906720" h="406400">
                  <a:moveTo>
                    <a:pt x="2703520" y="0"/>
                  </a:moveTo>
                  <a:cubicBezTo>
                    <a:pt x="2815744" y="0"/>
                    <a:pt x="2906720" y="90976"/>
                    <a:pt x="2906720" y="203200"/>
                  </a:cubicBezTo>
                  <a:cubicBezTo>
                    <a:pt x="2906720" y="315424"/>
                    <a:pt x="2815744" y="406400"/>
                    <a:pt x="2703520"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8" name="TextBox 8"/>
            <p:cNvSpPr txBox="1"/>
            <p:nvPr/>
          </p:nvSpPr>
          <p:spPr>
            <a:xfrm>
              <a:off x="0" y="-57150"/>
              <a:ext cx="2906720" cy="463550"/>
            </a:xfrm>
            <a:prstGeom prst="rect">
              <a:avLst/>
            </a:prstGeom>
          </p:spPr>
          <p:txBody>
            <a:bodyPr lIns="50800" tIns="50800" rIns="50800" bIns="50800" rtlCol="0" anchor="ctr"/>
            <a:lstStyle/>
            <a:p>
              <a:pPr marL="0" lvl="0" indent="0" algn="ctr">
                <a:lnSpc>
                  <a:spcPts val="3359"/>
                </a:lnSpc>
              </a:pPr>
              <a:endParaRPr sz="2400">
                <a:solidFill>
                  <a:schemeClr val="accent1"/>
                </a:solidFill>
              </a:endParaRPr>
            </a:p>
          </p:txBody>
        </p:sp>
      </p:grpSp>
      <p:grpSp>
        <p:nvGrpSpPr>
          <p:cNvPr id="9" name="Group 9"/>
          <p:cNvGrpSpPr/>
          <p:nvPr/>
        </p:nvGrpSpPr>
        <p:grpSpPr>
          <a:xfrm>
            <a:off x="9832759" y="5025440"/>
            <a:ext cx="7426541" cy="1699319"/>
            <a:chOff x="0" y="0"/>
            <a:chExt cx="2906720" cy="406400"/>
          </a:xfrm>
        </p:grpSpPr>
        <p:sp>
          <p:nvSpPr>
            <p:cNvPr id="10" name="Freeform 10"/>
            <p:cNvSpPr/>
            <p:nvPr/>
          </p:nvSpPr>
          <p:spPr>
            <a:xfrm>
              <a:off x="0" y="0"/>
              <a:ext cx="2906720" cy="406400"/>
            </a:xfrm>
            <a:custGeom>
              <a:avLst/>
              <a:gdLst/>
              <a:ahLst/>
              <a:cxnLst/>
              <a:rect l="l" t="t" r="r" b="b"/>
              <a:pathLst>
                <a:path w="2906720" h="406400">
                  <a:moveTo>
                    <a:pt x="2703520" y="0"/>
                  </a:moveTo>
                  <a:cubicBezTo>
                    <a:pt x="2815744" y="0"/>
                    <a:pt x="2906720" y="90976"/>
                    <a:pt x="2906720" y="203200"/>
                  </a:cubicBezTo>
                  <a:cubicBezTo>
                    <a:pt x="2906720" y="315424"/>
                    <a:pt x="2815744" y="406400"/>
                    <a:pt x="2703520"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1" name="TextBox 11"/>
            <p:cNvSpPr txBox="1"/>
            <p:nvPr/>
          </p:nvSpPr>
          <p:spPr>
            <a:xfrm>
              <a:off x="0" y="-57150"/>
              <a:ext cx="2906720" cy="463550"/>
            </a:xfrm>
            <a:prstGeom prst="rect">
              <a:avLst/>
            </a:prstGeom>
          </p:spPr>
          <p:txBody>
            <a:bodyPr lIns="50800" tIns="50800" rIns="50800" bIns="50800" rtlCol="0" anchor="ctr"/>
            <a:lstStyle/>
            <a:p>
              <a:pPr marL="0" lvl="0" indent="0" algn="ctr">
                <a:lnSpc>
                  <a:spcPts val="3359"/>
                </a:lnSpc>
              </a:pPr>
              <a:endParaRPr sz="2400">
                <a:solidFill>
                  <a:schemeClr val="accent1"/>
                </a:solidFill>
              </a:endParaRPr>
            </a:p>
          </p:txBody>
        </p:sp>
      </p:grpSp>
      <p:grpSp>
        <p:nvGrpSpPr>
          <p:cNvPr id="12" name="Group 12"/>
          <p:cNvGrpSpPr/>
          <p:nvPr/>
        </p:nvGrpSpPr>
        <p:grpSpPr>
          <a:xfrm>
            <a:off x="1028700" y="7085337"/>
            <a:ext cx="7426541" cy="1342149"/>
            <a:chOff x="0" y="0"/>
            <a:chExt cx="2906720" cy="406400"/>
          </a:xfrm>
        </p:grpSpPr>
        <p:sp>
          <p:nvSpPr>
            <p:cNvPr id="13" name="Freeform 13"/>
            <p:cNvSpPr/>
            <p:nvPr/>
          </p:nvSpPr>
          <p:spPr>
            <a:xfrm>
              <a:off x="0" y="0"/>
              <a:ext cx="2906720" cy="406400"/>
            </a:xfrm>
            <a:custGeom>
              <a:avLst/>
              <a:gdLst/>
              <a:ahLst/>
              <a:cxnLst/>
              <a:rect l="l" t="t" r="r" b="b"/>
              <a:pathLst>
                <a:path w="2906720" h="406400">
                  <a:moveTo>
                    <a:pt x="2703520" y="0"/>
                  </a:moveTo>
                  <a:cubicBezTo>
                    <a:pt x="2815744" y="0"/>
                    <a:pt x="2906720" y="90976"/>
                    <a:pt x="2906720" y="203200"/>
                  </a:cubicBezTo>
                  <a:cubicBezTo>
                    <a:pt x="2906720" y="315424"/>
                    <a:pt x="2815744" y="406400"/>
                    <a:pt x="2703520"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4" name="TextBox 14"/>
            <p:cNvSpPr txBox="1"/>
            <p:nvPr/>
          </p:nvSpPr>
          <p:spPr>
            <a:xfrm>
              <a:off x="0" y="-57150"/>
              <a:ext cx="2906720" cy="463550"/>
            </a:xfrm>
            <a:prstGeom prst="rect">
              <a:avLst/>
            </a:prstGeom>
          </p:spPr>
          <p:txBody>
            <a:bodyPr lIns="50800" tIns="50800" rIns="50800" bIns="50800" rtlCol="0" anchor="ctr"/>
            <a:lstStyle/>
            <a:p>
              <a:pPr marL="0" lvl="0" indent="0" algn="ctr">
                <a:lnSpc>
                  <a:spcPts val="3359"/>
                </a:lnSpc>
              </a:pPr>
              <a:endParaRPr/>
            </a:p>
          </p:txBody>
        </p:sp>
      </p:grpSp>
      <p:grpSp>
        <p:nvGrpSpPr>
          <p:cNvPr id="15" name="Group 15"/>
          <p:cNvGrpSpPr/>
          <p:nvPr/>
        </p:nvGrpSpPr>
        <p:grpSpPr>
          <a:xfrm>
            <a:off x="9832759" y="6953194"/>
            <a:ext cx="7426541" cy="1530889"/>
            <a:chOff x="0" y="0"/>
            <a:chExt cx="2906720" cy="406400"/>
          </a:xfrm>
        </p:grpSpPr>
        <p:sp>
          <p:nvSpPr>
            <p:cNvPr id="16" name="Freeform 16"/>
            <p:cNvSpPr/>
            <p:nvPr/>
          </p:nvSpPr>
          <p:spPr>
            <a:xfrm>
              <a:off x="0" y="0"/>
              <a:ext cx="2906720" cy="406400"/>
            </a:xfrm>
            <a:custGeom>
              <a:avLst/>
              <a:gdLst/>
              <a:ahLst/>
              <a:cxnLst/>
              <a:rect l="l" t="t" r="r" b="b"/>
              <a:pathLst>
                <a:path w="2906720" h="406400">
                  <a:moveTo>
                    <a:pt x="2703520" y="0"/>
                  </a:moveTo>
                  <a:cubicBezTo>
                    <a:pt x="2815744" y="0"/>
                    <a:pt x="2906720" y="90976"/>
                    <a:pt x="2906720" y="203200"/>
                  </a:cubicBezTo>
                  <a:cubicBezTo>
                    <a:pt x="2906720" y="315424"/>
                    <a:pt x="2815744" y="406400"/>
                    <a:pt x="2703520" y="406400"/>
                  </a:cubicBezTo>
                  <a:lnTo>
                    <a:pt x="203200" y="406400"/>
                  </a:lnTo>
                  <a:cubicBezTo>
                    <a:pt x="90976" y="406400"/>
                    <a:pt x="0" y="315424"/>
                    <a:pt x="0" y="203200"/>
                  </a:cubicBezTo>
                  <a:cubicBezTo>
                    <a:pt x="0" y="909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7" name="TextBox 17"/>
            <p:cNvSpPr txBox="1"/>
            <p:nvPr/>
          </p:nvSpPr>
          <p:spPr>
            <a:xfrm>
              <a:off x="0" y="-57150"/>
              <a:ext cx="2906720" cy="463550"/>
            </a:xfrm>
            <a:prstGeom prst="rect">
              <a:avLst/>
            </a:prstGeom>
          </p:spPr>
          <p:txBody>
            <a:bodyPr lIns="50800" tIns="50800" rIns="50800" bIns="50800" rtlCol="0" anchor="ctr"/>
            <a:lstStyle/>
            <a:p>
              <a:pPr marL="0" lvl="0" indent="0" algn="ctr">
                <a:lnSpc>
                  <a:spcPts val="3359"/>
                </a:lnSpc>
              </a:pPr>
              <a:endParaRPr/>
            </a:p>
          </p:txBody>
        </p:sp>
      </p:grpSp>
      <p:sp>
        <p:nvSpPr>
          <p:cNvPr id="18" name="TextBox 18"/>
          <p:cNvSpPr txBox="1"/>
          <p:nvPr/>
        </p:nvSpPr>
        <p:spPr>
          <a:xfrm>
            <a:off x="1028700" y="1181100"/>
            <a:ext cx="6179482" cy="909176"/>
          </a:xfrm>
          <a:prstGeom prst="rect">
            <a:avLst/>
          </a:prstGeom>
        </p:spPr>
        <p:txBody>
          <a:bodyPr lIns="0" tIns="0" rIns="0" bIns="0" rtlCol="0" anchor="t">
            <a:spAutoFit/>
          </a:bodyPr>
          <a:lstStyle/>
          <a:p>
            <a:pPr marL="0" lvl="0" indent="0" algn="l">
              <a:lnSpc>
                <a:spcPts val="6785"/>
              </a:lnSpc>
            </a:pPr>
            <a:r>
              <a:rPr lang="en-US" sz="6995">
                <a:solidFill>
                  <a:srgbClr val="FFFFFF"/>
                </a:solidFill>
                <a:latin typeface="TT Interphases"/>
                <a:ea typeface="TT Interphases"/>
                <a:cs typeface="TT Interphases"/>
                <a:sym typeface="TT Interphases"/>
              </a:rPr>
              <a:t>Literature</a:t>
            </a:r>
          </a:p>
        </p:txBody>
      </p:sp>
      <p:sp>
        <p:nvSpPr>
          <p:cNvPr id="19" name="TextBox 19"/>
          <p:cNvSpPr txBox="1"/>
          <p:nvPr/>
        </p:nvSpPr>
        <p:spPr>
          <a:xfrm>
            <a:off x="1028700" y="2088798"/>
            <a:ext cx="6179482" cy="909176"/>
          </a:xfrm>
          <a:prstGeom prst="rect">
            <a:avLst/>
          </a:prstGeom>
        </p:spPr>
        <p:txBody>
          <a:bodyPr lIns="0" tIns="0" rIns="0" bIns="0" rtlCol="0" anchor="t">
            <a:spAutoFit/>
          </a:bodyPr>
          <a:lstStyle/>
          <a:p>
            <a:pPr marL="0" lvl="0" indent="0" algn="l">
              <a:lnSpc>
                <a:spcPts val="6785"/>
              </a:lnSpc>
            </a:pPr>
            <a:r>
              <a:rPr lang="en-US" sz="6995" b="1">
                <a:solidFill>
                  <a:srgbClr val="A94BC6"/>
                </a:solidFill>
                <a:latin typeface="TT Interphases Bold"/>
                <a:ea typeface="TT Interphases Bold"/>
                <a:cs typeface="TT Interphases Bold"/>
                <a:sym typeface="TT Interphases Bold"/>
              </a:rPr>
              <a:t>Survey</a:t>
            </a:r>
          </a:p>
        </p:txBody>
      </p:sp>
      <p:sp>
        <p:nvSpPr>
          <p:cNvPr id="20" name="TextBox 20"/>
          <p:cNvSpPr txBox="1"/>
          <p:nvPr/>
        </p:nvSpPr>
        <p:spPr>
          <a:xfrm>
            <a:off x="1028700" y="3166083"/>
            <a:ext cx="7950836" cy="1128514"/>
          </a:xfrm>
          <a:prstGeom prst="rect">
            <a:avLst/>
          </a:prstGeom>
        </p:spPr>
        <p:txBody>
          <a:bodyPr lIns="0" tIns="0" rIns="0" bIns="0" rtlCol="0" anchor="t">
            <a:spAutoFit/>
          </a:bodyPr>
          <a:lstStyle/>
          <a:p>
            <a:pPr marL="0" lvl="0" indent="0" algn="l">
              <a:lnSpc>
                <a:spcPts val="2166"/>
              </a:lnSpc>
            </a:pPr>
            <a:r>
              <a:rPr lang="en-US" sz="2000" dirty="0">
                <a:solidFill>
                  <a:schemeClr val="accent1"/>
                </a:solidFill>
                <a:latin typeface="TT Interphases"/>
                <a:ea typeface="TT Interphases"/>
                <a:cs typeface="TT Interphases"/>
                <a:sym typeface="TT Interphases"/>
              </a:rPr>
              <a:t>A review of recent deepfake detection research reveals significant advances in AI-based methods. The following works inform the design and scope of AI </a:t>
            </a:r>
            <a:r>
              <a:rPr lang="en-US" sz="2000" dirty="0" err="1">
                <a:solidFill>
                  <a:schemeClr val="accent1"/>
                </a:solidFill>
                <a:latin typeface="TT Interphases"/>
                <a:ea typeface="TT Interphases"/>
                <a:cs typeface="TT Interphases"/>
                <a:sym typeface="TT Interphases"/>
              </a:rPr>
              <a:t>DeepGuard</a:t>
            </a:r>
            <a:r>
              <a:rPr lang="en-US" sz="2000" dirty="0">
                <a:solidFill>
                  <a:schemeClr val="accent1"/>
                </a:solidFill>
                <a:latin typeface="TT Interphases"/>
                <a:ea typeface="TT Interphases"/>
                <a:cs typeface="TT Interphases"/>
                <a:sym typeface="TT Interphases"/>
              </a:rPr>
              <a:t> Detection, highlighting both progress and persistent research gaps in practical, explainable detection systems.</a:t>
            </a:r>
          </a:p>
        </p:txBody>
      </p:sp>
      <p:sp>
        <p:nvSpPr>
          <p:cNvPr id="21" name="TextBox 21"/>
          <p:cNvSpPr txBox="1"/>
          <p:nvPr/>
        </p:nvSpPr>
        <p:spPr>
          <a:xfrm>
            <a:off x="3812393" y="5313899"/>
            <a:ext cx="4220288" cy="1231106"/>
          </a:xfrm>
          <a:prstGeom prst="rect">
            <a:avLst/>
          </a:prstGeom>
        </p:spPr>
        <p:txBody>
          <a:bodyPr lIns="0" tIns="0" rIns="0" bIns="0" rtlCol="0" anchor="t">
            <a:spAutoFit/>
          </a:bodyPr>
          <a:lstStyle/>
          <a:p>
            <a:pPr marL="0" lvl="0" indent="0" algn="l">
              <a:lnSpc>
                <a:spcPts val="1560"/>
              </a:lnSpc>
            </a:pPr>
            <a:r>
              <a:rPr lang="en-US" sz="1600" dirty="0">
                <a:solidFill>
                  <a:schemeClr val="accent1"/>
                </a:solidFill>
                <a:latin typeface="TT Interphases"/>
                <a:ea typeface="TT Interphases"/>
                <a:cs typeface="TT Interphases"/>
                <a:sym typeface="TT Interphases"/>
              </a:rPr>
              <a:t>Nguyen et al. — Localized Artifact Attention Network for Quality-Agnostic and Generalizable Deepfake Detection (CVPR 2024). Contribution: localized artifact attention for robust, generalizable deepfake detection across image qualities.</a:t>
            </a:r>
          </a:p>
        </p:txBody>
      </p:sp>
      <p:sp>
        <p:nvSpPr>
          <p:cNvPr id="22" name="TextBox 22"/>
          <p:cNvSpPr txBox="1"/>
          <p:nvPr/>
        </p:nvSpPr>
        <p:spPr>
          <a:xfrm>
            <a:off x="12954000" y="5268303"/>
            <a:ext cx="3902933" cy="1231106"/>
          </a:xfrm>
          <a:prstGeom prst="rect">
            <a:avLst/>
          </a:prstGeom>
        </p:spPr>
        <p:txBody>
          <a:bodyPr wrap="square" lIns="0" tIns="0" rIns="0" bIns="0" rtlCol="0" anchor="t">
            <a:spAutoFit/>
          </a:bodyPr>
          <a:lstStyle/>
          <a:p>
            <a:pPr marL="0" lvl="0" indent="0" algn="l">
              <a:lnSpc>
                <a:spcPts val="1560"/>
              </a:lnSpc>
            </a:pPr>
            <a:r>
              <a:rPr lang="en-US" sz="1600" dirty="0">
                <a:solidFill>
                  <a:schemeClr val="accent1"/>
                </a:solidFill>
                <a:latin typeface="TT Interphases"/>
                <a:ea typeface="TT Interphases"/>
                <a:cs typeface="TT Interphases"/>
                <a:sym typeface="TT Interphases"/>
              </a:rPr>
              <a:t>Huang et al. — Social Media Image Deepfake Detection, Localization and Explanation with Large Multimodal Model (CVPR 2025). Contribution: detection, manipulated-region localization, and natural language explanation.</a:t>
            </a:r>
          </a:p>
        </p:txBody>
      </p:sp>
      <p:sp>
        <p:nvSpPr>
          <p:cNvPr id="23" name="TextBox 23"/>
          <p:cNvSpPr txBox="1"/>
          <p:nvPr/>
        </p:nvSpPr>
        <p:spPr>
          <a:xfrm>
            <a:off x="13517286" y="7119919"/>
            <a:ext cx="3533454" cy="1231106"/>
          </a:xfrm>
          <a:prstGeom prst="rect">
            <a:avLst/>
          </a:prstGeom>
        </p:spPr>
        <p:txBody>
          <a:bodyPr wrap="square" lIns="0" tIns="0" rIns="0" bIns="0" rtlCol="0" anchor="t">
            <a:spAutoFit/>
          </a:bodyPr>
          <a:lstStyle/>
          <a:p>
            <a:pPr marL="0" lvl="0" indent="0" algn="l">
              <a:lnSpc>
                <a:spcPts val="1560"/>
              </a:lnSpc>
            </a:pPr>
            <a:r>
              <a:rPr lang="en-US" sz="1600" dirty="0">
                <a:solidFill>
                  <a:schemeClr val="accent1"/>
                </a:solidFill>
                <a:latin typeface="TT Interphases"/>
                <a:ea typeface="TT Interphases"/>
                <a:cs typeface="TT Interphases"/>
                <a:sym typeface="TT Interphases"/>
              </a:rPr>
              <a:t>AI </a:t>
            </a:r>
            <a:r>
              <a:rPr lang="en-US" sz="1600" dirty="0" err="1">
                <a:solidFill>
                  <a:schemeClr val="accent1"/>
                </a:solidFill>
                <a:latin typeface="TT Interphases"/>
                <a:ea typeface="TT Interphases"/>
                <a:cs typeface="TT Interphases"/>
                <a:sym typeface="TT Interphases"/>
              </a:rPr>
              <a:t>DeepGuard</a:t>
            </a:r>
            <a:r>
              <a:rPr lang="en-US" sz="1600" dirty="0">
                <a:solidFill>
                  <a:schemeClr val="accent1"/>
                </a:solidFill>
                <a:latin typeface="TT Interphases"/>
                <a:ea typeface="TT Interphases"/>
                <a:cs typeface="TT Interphases"/>
                <a:sym typeface="TT Interphases"/>
              </a:rPr>
              <a:t> addresses all gaps: detection + confidence scoring + Grad-CAM explainability + interactive dashboard + detection history + PDF report generation + secure authentication.</a:t>
            </a:r>
          </a:p>
        </p:txBody>
      </p:sp>
      <p:sp>
        <p:nvSpPr>
          <p:cNvPr id="24" name="TextBox 24"/>
          <p:cNvSpPr txBox="1"/>
          <p:nvPr/>
        </p:nvSpPr>
        <p:spPr>
          <a:xfrm>
            <a:off x="3809025" y="7188517"/>
            <a:ext cx="4220288" cy="1231106"/>
          </a:xfrm>
          <a:prstGeom prst="rect">
            <a:avLst/>
          </a:prstGeom>
        </p:spPr>
        <p:txBody>
          <a:bodyPr lIns="0" tIns="0" rIns="0" bIns="0" rtlCol="0" anchor="t">
            <a:spAutoFit/>
          </a:bodyPr>
          <a:lstStyle/>
          <a:p>
            <a:pPr marL="0" lvl="0" indent="0" algn="l">
              <a:lnSpc>
                <a:spcPts val="1560"/>
              </a:lnSpc>
            </a:pPr>
            <a:r>
              <a:rPr lang="en-US" sz="1600" dirty="0" err="1">
                <a:solidFill>
                  <a:schemeClr val="accent1"/>
                </a:solidFill>
                <a:latin typeface="TT Interphases"/>
                <a:ea typeface="TT Interphases"/>
                <a:cs typeface="TT Interphases"/>
                <a:sym typeface="TT Interphases"/>
              </a:rPr>
              <a:t>Alrahhal</a:t>
            </a:r>
            <a:r>
              <a:rPr lang="en-US" sz="1600" dirty="0">
                <a:solidFill>
                  <a:schemeClr val="accent1"/>
                </a:solidFill>
                <a:latin typeface="TT Interphases"/>
                <a:ea typeface="TT Interphases"/>
                <a:cs typeface="TT Interphases"/>
                <a:sym typeface="TT Interphases"/>
              </a:rPr>
              <a:t> et al. — Deepfake Face Detection Using Hybrid Bag-of-Visual-Words and Multi-CNN Feature Fusion (Scientific Reports 2026). Contribution: handcrafted forensic features fused with deep CNN features for improved accuracy.</a:t>
            </a:r>
          </a:p>
        </p:txBody>
      </p:sp>
      <p:sp>
        <p:nvSpPr>
          <p:cNvPr id="25" name="TextBox 25"/>
          <p:cNvSpPr txBox="1"/>
          <p:nvPr/>
        </p:nvSpPr>
        <p:spPr>
          <a:xfrm>
            <a:off x="9419569" y="2976063"/>
            <a:ext cx="7845977" cy="1410643"/>
          </a:xfrm>
          <a:prstGeom prst="rect">
            <a:avLst/>
          </a:prstGeom>
        </p:spPr>
        <p:txBody>
          <a:bodyPr lIns="0" tIns="0" rIns="0" bIns="0" rtlCol="0" anchor="t">
            <a:spAutoFit/>
          </a:bodyPr>
          <a:lstStyle/>
          <a:p>
            <a:pPr marL="0" lvl="0" indent="0" algn="l">
              <a:lnSpc>
                <a:spcPts val="2166"/>
              </a:lnSpc>
            </a:pPr>
            <a:r>
              <a:rPr lang="en-US" sz="2000" dirty="0">
                <a:solidFill>
                  <a:schemeClr val="accent1"/>
                </a:solidFill>
                <a:latin typeface="TT Interphases"/>
                <a:ea typeface="TT Interphases"/>
                <a:cs typeface="TT Interphases"/>
                <a:sym typeface="TT Interphases"/>
              </a:rPr>
              <a:t>Research Gap: Existing models lack easy-to-use interfaces and provide predictions without sufficient explanation. Visualization of manipulated regions is limited, and most works present isolated models rather than complete applications with result management, history, and reporting.</a:t>
            </a:r>
          </a:p>
        </p:txBody>
      </p:sp>
      <p:sp>
        <p:nvSpPr>
          <p:cNvPr id="26" name="TextBox 26"/>
          <p:cNvSpPr txBox="1"/>
          <p:nvPr/>
        </p:nvSpPr>
        <p:spPr>
          <a:xfrm>
            <a:off x="1260467" y="5755616"/>
            <a:ext cx="2355093" cy="743793"/>
          </a:xfrm>
          <a:prstGeom prst="rect">
            <a:avLst/>
          </a:prstGeom>
        </p:spPr>
        <p:txBody>
          <a:bodyPr lIns="0" tIns="0" rIns="0" bIns="0" rtlCol="0" anchor="t">
            <a:spAutoFit/>
          </a:bodyPr>
          <a:lstStyle/>
          <a:p>
            <a:pPr marL="0" lvl="0" indent="0" algn="ctr">
              <a:lnSpc>
                <a:spcPts val="2943"/>
              </a:lnSpc>
              <a:spcBef>
                <a:spcPct val="0"/>
              </a:spcBef>
            </a:pPr>
            <a:r>
              <a:rPr lang="en-US" sz="2800" b="1" dirty="0">
                <a:solidFill>
                  <a:schemeClr val="accent1"/>
                </a:solidFill>
                <a:latin typeface="TT Interphases Bold"/>
                <a:ea typeface="TT Interphases Bold"/>
                <a:cs typeface="TT Interphases Bold"/>
                <a:sym typeface="TT Interphases Bold"/>
              </a:rPr>
              <a:t>[2024] LAA-Net</a:t>
            </a:r>
          </a:p>
        </p:txBody>
      </p:sp>
      <p:sp>
        <p:nvSpPr>
          <p:cNvPr id="27" name="TextBox 27"/>
          <p:cNvSpPr txBox="1"/>
          <p:nvPr/>
        </p:nvSpPr>
        <p:spPr>
          <a:xfrm>
            <a:off x="10049579" y="5755616"/>
            <a:ext cx="3166265" cy="371897"/>
          </a:xfrm>
          <a:prstGeom prst="rect">
            <a:avLst/>
          </a:prstGeom>
        </p:spPr>
        <p:txBody>
          <a:bodyPr lIns="0" tIns="0" rIns="0" bIns="0" rtlCol="0" anchor="t">
            <a:spAutoFit/>
          </a:bodyPr>
          <a:lstStyle/>
          <a:p>
            <a:pPr marL="0" lvl="0" indent="0" algn="ctr">
              <a:lnSpc>
                <a:spcPts val="2943"/>
              </a:lnSpc>
              <a:spcBef>
                <a:spcPct val="0"/>
              </a:spcBef>
            </a:pPr>
            <a:r>
              <a:rPr lang="en-US" sz="2800" b="1" dirty="0">
                <a:solidFill>
                  <a:schemeClr val="accent1"/>
                </a:solidFill>
                <a:latin typeface="TT Interphases Bold"/>
                <a:ea typeface="TT Interphases Bold"/>
                <a:cs typeface="TT Interphases Bold"/>
                <a:sym typeface="TT Interphases Bold"/>
              </a:rPr>
              <a:t>[2025] SIDA</a:t>
            </a:r>
          </a:p>
        </p:txBody>
      </p:sp>
      <p:sp>
        <p:nvSpPr>
          <p:cNvPr id="28" name="TextBox 28"/>
          <p:cNvSpPr txBox="1"/>
          <p:nvPr/>
        </p:nvSpPr>
        <p:spPr>
          <a:xfrm>
            <a:off x="1277347" y="7205662"/>
            <a:ext cx="2355093" cy="743793"/>
          </a:xfrm>
          <a:prstGeom prst="rect">
            <a:avLst/>
          </a:prstGeom>
        </p:spPr>
        <p:txBody>
          <a:bodyPr lIns="0" tIns="0" rIns="0" bIns="0" rtlCol="0" anchor="t">
            <a:spAutoFit/>
          </a:bodyPr>
          <a:lstStyle/>
          <a:p>
            <a:pPr marL="0" lvl="0" indent="0" algn="ctr">
              <a:lnSpc>
                <a:spcPts val="2943"/>
              </a:lnSpc>
              <a:spcBef>
                <a:spcPct val="0"/>
              </a:spcBef>
            </a:pPr>
            <a:r>
              <a:rPr lang="en-US" sz="2800" b="1">
                <a:solidFill>
                  <a:schemeClr val="accent1"/>
                </a:solidFill>
                <a:latin typeface="TT Interphases Bold"/>
                <a:ea typeface="TT Interphases Bold"/>
                <a:cs typeface="TT Interphases Bold"/>
                <a:sym typeface="TT Interphases Bold"/>
              </a:rPr>
              <a:t>[2026] BoVW-CNN</a:t>
            </a:r>
          </a:p>
        </p:txBody>
      </p:sp>
      <p:sp>
        <p:nvSpPr>
          <p:cNvPr id="29" name="TextBox 29"/>
          <p:cNvSpPr txBox="1"/>
          <p:nvPr/>
        </p:nvSpPr>
        <p:spPr>
          <a:xfrm>
            <a:off x="10190941" y="7454967"/>
            <a:ext cx="3045798" cy="371897"/>
          </a:xfrm>
          <a:prstGeom prst="rect">
            <a:avLst/>
          </a:prstGeom>
        </p:spPr>
        <p:txBody>
          <a:bodyPr lIns="0" tIns="0" rIns="0" bIns="0" rtlCol="0" anchor="t">
            <a:spAutoFit/>
          </a:bodyPr>
          <a:lstStyle/>
          <a:p>
            <a:pPr marL="0" lvl="0" indent="0" algn="ctr">
              <a:lnSpc>
                <a:spcPts val="2943"/>
              </a:lnSpc>
              <a:spcBef>
                <a:spcPct val="0"/>
              </a:spcBef>
            </a:pPr>
            <a:r>
              <a:rPr lang="en-US" sz="2800" b="1" dirty="0">
                <a:solidFill>
                  <a:schemeClr val="accent1"/>
                </a:solidFill>
                <a:latin typeface="TT Interphases Bold"/>
                <a:ea typeface="TT Interphases Bold"/>
                <a:cs typeface="TT Interphases Bold"/>
                <a:sym typeface="TT Interphases Bold"/>
              </a:rPr>
              <a:t>Our Approach</a:t>
            </a:r>
          </a:p>
        </p:txBody>
      </p:sp>
      <p:grpSp>
        <p:nvGrpSpPr>
          <p:cNvPr id="30" name="Group 30"/>
          <p:cNvGrpSpPr/>
          <p:nvPr/>
        </p:nvGrpSpPr>
        <p:grpSpPr>
          <a:xfrm>
            <a:off x="6780653" y="8767760"/>
            <a:ext cx="4726694" cy="1055158"/>
            <a:chOff x="0" y="0"/>
            <a:chExt cx="3915949" cy="406400"/>
          </a:xfrm>
        </p:grpSpPr>
        <p:sp>
          <p:nvSpPr>
            <p:cNvPr id="31" name="Freeform 31"/>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32" name="TextBox 32"/>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33" name="TextBox 33"/>
          <p:cNvSpPr txBox="1"/>
          <p:nvPr/>
        </p:nvSpPr>
        <p:spPr>
          <a:xfrm>
            <a:off x="7276977" y="8823679"/>
            <a:ext cx="3734045" cy="872067"/>
          </a:xfrm>
          <a:prstGeom prst="rect">
            <a:avLst/>
          </a:prstGeom>
        </p:spPr>
        <p:txBody>
          <a:bodyPr lIns="0" tIns="0" rIns="0" bIns="0" rtlCol="0" anchor="t">
            <a:spAutoFit/>
          </a:bodyPr>
          <a:lstStyle/>
          <a:p>
            <a:pPr marL="0" lvl="0" indent="0" algn="ctr">
              <a:lnSpc>
                <a:spcPts val="2333"/>
              </a:lnSpc>
              <a:spcBef>
                <a:spcPct val="0"/>
              </a:spcBef>
            </a:pPr>
            <a:r>
              <a:rPr lang="en-US" sz="1666" dirty="0">
                <a:solidFill>
                  <a:srgbClr val="FFFFFF"/>
                </a:solidFill>
                <a:latin typeface="TT Interphases"/>
                <a:ea typeface="TT Interphases"/>
                <a:cs typeface="TT Interphases"/>
                <a:sym typeface="TT Interphases"/>
              </a:rPr>
              <a:t>AI </a:t>
            </a:r>
            <a:r>
              <a:rPr lang="en-US" sz="1666" dirty="0" err="1">
                <a:solidFill>
                  <a:srgbClr val="FFFFFF"/>
                </a:solidFill>
                <a:latin typeface="TT Interphases"/>
                <a:ea typeface="TT Interphases"/>
                <a:cs typeface="TT Interphases"/>
                <a:sym typeface="TT Interphases"/>
              </a:rPr>
              <a:t>DeepGuard</a:t>
            </a:r>
            <a:r>
              <a:rPr lang="en-US" sz="1666" dirty="0">
                <a:solidFill>
                  <a:srgbClr val="FFFFFF"/>
                </a:solidFill>
                <a:latin typeface="TT Interphases"/>
                <a:ea typeface="TT Interphases"/>
                <a:cs typeface="TT Interphases"/>
                <a:sym typeface="TT Interphases"/>
              </a:rPr>
              <a:t> Detection — Dept. of AI &amp; Data Science | Matoshri College of Engineering</a:t>
            </a:r>
          </a:p>
        </p:txBody>
      </p:sp>
      <p:sp>
        <p:nvSpPr>
          <p:cNvPr id="34" name="Freeform 34"/>
          <p:cNvSpPr/>
          <p:nvPr/>
        </p:nvSpPr>
        <p:spPr>
          <a:xfrm>
            <a:off x="8979536" y="1696195"/>
            <a:ext cx="1971810" cy="240202"/>
          </a:xfrm>
          <a:custGeom>
            <a:avLst/>
            <a:gdLst/>
            <a:ahLst/>
            <a:cxnLst/>
            <a:rect l="l" t="t" r="r" b="b"/>
            <a:pathLst>
              <a:path w="1971810" h="240202">
                <a:moveTo>
                  <a:pt x="0" y="0"/>
                </a:moveTo>
                <a:lnTo>
                  <a:pt x="1971810" y="0"/>
                </a:lnTo>
                <a:lnTo>
                  <a:pt x="1971810" y="240203"/>
                </a:lnTo>
                <a:lnTo>
                  <a:pt x="0" y="24020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5" name="Freeform 35"/>
          <p:cNvSpPr/>
          <p:nvPr/>
        </p:nvSpPr>
        <p:spPr>
          <a:xfrm>
            <a:off x="3632440" y="8859295"/>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a:extLst>
                <a:ext uri="{96DAC541-7B7A-43D3-8B79-37D633B846F1}">
                  <asvg:svgBlip xmlns:asvg="http://schemas.microsoft.com/office/drawing/2016/SVG/main" r:embed="rId6"/>
                </a:ext>
              </a:extLst>
            </a:blip>
            <a:stretch>
              <a:fillRect t="-106388" r="-103152"/>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864831" flipH="1">
            <a:off x="-4568671" y="3075263"/>
            <a:ext cx="21822962" cy="7261095"/>
          </a:xfrm>
          <a:custGeom>
            <a:avLst/>
            <a:gdLst/>
            <a:ahLst/>
            <a:cxnLst/>
            <a:rect l="l" t="t" r="r" b="b"/>
            <a:pathLst>
              <a:path w="21822962" h="7261095">
                <a:moveTo>
                  <a:pt x="21822962" y="0"/>
                </a:moveTo>
                <a:lnTo>
                  <a:pt x="0" y="0"/>
                </a:lnTo>
                <a:lnTo>
                  <a:pt x="0" y="7261095"/>
                </a:lnTo>
                <a:lnTo>
                  <a:pt x="21822962" y="7261095"/>
                </a:lnTo>
                <a:lnTo>
                  <a:pt x="21822962"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flipH="1">
            <a:off x="17055059" y="1028700"/>
            <a:ext cx="1675621" cy="3401366"/>
          </a:xfrm>
          <a:custGeom>
            <a:avLst/>
            <a:gdLst/>
            <a:ahLst/>
            <a:cxnLst/>
            <a:rect l="l" t="t" r="r" b="b"/>
            <a:pathLst>
              <a:path w="1675621" h="3401366">
                <a:moveTo>
                  <a:pt x="1675621" y="0"/>
                </a:moveTo>
                <a:lnTo>
                  <a:pt x="0" y="0"/>
                </a:lnTo>
                <a:lnTo>
                  <a:pt x="0" y="3401366"/>
                </a:lnTo>
                <a:lnTo>
                  <a:pt x="1675621" y="3401366"/>
                </a:lnTo>
                <a:lnTo>
                  <a:pt x="1675621" y="0"/>
                </a:lnTo>
                <a:close/>
              </a:path>
            </a:pathLst>
          </a:custGeom>
          <a:blipFill>
            <a:blip r:embed="rId3"/>
            <a:stretch>
              <a:fillRect/>
            </a:stretch>
          </a:blipFill>
        </p:spPr>
      </p:sp>
      <p:sp>
        <p:nvSpPr>
          <p:cNvPr id="4" name="Freeform 4"/>
          <p:cNvSpPr/>
          <p:nvPr/>
        </p:nvSpPr>
        <p:spPr>
          <a:xfrm>
            <a:off x="-646921" y="1028700"/>
            <a:ext cx="1675621" cy="3401366"/>
          </a:xfrm>
          <a:custGeom>
            <a:avLst/>
            <a:gdLst/>
            <a:ahLst/>
            <a:cxnLst/>
            <a:rect l="l" t="t" r="r" b="b"/>
            <a:pathLst>
              <a:path w="1675621" h="3401366">
                <a:moveTo>
                  <a:pt x="0" y="0"/>
                </a:moveTo>
                <a:lnTo>
                  <a:pt x="1675621" y="0"/>
                </a:lnTo>
                <a:lnTo>
                  <a:pt x="1675621" y="3401366"/>
                </a:lnTo>
                <a:lnTo>
                  <a:pt x="0" y="3401366"/>
                </a:lnTo>
                <a:lnTo>
                  <a:pt x="0" y="0"/>
                </a:lnTo>
                <a:close/>
              </a:path>
            </a:pathLst>
          </a:custGeom>
          <a:blipFill>
            <a:blip r:embed="rId3"/>
            <a:stretch>
              <a:fillRect/>
            </a:stretch>
          </a:blipFill>
        </p:spPr>
      </p:sp>
      <p:sp>
        <p:nvSpPr>
          <p:cNvPr id="5" name="Freeform 5"/>
          <p:cNvSpPr/>
          <p:nvPr/>
        </p:nvSpPr>
        <p:spPr>
          <a:xfrm>
            <a:off x="14754171" y="1192771"/>
            <a:ext cx="1647551" cy="200702"/>
          </a:xfrm>
          <a:custGeom>
            <a:avLst/>
            <a:gdLst/>
            <a:ahLst/>
            <a:cxnLst/>
            <a:rect l="l" t="t" r="r" b="b"/>
            <a:pathLst>
              <a:path w="1647551" h="200702">
                <a:moveTo>
                  <a:pt x="0" y="0"/>
                </a:moveTo>
                <a:lnTo>
                  <a:pt x="1647550" y="0"/>
                </a:lnTo>
                <a:lnTo>
                  <a:pt x="1647550" y="200702"/>
                </a:lnTo>
                <a:lnTo>
                  <a:pt x="0" y="20070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886279" y="1192771"/>
            <a:ext cx="1647551" cy="200702"/>
          </a:xfrm>
          <a:custGeom>
            <a:avLst/>
            <a:gdLst/>
            <a:ahLst/>
            <a:cxnLst/>
            <a:rect l="l" t="t" r="r" b="b"/>
            <a:pathLst>
              <a:path w="1647551" h="200702">
                <a:moveTo>
                  <a:pt x="0" y="0"/>
                </a:moveTo>
                <a:lnTo>
                  <a:pt x="1647550" y="0"/>
                </a:lnTo>
                <a:lnTo>
                  <a:pt x="1647550" y="200702"/>
                </a:lnTo>
                <a:lnTo>
                  <a:pt x="0" y="200702"/>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886279" y="4658679"/>
            <a:ext cx="2198558" cy="219855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9" name="TextBox 9"/>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10" name="Group 10"/>
          <p:cNvGrpSpPr/>
          <p:nvPr/>
        </p:nvGrpSpPr>
        <p:grpSpPr>
          <a:xfrm>
            <a:off x="5991907" y="4658679"/>
            <a:ext cx="2198558" cy="219855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2" name="TextBox 12"/>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13" name="TextBox 13"/>
          <p:cNvSpPr txBox="1"/>
          <p:nvPr/>
        </p:nvSpPr>
        <p:spPr>
          <a:xfrm>
            <a:off x="5139807" y="982702"/>
            <a:ext cx="8008386" cy="751102"/>
          </a:xfrm>
          <a:prstGeom prst="rect">
            <a:avLst/>
          </a:prstGeom>
        </p:spPr>
        <p:txBody>
          <a:bodyPr lIns="0" tIns="0" rIns="0" bIns="0" rtlCol="0" anchor="t">
            <a:spAutoFit/>
          </a:bodyPr>
          <a:lstStyle/>
          <a:p>
            <a:pPr marL="0" lvl="0" indent="0" algn="ctr">
              <a:lnSpc>
                <a:spcPts val="5647"/>
              </a:lnSpc>
            </a:pPr>
            <a:r>
              <a:rPr lang="en-US" sz="5822" dirty="0">
                <a:solidFill>
                  <a:srgbClr val="FFFFFF"/>
                </a:solidFill>
                <a:latin typeface="TT Interphases"/>
                <a:ea typeface="TT Interphases"/>
                <a:cs typeface="TT Interphases"/>
                <a:sym typeface="TT Interphases"/>
              </a:rPr>
              <a:t>AI </a:t>
            </a:r>
            <a:r>
              <a:rPr lang="en-US" sz="5822" dirty="0" err="1">
                <a:solidFill>
                  <a:srgbClr val="FFFFFF"/>
                </a:solidFill>
                <a:latin typeface="TT Interphases"/>
                <a:ea typeface="TT Interphases"/>
                <a:cs typeface="TT Interphases"/>
                <a:sym typeface="TT Interphases"/>
              </a:rPr>
              <a:t>DeepGuard</a:t>
            </a:r>
            <a:r>
              <a:rPr lang="en-US" sz="5822" dirty="0">
                <a:solidFill>
                  <a:srgbClr val="FFFFFF"/>
                </a:solidFill>
                <a:latin typeface="TT Interphases"/>
                <a:ea typeface="TT Interphases"/>
                <a:cs typeface="TT Interphases"/>
                <a:sym typeface="TT Interphases"/>
              </a:rPr>
              <a:t> Detection</a:t>
            </a:r>
          </a:p>
        </p:txBody>
      </p:sp>
      <p:grpSp>
        <p:nvGrpSpPr>
          <p:cNvPr id="14" name="Group 14"/>
          <p:cNvGrpSpPr/>
          <p:nvPr/>
        </p:nvGrpSpPr>
        <p:grpSpPr>
          <a:xfrm>
            <a:off x="10097535" y="4658679"/>
            <a:ext cx="2198558" cy="219855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6" name="TextBox 16"/>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17" name="Group 17"/>
          <p:cNvGrpSpPr/>
          <p:nvPr/>
        </p:nvGrpSpPr>
        <p:grpSpPr>
          <a:xfrm>
            <a:off x="14203163" y="4658679"/>
            <a:ext cx="2198558" cy="219855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9" name="TextBox 19"/>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20" name="Freeform 20"/>
          <p:cNvSpPr/>
          <p:nvPr/>
        </p:nvSpPr>
        <p:spPr>
          <a:xfrm rot="-10800000">
            <a:off x="12972163" y="-4028288"/>
            <a:ext cx="5211566" cy="5221059"/>
          </a:xfrm>
          <a:custGeom>
            <a:avLst/>
            <a:gdLst/>
            <a:ahLst/>
            <a:cxnLst/>
            <a:rect l="l" t="t" r="r" b="b"/>
            <a:pathLst>
              <a:path w="5211566" h="5221059">
                <a:moveTo>
                  <a:pt x="0" y="0"/>
                </a:moveTo>
                <a:lnTo>
                  <a:pt x="5211566" y="0"/>
                </a:lnTo>
                <a:lnTo>
                  <a:pt x="5211566" y="5221059"/>
                </a:lnTo>
                <a:lnTo>
                  <a:pt x="0" y="5221059"/>
                </a:lnTo>
                <a:lnTo>
                  <a:pt x="0" y="0"/>
                </a:lnTo>
                <a:close/>
              </a:path>
            </a:pathLst>
          </a:custGeom>
          <a:blipFill>
            <a:blip>
              <a:alphaModFix amt="50000"/>
              <a:extLst>
                <a:ext uri="{96DAC541-7B7A-43D3-8B79-37D633B846F1}">
                  <asvg:svgBlip xmlns:asvg="http://schemas.microsoft.com/office/drawing/2016/SVG/main" r:embed="rId5"/>
                </a:ext>
              </a:extLst>
            </a:blip>
            <a:stretch>
              <a:fillRect/>
            </a:stretch>
          </a:blipFill>
        </p:spPr>
      </p:sp>
      <p:sp>
        <p:nvSpPr>
          <p:cNvPr id="21" name="Freeform 21"/>
          <p:cNvSpPr/>
          <p:nvPr/>
        </p:nvSpPr>
        <p:spPr>
          <a:xfrm rot="-10800000">
            <a:off x="-1073490" y="9486900"/>
            <a:ext cx="5211566" cy="5221059"/>
          </a:xfrm>
          <a:custGeom>
            <a:avLst/>
            <a:gdLst/>
            <a:ahLst/>
            <a:cxnLst/>
            <a:rect l="l" t="t" r="r" b="b"/>
            <a:pathLst>
              <a:path w="5211566" h="5221059">
                <a:moveTo>
                  <a:pt x="0" y="0"/>
                </a:moveTo>
                <a:lnTo>
                  <a:pt x="5211566" y="0"/>
                </a:lnTo>
                <a:lnTo>
                  <a:pt x="5211566" y="5221059"/>
                </a:lnTo>
                <a:lnTo>
                  <a:pt x="0" y="5221059"/>
                </a:lnTo>
                <a:lnTo>
                  <a:pt x="0" y="0"/>
                </a:lnTo>
                <a:close/>
              </a:path>
            </a:pathLst>
          </a:custGeom>
          <a:blipFill>
            <a:blip>
              <a:alphaModFix amt="50000"/>
              <a:extLst>
                <a:ext uri="{96DAC541-7B7A-43D3-8B79-37D633B846F1}">
                  <asvg:svgBlip xmlns:asvg="http://schemas.microsoft.com/office/drawing/2016/SVG/main" r:embed="rId5"/>
                </a:ext>
              </a:extLst>
            </a:blip>
            <a:stretch>
              <a:fillRect/>
            </a:stretch>
          </a:blipFill>
        </p:spPr>
      </p:sp>
      <p:sp>
        <p:nvSpPr>
          <p:cNvPr id="22" name="Freeform 22"/>
          <p:cNvSpPr/>
          <p:nvPr/>
        </p:nvSpPr>
        <p:spPr>
          <a:xfrm>
            <a:off x="2337112" y="5121447"/>
            <a:ext cx="1602046" cy="1437981"/>
          </a:xfrm>
          <a:custGeom>
            <a:avLst/>
            <a:gdLst/>
            <a:ahLst/>
            <a:cxnLst/>
            <a:rect l="l" t="t" r="r" b="b"/>
            <a:pathLst>
              <a:path w="1602046" h="1437981">
                <a:moveTo>
                  <a:pt x="0" y="0"/>
                </a:moveTo>
                <a:lnTo>
                  <a:pt x="1602046" y="0"/>
                </a:lnTo>
                <a:lnTo>
                  <a:pt x="1602046" y="1437981"/>
                </a:lnTo>
                <a:lnTo>
                  <a:pt x="0" y="1437981"/>
                </a:lnTo>
                <a:lnTo>
                  <a:pt x="0" y="0"/>
                </a:lnTo>
                <a:close/>
              </a:path>
            </a:pathLst>
          </a:custGeom>
          <a:blipFill>
            <a:blip r:embed="rId6"/>
            <a:stretch>
              <a:fillRect/>
            </a:stretch>
          </a:blipFill>
        </p:spPr>
      </p:sp>
      <p:sp>
        <p:nvSpPr>
          <p:cNvPr id="23" name="Freeform 23"/>
          <p:cNvSpPr/>
          <p:nvPr/>
        </p:nvSpPr>
        <p:spPr>
          <a:xfrm>
            <a:off x="6237507" y="5145535"/>
            <a:ext cx="1621902" cy="1432595"/>
          </a:xfrm>
          <a:custGeom>
            <a:avLst/>
            <a:gdLst/>
            <a:ahLst/>
            <a:cxnLst/>
            <a:rect l="l" t="t" r="r" b="b"/>
            <a:pathLst>
              <a:path w="1621902" h="1432595">
                <a:moveTo>
                  <a:pt x="0" y="0"/>
                </a:moveTo>
                <a:lnTo>
                  <a:pt x="1621903" y="0"/>
                </a:lnTo>
                <a:lnTo>
                  <a:pt x="1621903" y="1432595"/>
                </a:lnTo>
                <a:lnTo>
                  <a:pt x="0" y="1432595"/>
                </a:lnTo>
                <a:lnTo>
                  <a:pt x="0" y="0"/>
                </a:lnTo>
                <a:close/>
              </a:path>
            </a:pathLst>
          </a:custGeom>
          <a:blipFill>
            <a:blip r:embed="rId7"/>
            <a:stretch>
              <a:fillRect/>
            </a:stretch>
          </a:blipFill>
        </p:spPr>
      </p:sp>
      <p:sp>
        <p:nvSpPr>
          <p:cNvPr id="24" name="Freeform 24"/>
          <p:cNvSpPr/>
          <p:nvPr/>
        </p:nvSpPr>
        <p:spPr>
          <a:xfrm>
            <a:off x="10508634" y="5174788"/>
            <a:ext cx="1554829" cy="1138954"/>
          </a:xfrm>
          <a:custGeom>
            <a:avLst/>
            <a:gdLst/>
            <a:ahLst/>
            <a:cxnLst/>
            <a:rect l="l" t="t" r="r" b="b"/>
            <a:pathLst>
              <a:path w="1554829" h="1138954">
                <a:moveTo>
                  <a:pt x="0" y="0"/>
                </a:moveTo>
                <a:lnTo>
                  <a:pt x="1554829" y="0"/>
                </a:lnTo>
                <a:lnTo>
                  <a:pt x="1554829" y="1138954"/>
                </a:lnTo>
                <a:lnTo>
                  <a:pt x="0" y="1138954"/>
                </a:lnTo>
                <a:lnTo>
                  <a:pt x="0" y="0"/>
                </a:lnTo>
                <a:close/>
              </a:path>
            </a:pathLst>
          </a:custGeom>
          <a:blipFill>
            <a:blip r:embed="rId8"/>
            <a:stretch>
              <a:fillRect/>
            </a:stretch>
          </a:blipFill>
        </p:spPr>
      </p:sp>
      <p:sp>
        <p:nvSpPr>
          <p:cNvPr id="25" name="Freeform 25"/>
          <p:cNvSpPr/>
          <p:nvPr/>
        </p:nvSpPr>
        <p:spPr>
          <a:xfrm>
            <a:off x="14784175" y="5144724"/>
            <a:ext cx="1207811" cy="1258136"/>
          </a:xfrm>
          <a:custGeom>
            <a:avLst/>
            <a:gdLst/>
            <a:ahLst/>
            <a:cxnLst/>
            <a:rect l="l" t="t" r="r" b="b"/>
            <a:pathLst>
              <a:path w="1207811" h="1258136">
                <a:moveTo>
                  <a:pt x="0" y="0"/>
                </a:moveTo>
                <a:lnTo>
                  <a:pt x="1207811" y="0"/>
                </a:lnTo>
                <a:lnTo>
                  <a:pt x="1207811" y="1258136"/>
                </a:lnTo>
                <a:lnTo>
                  <a:pt x="0" y="1258136"/>
                </a:lnTo>
                <a:lnTo>
                  <a:pt x="0" y="0"/>
                </a:lnTo>
                <a:close/>
              </a:path>
            </a:pathLst>
          </a:custGeom>
          <a:blipFill>
            <a:blip r:embed="rId9"/>
            <a:stretch>
              <a:fillRect/>
            </a:stretch>
          </a:blipFill>
        </p:spPr>
      </p:sp>
      <p:sp>
        <p:nvSpPr>
          <p:cNvPr id="26" name="TextBox 26"/>
          <p:cNvSpPr txBox="1"/>
          <p:nvPr/>
        </p:nvSpPr>
        <p:spPr>
          <a:xfrm>
            <a:off x="5934463" y="2453802"/>
            <a:ext cx="6419071" cy="751102"/>
          </a:xfrm>
          <a:prstGeom prst="rect">
            <a:avLst/>
          </a:prstGeom>
        </p:spPr>
        <p:txBody>
          <a:bodyPr lIns="0" tIns="0" rIns="0" bIns="0" rtlCol="0" anchor="t">
            <a:spAutoFit/>
          </a:bodyPr>
          <a:lstStyle/>
          <a:p>
            <a:pPr marL="0" lvl="0" indent="0" algn="ctr">
              <a:lnSpc>
                <a:spcPts val="5647"/>
              </a:lnSpc>
            </a:pPr>
            <a:r>
              <a:rPr lang="en-US" sz="5822" b="1" dirty="0">
                <a:solidFill>
                  <a:srgbClr val="A94BC6"/>
                </a:solidFill>
                <a:latin typeface="TT Interphases Bold"/>
                <a:ea typeface="TT Interphases Bold"/>
                <a:cs typeface="TT Interphases Bold"/>
                <a:sym typeface="TT Interphases Bold"/>
              </a:rPr>
              <a:t>System Synopsis</a:t>
            </a:r>
          </a:p>
        </p:txBody>
      </p:sp>
      <p:sp>
        <p:nvSpPr>
          <p:cNvPr id="27" name="TextBox 27"/>
          <p:cNvSpPr txBox="1"/>
          <p:nvPr/>
        </p:nvSpPr>
        <p:spPr>
          <a:xfrm>
            <a:off x="1628388" y="3297237"/>
            <a:ext cx="15031223" cy="659557"/>
          </a:xfrm>
          <a:prstGeom prst="rect">
            <a:avLst/>
          </a:prstGeom>
        </p:spPr>
        <p:txBody>
          <a:bodyPr lIns="0" tIns="0" rIns="0" bIns="0" rtlCol="0" anchor="t">
            <a:spAutoFit/>
          </a:bodyPr>
          <a:lstStyle/>
          <a:p>
            <a:pPr marL="0" lvl="0" indent="0" algn="ctr">
              <a:lnSpc>
                <a:spcPts val="2686"/>
              </a:lnSpc>
            </a:pPr>
            <a:r>
              <a:rPr lang="en-US" sz="2066">
                <a:solidFill>
                  <a:srgbClr val="FFFFFF"/>
                </a:solidFill>
                <a:latin typeface="TT Interphases"/>
                <a:ea typeface="TT Interphases"/>
                <a:cs typeface="TT Interphases"/>
                <a:sym typeface="TT Interphases"/>
              </a:rPr>
              <a:t>A Flask-based web application integrating deep learning, computer vision and Explainable AI. The system processes facial images through a structured pipeline — from user input and AI analysis to result output and administrative management.</a:t>
            </a:r>
          </a:p>
        </p:txBody>
      </p:sp>
      <p:sp>
        <p:nvSpPr>
          <p:cNvPr id="28" name="TextBox 28"/>
          <p:cNvSpPr txBox="1"/>
          <p:nvPr/>
        </p:nvSpPr>
        <p:spPr>
          <a:xfrm>
            <a:off x="1532293" y="7259402"/>
            <a:ext cx="2819031" cy="294322"/>
          </a:xfrm>
          <a:prstGeom prst="rect">
            <a:avLst/>
          </a:prstGeom>
        </p:spPr>
        <p:txBody>
          <a:bodyPr lIns="0" tIns="0" rIns="0" bIns="0" rtlCol="0" anchor="t">
            <a:spAutoFit/>
          </a:bodyPr>
          <a:lstStyle/>
          <a:p>
            <a:pPr marL="0" lvl="0" indent="0" algn="ctr">
              <a:lnSpc>
                <a:spcPts val="2182"/>
              </a:lnSpc>
            </a:pPr>
            <a:r>
              <a:rPr lang="en-US" sz="2250" b="1">
                <a:solidFill>
                  <a:srgbClr val="FFFFFF"/>
                </a:solidFill>
                <a:latin typeface="TT Interphases Bold"/>
                <a:ea typeface="TT Interphases Bold"/>
                <a:cs typeface="TT Interphases Bold"/>
                <a:sym typeface="TT Interphases Bold"/>
              </a:rPr>
              <a:t>INPUT</a:t>
            </a:r>
          </a:p>
        </p:txBody>
      </p:sp>
      <p:sp>
        <p:nvSpPr>
          <p:cNvPr id="29" name="TextBox 29"/>
          <p:cNvSpPr txBox="1"/>
          <p:nvPr/>
        </p:nvSpPr>
        <p:spPr>
          <a:xfrm>
            <a:off x="5646717" y="7259402"/>
            <a:ext cx="2888937" cy="294322"/>
          </a:xfrm>
          <a:prstGeom prst="rect">
            <a:avLst/>
          </a:prstGeom>
        </p:spPr>
        <p:txBody>
          <a:bodyPr lIns="0" tIns="0" rIns="0" bIns="0" rtlCol="0" anchor="t">
            <a:spAutoFit/>
          </a:bodyPr>
          <a:lstStyle/>
          <a:p>
            <a:pPr marL="0" lvl="0" indent="0" algn="ctr">
              <a:lnSpc>
                <a:spcPts val="2182"/>
              </a:lnSpc>
            </a:pPr>
            <a:r>
              <a:rPr lang="en-US" sz="2250" b="1">
                <a:solidFill>
                  <a:srgbClr val="FFFFFF"/>
                </a:solidFill>
                <a:latin typeface="TT Interphases Bold"/>
                <a:ea typeface="TT Interphases Bold"/>
                <a:cs typeface="TT Interphases Bold"/>
                <a:sym typeface="TT Interphases Bold"/>
              </a:rPr>
              <a:t>AI ANALYSIS</a:t>
            </a:r>
          </a:p>
        </p:txBody>
      </p:sp>
      <p:sp>
        <p:nvSpPr>
          <p:cNvPr id="30" name="TextBox 30"/>
          <p:cNvSpPr txBox="1"/>
          <p:nvPr/>
        </p:nvSpPr>
        <p:spPr>
          <a:xfrm>
            <a:off x="1303777" y="8376285"/>
            <a:ext cx="3276063" cy="476405"/>
          </a:xfrm>
          <a:prstGeom prst="rect">
            <a:avLst/>
          </a:prstGeom>
        </p:spPr>
        <p:txBody>
          <a:bodyPr lIns="0" tIns="0" rIns="0" bIns="0" rtlCol="0" anchor="t">
            <a:spAutoFit/>
          </a:bodyPr>
          <a:lstStyle/>
          <a:p>
            <a:pPr marL="0" lvl="0" indent="0" algn="ctr">
              <a:lnSpc>
                <a:spcPts val="1934"/>
              </a:lnSpc>
            </a:pPr>
            <a:r>
              <a:rPr lang="en-US" sz="1487">
                <a:solidFill>
                  <a:srgbClr val="FFFFFF"/>
                </a:solidFill>
                <a:latin typeface="TT Interphases"/>
                <a:ea typeface="TT Interphases"/>
                <a:cs typeface="TT Interphases"/>
                <a:sym typeface="TT Interphases"/>
              </a:rPr>
              <a:t>User login, facial image upload, image validation and preprocessing pipeline.</a:t>
            </a:r>
          </a:p>
        </p:txBody>
      </p:sp>
      <p:sp>
        <p:nvSpPr>
          <p:cNvPr id="31" name="TextBox 31"/>
          <p:cNvSpPr txBox="1"/>
          <p:nvPr/>
        </p:nvSpPr>
        <p:spPr>
          <a:xfrm>
            <a:off x="5453154" y="8376285"/>
            <a:ext cx="3276063" cy="714530"/>
          </a:xfrm>
          <a:prstGeom prst="rect">
            <a:avLst/>
          </a:prstGeom>
        </p:spPr>
        <p:txBody>
          <a:bodyPr lIns="0" tIns="0" rIns="0" bIns="0" rtlCol="0" anchor="t">
            <a:spAutoFit/>
          </a:bodyPr>
          <a:lstStyle/>
          <a:p>
            <a:pPr marL="0" lvl="0" indent="0" algn="ctr">
              <a:lnSpc>
                <a:spcPts val="1934"/>
              </a:lnSpc>
            </a:pPr>
            <a:r>
              <a:rPr lang="en-US" sz="1487">
                <a:solidFill>
                  <a:srgbClr val="FFFFFF"/>
                </a:solidFill>
                <a:latin typeface="TT Interphases"/>
                <a:ea typeface="TT Interphases"/>
                <a:cs typeface="TT Interphases"/>
                <a:sym typeface="TT Interphases"/>
              </a:rPr>
              <a:t>Face detection, feature extraction, deep learning model, prediction, confidence score, Grad-CAM heatmap.</a:t>
            </a:r>
          </a:p>
        </p:txBody>
      </p:sp>
      <p:sp>
        <p:nvSpPr>
          <p:cNvPr id="32" name="TextBox 32"/>
          <p:cNvSpPr txBox="1"/>
          <p:nvPr/>
        </p:nvSpPr>
        <p:spPr>
          <a:xfrm>
            <a:off x="9805273" y="7259402"/>
            <a:ext cx="2870580" cy="294322"/>
          </a:xfrm>
          <a:prstGeom prst="rect">
            <a:avLst/>
          </a:prstGeom>
        </p:spPr>
        <p:txBody>
          <a:bodyPr lIns="0" tIns="0" rIns="0" bIns="0" rtlCol="0" anchor="t">
            <a:spAutoFit/>
          </a:bodyPr>
          <a:lstStyle/>
          <a:p>
            <a:pPr marL="0" lvl="0" indent="0" algn="ctr">
              <a:lnSpc>
                <a:spcPts val="2182"/>
              </a:lnSpc>
            </a:pPr>
            <a:r>
              <a:rPr lang="en-US" sz="2250" b="1">
                <a:solidFill>
                  <a:srgbClr val="FFFFFF"/>
                </a:solidFill>
                <a:latin typeface="TT Interphases Bold"/>
                <a:ea typeface="TT Interphases Bold"/>
                <a:cs typeface="TT Interphases Bold"/>
                <a:sym typeface="TT Interphases Bold"/>
              </a:rPr>
              <a:t>OUTPUT</a:t>
            </a:r>
          </a:p>
        </p:txBody>
      </p:sp>
      <p:sp>
        <p:nvSpPr>
          <p:cNvPr id="33" name="TextBox 33"/>
          <p:cNvSpPr txBox="1"/>
          <p:nvPr/>
        </p:nvSpPr>
        <p:spPr>
          <a:xfrm>
            <a:off x="9602531" y="8376285"/>
            <a:ext cx="3276063" cy="714530"/>
          </a:xfrm>
          <a:prstGeom prst="rect">
            <a:avLst/>
          </a:prstGeom>
        </p:spPr>
        <p:txBody>
          <a:bodyPr lIns="0" tIns="0" rIns="0" bIns="0" rtlCol="0" anchor="t">
            <a:spAutoFit/>
          </a:bodyPr>
          <a:lstStyle/>
          <a:p>
            <a:pPr marL="0" lvl="0" indent="0" algn="ctr">
              <a:lnSpc>
                <a:spcPts val="1934"/>
              </a:lnSpc>
            </a:pPr>
            <a:r>
              <a:rPr lang="en-US" sz="1487">
                <a:solidFill>
                  <a:srgbClr val="FFFFFF"/>
                </a:solidFill>
                <a:latin typeface="TT Interphases"/>
                <a:ea typeface="TT Interphases"/>
                <a:cs typeface="TT Interphases"/>
                <a:sym typeface="TT Interphases"/>
              </a:rPr>
              <a:t>Result dashboard, prediction result, confidence score, visual explanation, detection history, report generation.</a:t>
            </a:r>
          </a:p>
        </p:txBody>
      </p:sp>
      <p:sp>
        <p:nvSpPr>
          <p:cNvPr id="34" name="TextBox 34"/>
          <p:cNvSpPr txBox="1"/>
          <p:nvPr/>
        </p:nvSpPr>
        <p:spPr>
          <a:xfrm>
            <a:off x="14329955" y="7259402"/>
            <a:ext cx="2119971" cy="294322"/>
          </a:xfrm>
          <a:prstGeom prst="rect">
            <a:avLst/>
          </a:prstGeom>
        </p:spPr>
        <p:txBody>
          <a:bodyPr lIns="0" tIns="0" rIns="0" bIns="0" rtlCol="0" anchor="t">
            <a:spAutoFit/>
          </a:bodyPr>
          <a:lstStyle/>
          <a:p>
            <a:pPr marL="0" lvl="0" indent="0" algn="ctr">
              <a:lnSpc>
                <a:spcPts val="2182"/>
              </a:lnSpc>
            </a:pPr>
            <a:r>
              <a:rPr lang="en-US" sz="2250" b="1">
                <a:solidFill>
                  <a:srgbClr val="FFFFFF"/>
                </a:solidFill>
                <a:latin typeface="TT Interphases Bold"/>
                <a:ea typeface="TT Interphases Bold"/>
                <a:cs typeface="TT Interphases Bold"/>
                <a:sym typeface="TT Interphases Bold"/>
              </a:rPr>
              <a:t>MANAGEMENT</a:t>
            </a:r>
          </a:p>
        </p:txBody>
      </p:sp>
      <p:sp>
        <p:nvSpPr>
          <p:cNvPr id="35" name="TextBox 35"/>
          <p:cNvSpPr txBox="1"/>
          <p:nvPr/>
        </p:nvSpPr>
        <p:spPr>
          <a:xfrm>
            <a:off x="13751909" y="8376285"/>
            <a:ext cx="3276063" cy="714530"/>
          </a:xfrm>
          <a:prstGeom prst="rect">
            <a:avLst/>
          </a:prstGeom>
        </p:spPr>
        <p:txBody>
          <a:bodyPr lIns="0" tIns="0" rIns="0" bIns="0" rtlCol="0" anchor="t">
            <a:spAutoFit/>
          </a:bodyPr>
          <a:lstStyle/>
          <a:p>
            <a:pPr marL="0" lvl="0" indent="0" algn="ctr">
              <a:lnSpc>
                <a:spcPts val="1934"/>
              </a:lnSpc>
            </a:pPr>
            <a:r>
              <a:rPr lang="en-US" sz="1487">
                <a:solidFill>
                  <a:srgbClr val="FFFFFF"/>
                </a:solidFill>
                <a:latin typeface="TT Interphases"/>
                <a:ea typeface="TT Interphases"/>
                <a:cs typeface="TT Interphases"/>
                <a:sym typeface="TT Interphases"/>
              </a:rPr>
              <a:t>User authentication, database storage, admin dashboard and system administration.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859737">
            <a:off x="-6652224" y="5220931"/>
            <a:ext cx="39717673" cy="5908004"/>
          </a:xfrm>
          <a:custGeom>
            <a:avLst/>
            <a:gdLst/>
            <a:ahLst/>
            <a:cxnLst/>
            <a:rect l="l" t="t" r="r" b="b"/>
            <a:pathLst>
              <a:path w="39717673" h="5908004">
                <a:moveTo>
                  <a:pt x="0" y="0"/>
                </a:moveTo>
                <a:lnTo>
                  <a:pt x="39717673" y="0"/>
                </a:lnTo>
                <a:lnTo>
                  <a:pt x="39717673" y="5908004"/>
                </a:lnTo>
                <a:lnTo>
                  <a:pt x="0" y="5908004"/>
                </a:lnTo>
                <a:lnTo>
                  <a:pt x="0" y="0"/>
                </a:lnTo>
                <a:close/>
              </a:path>
            </a:pathLst>
          </a:custGeom>
          <a:blipFill>
            <a:blip r:embed="rId2">
              <a:alphaModFix amt="15000"/>
            </a:blip>
            <a:stretch>
              <a:fillRect/>
            </a:stretch>
          </a:blipFill>
        </p:spPr>
      </p:sp>
      <p:sp>
        <p:nvSpPr>
          <p:cNvPr id="3" name="Freeform 3"/>
          <p:cNvSpPr/>
          <p:nvPr/>
        </p:nvSpPr>
        <p:spPr>
          <a:xfrm rot="5400000" flipH="1">
            <a:off x="16439008" y="7391920"/>
            <a:ext cx="2220593" cy="4507614"/>
          </a:xfrm>
          <a:custGeom>
            <a:avLst/>
            <a:gdLst/>
            <a:ahLst/>
            <a:cxnLst/>
            <a:rect l="l" t="t" r="r" b="b"/>
            <a:pathLst>
              <a:path w="2220593" h="4507614">
                <a:moveTo>
                  <a:pt x="2220592" y="0"/>
                </a:moveTo>
                <a:lnTo>
                  <a:pt x="0" y="0"/>
                </a:lnTo>
                <a:lnTo>
                  <a:pt x="0" y="4507613"/>
                </a:lnTo>
                <a:lnTo>
                  <a:pt x="2220592" y="4507613"/>
                </a:lnTo>
                <a:lnTo>
                  <a:pt x="2220592" y="0"/>
                </a:lnTo>
                <a:close/>
              </a:path>
            </a:pathLst>
          </a:custGeom>
          <a:blipFill>
            <a:blip r:embed="rId3"/>
            <a:stretch>
              <a:fillRect/>
            </a:stretch>
          </a:blipFill>
        </p:spPr>
      </p:sp>
      <p:sp>
        <p:nvSpPr>
          <p:cNvPr id="4" name="Freeform 4"/>
          <p:cNvSpPr/>
          <p:nvPr/>
        </p:nvSpPr>
        <p:spPr>
          <a:xfrm rot="5400000" flipV="1">
            <a:off x="-279147" y="-1633942"/>
            <a:ext cx="2490075" cy="5054639"/>
          </a:xfrm>
          <a:custGeom>
            <a:avLst/>
            <a:gdLst/>
            <a:ahLst/>
            <a:cxnLst/>
            <a:rect l="l" t="t" r="r" b="b"/>
            <a:pathLst>
              <a:path w="2490075" h="5054639">
                <a:moveTo>
                  <a:pt x="0" y="5054639"/>
                </a:moveTo>
                <a:lnTo>
                  <a:pt x="2490075" y="5054639"/>
                </a:lnTo>
                <a:lnTo>
                  <a:pt x="2490075" y="0"/>
                </a:lnTo>
                <a:lnTo>
                  <a:pt x="0" y="0"/>
                </a:lnTo>
                <a:lnTo>
                  <a:pt x="0" y="5054639"/>
                </a:lnTo>
                <a:close/>
              </a:path>
            </a:pathLst>
          </a:custGeom>
          <a:blipFill>
            <a:blip r:embed="rId3"/>
            <a:stretch>
              <a:fillRect/>
            </a:stretch>
          </a:blipFill>
        </p:spPr>
      </p:sp>
      <p:sp>
        <p:nvSpPr>
          <p:cNvPr id="5" name="TextBox 5"/>
          <p:cNvSpPr txBox="1"/>
          <p:nvPr/>
        </p:nvSpPr>
        <p:spPr>
          <a:xfrm>
            <a:off x="11079818" y="1181100"/>
            <a:ext cx="6179482" cy="909176"/>
          </a:xfrm>
          <a:prstGeom prst="rect">
            <a:avLst/>
          </a:prstGeom>
        </p:spPr>
        <p:txBody>
          <a:bodyPr lIns="0" tIns="0" rIns="0" bIns="0" rtlCol="0" anchor="t">
            <a:spAutoFit/>
          </a:bodyPr>
          <a:lstStyle/>
          <a:p>
            <a:pPr marL="0" lvl="0" indent="0" algn="r">
              <a:lnSpc>
                <a:spcPts val="6785"/>
              </a:lnSpc>
            </a:pPr>
            <a:r>
              <a:rPr lang="en-US" sz="6995">
                <a:solidFill>
                  <a:srgbClr val="FFFFFF"/>
                </a:solidFill>
                <a:latin typeface="TT Interphases"/>
                <a:ea typeface="TT Interphases"/>
                <a:cs typeface="TT Interphases"/>
                <a:sym typeface="TT Interphases"/>
              </a:rPr>
              <a:t>System</a:t>
            </a:r>
          </a:p>
        </p:txBody>
      </p:sp>
      <p:sp>
        <p:nvSpPr>
          <p:cNvPr id="6" name="TextBox 6"/>
          <p:cNvSpPr txBox="1"/>
          <p:nvPr/>
        </p:nvSpPr>
        <p:spPr>
          <a:xfrm>
            <a:off x="7805912" y="2088798"/>
            <a:ext cx="9453388" cy="909176"/>
          </a:xfrm>
          <a:prstGeom prst="rect">
            <a:avLst/>
          </a:prstGeom>
        </p:spPr>
        <p:txBody>
          <a:bodyPr lIns="0" tIns="0" rIns="0" bIns="0" rtlCol="0" anchor="t">
            <a:spAutoFit/>
          </a:bodyPr>
          <a:lstStyle/>
          <a:p>
            <a:pPr marL="0" lvl="0" indent="0" algn="r">
              <a:lnSpc>
                <a:spcPts val="6785"/>
              </a:lnSpc>
            </a:pPr>
            <a:r>
              <a:rPr lang="en-US" sz="6995" b="1">
                <a:solidFill>
                  <a:srgbClr val="A94BC6"/>
                </a:solidFill>
                <a:latin typeface="TT Interphases Bold"/>
                <a:ea typeface="TT Interphases Bold"/>
                <a:cs typeface="TT Interphases Bold"/>
                <a:sym typeface="TT Interphases Bold"/>
              </a:rPr>
              <a:t>Architecture</a:t>
            </a:r>
          </a:p>
        </p:txBody>
      </p:sp>
      <p:grpSp>
        <p:nvGrpSpPr>
          <p:cNvPr id="8" name="Group 8"/>
          <p:cNvGrpSpPr/>
          <p:nvPr/>
        </p:nvGrpSpPr>
        <p:grpSpPr>
          <a:xfrm>
            <a:off x="10236796" y="3581660"/>
            <a:ext cx="6068894" cy="629296"/>
            <a:chOff x="0" y="0"/>
            <a:chExt cx="8091859" cy="839061"/>
          </a:xfrm>
        </p:grpSpPr>
        <p:grpSp>
          <p:nvGrpSpPr>
            <p:cNvPr id="9" name="Group 9"/>
            <p:cNvGrpSpPr/>
            <p:nvPr/>
          </p:nvGrpSpPr>
          <p:grpSpPr>
            <a:xfrm>
              <a:off x="0" y="0"/>
              <a:ext cx="8091859" cy="839061"/>
              <a:chOff x="0" y="0"/>
              <a:chExt cx="3298963" cy="342076"/>
            </a:xfrm>
          </p:grpSpPr>
          <p:sp>
            <p:nvSpPr>
              <p:cNvPr id="10" name="Freeform 10"/>
              <p:cNvSpPr/>
              <p:nvPr/>
            </p:nvSpPr>
            <p:spPr>
              <a:xfrm>
                <a:off x="0" y="0"/>
                <a:ext cx="3298963" cy="342076"/>
              </a:xfrm>
              <a:custGeom>
                <a:avLst/>
                <a:gdLst/>
                <a:ahLst/>
                <a:cxnLst/>
                <a:rect l="l" t="t" r="r" b="b"/>
                <a:pathLst>
                  <a:path w="3298963" h="342076">
                    <a:moveTo>
                      <a:pt x="3095763" y="0"/>
                    </a:moveTo>
                    <a:cubicBezTo>
                      <a:pt x="3207987" y="0"/>
                      <a:pt x="3298963" y="76576"/>
                      <a:pt x="3298963" y="171038"/>
                    </a:cubicBezTo>
                    <a:cubicBezTo>
                      <a:pt x="3298963" y="265500"/>
                      <a:pt x="3207987" y="342076"/>
                      <a:pt x="3095763" y="342076"/>
                    </a:cubicBezTo>
                    <a:lnTo>
                      <a:pt x="203200" y="342076"/>
                    </a:lnTo>
                    <a:cubicBezTo>
                      <a:pt x="90976" y="342076"/>
                      <a:pt x="0" y="265500"/>
                      <a:pt x="0" y="171038"/>
                    </a:cubicBezTo>
                    <a:cubicBezTo>
                      <a:pt x="0" y="765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1" name="TextBox 11"/>
              <p:cNvSpPr txBox="1"/>
              <p:nvPr/>
            </p:nvSpPr>
            <p:spPr>
              <a:xfrm>
                <a:off x="0" y="-57150"/>
                <a:ext cx="3298963" cy="399226"/>
              </a:xfrm>
              <a:prstGeom prst="rect">
                <a:avLst/>
              </a:prstGeom>
            </p:spPr>
            <p:txBody>
              <a:bodyPr lIns="50800" tIns="50800" rIns="50800" bIns="50800" rtlCol="0" anchor="ctr"/>
              <a:lstStyle/>
              <a:p>
                <a:pPr marL="0" lvl="0" indent="0" algn="ctr">
                  <a:lnSpc>
                    <a:spcPts val="3359"/>
                  </a:lnSpc>
                </a:pPr>
                <a:endParaRPr>
                  <a:solidFill>
                    <a:schemeClr val="accent1"/>
                  </a:solidFill>
                </a:endParaRPr>
              </a:p>
            </p:txBody>
          </p:sp>
        </p:grpSp>
        <p:sp>
          <p:nvSpPr>
            <p:cNvPr id="12" name="TextBox 12"/>
            <p:cNvSpPr txBox="1"/>
            <p:nvPr/>
          </p:nvSpPr>
          <p:spPr>
            <a:xfrm>
              <a:off x="533929" y="201663"/>
              <a:ext cx="7024002" cy="444652"/>
            </a:xfrm>
            <a:prstGeom prst="rect">
              <a:avLst/>
            </a:prstGeom>
          </p:spPr>
          <p:txBody>
            <a:bodyPr lIns="0" tIns="0" rIns="0" bIns="0" rtlCol="0" anchor="t">
              <a:spAutoFit/>
            </a:bodyPr>
            <a:lstStyle/>
            <a:p>
              <a:pPr marL="0" lvl="0" indent="0" algn="ctr">
                <a:lnSpc>
                  <a:spcPts val="2628"/>
                </a:lnSpc>
              </a:pPr>
              <a:r>
                <a:rPr lang="en-US" sz="2709" b="1" i="1">
                  <a:solidFill>
                    <a:schemeClr val="accent1"/>
                  </a:solidFill>
                  <a:latin typeface="TT Interphases Bold Italics"/>
                  <a:ea typeface="TT Interphases Bold Italics"/>
                  <a:cs typeface="TT Interphases Bold Italics"/>
                  <a:sym typeface="TT Interphases Bold Italics"/>
                </a:rPr>
                <a:t>Input &amp; Web Interface Layer</a:t>
              </a:r>
            </a:p>
          </p:txBody>
        </p:sp>
      </p:grpSp>
      <p:grpSp>
        <p:nvGrpSpPr>
          <p:cNvPr id="13" name="Group 13"/>
          <p:cNvGrpSpPr/>
          <p:nvPr/>
        </p:nvGrpSpPr>
        <p:grpSpPr>
          <a:xfrm>
            <a:off x="10236796" y="7062511"/>
            <a:ext cx="6068894" cy="629296"/>
            <a:chOff x="0" y="0"/>
            <a:chExt cx="8091859" cy="839061"/>
          </a:xfrm>
        </p:grpSpPr>
        <p:grpSp>
          <p:nvGrpSpPr>
            <p:cNvPr id="14" name="Group 14"/>
            <p:cNvGrpSpPr/>
            <p:nvPr/>
          </p:nvGrpSpPr>
          <p:grpSpPr>
            <a:xfrm>
              <a:off x="0" y="0"/>
              <a:ext cx="8091859" cy="839061"/>
              <a:chOff x="0" y="0"/>
              <a:chExt cx="3298963" cy="342076"/>
            </a:xfrm>
          </p:grpSpPr>
          <p:sp>
            <p:nvSpPr>
              <p:cNvPr id="15" name="Freeform 15"/>
              <p:cNvSpPr/>
              <p:nvPr/>
            </p:nvSpPr>
            <p:spPr>
              <a:xfrm>
                <a:off x="0" y="0"/>
                <a:ext cx="3298963" cy="342076"/>
              </a:xfrm>
              <a:custGeom>
                <a:avLst/>
                <a:gdLst/>
                <a:ahLst/>
                <a:cxnLst/>
                <a:rect l="l" t="t" r="r" b="b"/>
                <a:pathLst>
                  <a:path w="3298963" h="342076">
                    <a:moveTo>
                      <a:pt x="3095763" y="0"/>
                    </a:moveTo>
                    <a:cubicBezTo>
                      <a:pt x="3207987" y="0"/>
                      <a:pt x="3298963" y="76576"/>
                      <a:pt x="3298963" y="171038"/>
                    </a:cubicBezTo>
                    <a:cubicBezTo>
                      <a:pt x="3298963" y="265500"/>
                      <a:pt x="3207987" y="342076"/>
                      <a:pt x="3095763" y="342076"/>
                    </a:cubicBezTo>
                    <a:lnTo>
                      <a:pt x="203200" y="342076"/>
                    </a:lnTo>
                    <a:cubicBezTo>
                      <a:pt x="90976" y="342076"/>
                      <a:pt x="0" y="265500"/>
                      <a:pt x="0" y="171038"/>
                    </a:cubicBezTo>
                    <a:cubicBezTo>
                      <a:pt x="0" y="765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16" name="TextBox 16"/>
              <p:cNvSpPr txBox="1"/>
              <p:nvPr/>
            </p:nvSpPr>
            <p:spPr>
              <a:xfrm>
                <a:off x="0" y="-57150"/>
                <a:ext cx="3298963" cy="399226"/>
              </a:xfrm>
              <a:prstGeom prst="rect">
                <a:avLst/>
              </a:prstGeom>
            </p:spPr>
            <p:txBody>
              <a:bodyPr lIns="50800" tIns="50800" rIns="50800" bIns="50800" rtlCol="0" anchor="ctr"/>
              <a:lstStyle/>
              <a:p>
                <a:pPr marL="0" lvl="0" indent="0" algn="ctr">
                  <a:lnSpc>
                    <a:spcPts val="3359"/>
                  </a:lnSpc>
                </a:pPr>
                <a:endParaRPr>
                  <a:solidFill>
                    <a:schemeClr val="accent1"/>
                  </a:solidFill>
                </a:endParaRPr>
              </a:p>
            </p:txBody>
          </p:sp>
        </p:grpSp>
        <p:sp>
          <p:nvSpPr>
            <p:cNvPr id="17" name="TextBox 17"/>
            <p:cNvSpPr txBox="1"/>
            <p:nvPr/>
          </p:nvSpPr>
          <p:spPr>
            <a:xfrm>
              <a:off x="533929" y="201663"/>
              <a:ext cx="7024002" cy="444652"/>
            </a:xfrm>
            <a:prstGeom prst="rect">
              <a:avLst/>
            </a:prstGeom>
          </p:spPr>
          <p:txBody>
            <a:bodyPr lIns="0" tIns="0" rIns="0" bIns="0" rtlCol="0" anchor="t">
              <a:spAutoFit/>
            </a:bodyPr>
            <a:lstStyle/>
            <a:p>
              <a:pPr marL="0" lvl="0" indent="0" algn="ctr">
                <a:lnSpc>
                  <a:spcPts val="2628"/>
                </a:lnSpc>
              </a:pPr>
              <a:r>
                <a:rPr lang="en-US" sz="2709" b="1" i="1">
                  <a:solidFill>
                    <a:schemeClr val="accent1"/>
                  </a:solidFill>
                  <a:latin typeface="TT Interphases Bold Italics"/>
                  <a:ea typeface="TT Interphases Bold Italics"/>
                  <a:cs typeface="TT Interphases Bold Italics"/>
                  <a:sym typeface="TT Interphases Bold Italics"/>
                </a:rPr>
                <a:t>Database &amp; Admin Dashboard</a:t>
              </a:r>
            </a:p>
          </p:txBody>
        </p:sp>
      </p:grpSp>
      <p:grpSp>
        <p:nvGrpSpPr>
          <p:cNvPr id="18" name="Group 18"/>
          <p:cNvGrpSpPr/>
          <p:nvPr/>
        </p:nvGrpSpPr>
        <p:grpSpPr>
          <a:xfrm>
            <a:off x="10236796" y="4741944"/>
            <a:ext cx="6068894" cy="962671"/>
            <a:chOff x="0" y="0"/>
            <a:chExt cx="8091859" cy="1283561"/>
          </a:xfrm>
        </p:grpSpPr>
        <p:grpSp>
          <p:nvGrpSpPr>
            <p:cNvPr id="19" name="Group 19"/>
            <p:cNvGrpSpPr/>
            <p:nvPr/>
          </p:nvGrpSpPr>
          <p:grpSpPr>
            <a:xfrm>
              <a:off x="0" y="0"/>
              <a:ext cx="8091859" cy="1283561"/>
              <a:chOff x="0" y="0"/>
              <a:chExt cx="3298963" cy="523294"/>
            </a:xfrm>
          </p:grpSpPr>
          <p:sp>
            <p:nvSpPr>
              <p:cNvPr id="20" name="Freeform 20"/>
              <p:cNvSpPr/>
              <p:nvPr/>
            </p:nvSpPr>
            <p:spPr>
              <a:xfrm>
                <a:off x="0" y="0"/>
                <a:ext cx="3298963" cy="523294"/>
              </a:xfrm>
              <a:custGeom>
                <a:avLst/>
                <a:gdLst/>
                <a:ahLst/>
                <a:cxnLst/>
                <a:rect l="l" t="t" r="r" b="b"/>
                <a:pathLst>
                  <a:path w="3298963" h="523294">
                    <a:moveTo>
                      <a:pt x="3095763" y="0"/>
                    </a:moveTo>
                    <a:cubicBezTo>
                      <a:pt x="3207987" y="0"/>
                      <a:pt x="3298963" y="117143"/>
                      <a:pt x="3298963" y="261647"/>
                    </a:cubicBezTo>
                    <a:cubicBezTo>
                      <a:pt x="3298963" y="406150"/>
                      <a:pt x="3207987" y="523294"/>
                      <a:pt x="3095763" y="523294"/>
                    </a:cubicBezTo>
                    <a:lnTo>
                      <a:pt x="203200" y="523294"/>
                    </a:lnTo>
                    <a:cubicBezTo>
                      <a:pt x="90976" y="523294"/>
                      <a:pt x="0" y="406150"/>
                      <a:pt x="0" y="261647"/>
                    </a:cubicBezTo>
                    <a:cubicBezTo>
                      <a:pt x="0" y="117143"/>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1" name="TextBox 21"/>
              <p:cNvSpPr txBox="1"/>
              <p:nvPr/>
            </p:nvSpPr>
            <p:spPr>
              <a:xfrm>
                <a:off x="0" y="-57150"/>
                <a:ext cx="3298963" cy="580444"/>
              </a:xfrm>
              <a:prstGeom prst="rect">
                <a:avLst/>
              </a:prstGeom>
            </p:spPr>
            <p:txBody>
              <a:bodyPr lIns="50800" tIns="50800" rIns="50800" bIns="50800" rtlCol="0" anchor="ctr"/>
              <a:lstStyle/>
              <a:p>
                <a:pPr marL="0" lvl="0" indent="0" algn="ctr">
                  <a:lnSpc>
                    <a:spcPts val="3359"/>
                  </a:lnSpc>
                </a:pPr>
                <a:endParaRPr>
                  <a:solidFill>
                    <a:schemeClr val="accent1"/>
                  </a:solidFill>
                </a:endParaRPr>
              </a:p>
            </p:txBody>
          </p:sp>
        </p:grpSp>
        <p:sp>
          <p:nvSpPr>
            <p:cNvPr id="22" name="TextBox 22"/>
            <p:cNvSpPr txBox="1"/>
            <p:nvPr/>
          </p:nvSpPr>
          <p:spPr>
            <a:xfrm>
              <a:off x="1454869" y="201663"/>
              <a:ext cx="5182122" cy="889218"/>
            </a:xfrm>
            <a:prstGeom prst="rect">
              <a:avLst/>
            </a:prstGeom>
          </p:spPr>
          <p:txBody>
            <a:bodyPr lIns="0" tIns="0" rIns="0" bIns="0" rtlCol="0" anchor="t">
              <a:spAutoFit/>
            </a:bodyPr>
            <a:lstStyle/>
            <a:p>
              <a:pPr marL="0" lvl="0" indent="0" algn="ctr">
                <a:lnSpc>
                  <a:spcPts val="2628"/>
                </a:lnSpc>
              </a:pPr>
              <a:r>
                <a:rPr lang="en-US" sz="2709" b="1" i="1">
                  <a:solidFill>
                    <a:schemeClr val="accent1"/>
                  </a:solidFill>
                  <a:latin typeface="TT Interphases Bold Italics"/>
                  <a:ea typeface="TT Interphases Bold Italics"/>
                  <a:cs typeface="TT Interphases Bold Italics"/>
                  <a:sym typeface="TT Interphases Bold Italics"/>
                </a:rPr>
                <a:t>Flask Backend &amp; AI Model</a:t>
              </a:r>
            </a:p>
          </p:txBody>
        </p:sp>
      </p:grpSp>
      <p:grpSp>
        <p:nvGrpSpPr>
          <p:cNvPr id="23" name="Group 23"/>
          <p:cNvGrpSpPr/>
          <p:nvPr/>
        </p:nvGrpSpPr>
        <p:grpSpPr>
          <a:xfrm>
            <a:off x="10236796" y="5902227"/>
            <a:ext cx="6068894" cy="629296"/>
            <a:chOff x="0" y="0"/>
            <a:chExt cx="8091859" cy="839061"/>
          </a:xfrm>
        </p:grpSpPr>
        <p:grpSp>
          <p:nvGrpSpPr>
            <p:cNvPr id="24" name="Group 24"/>
            <p:cNvGrpSpPr/>
            <p:nvPr/>
          </p:nvGrpSpPr>
          <p:grpSpPr>
            <a:xfrm>
              <a:off x="0" y="0"/>
              <a:ext cx="8091859" cy="839061"/>
              <a:chOff x="0" y="0"/>
              <a:chExt cx="3298963" cy="342076"/>
            </a:xfrm>
          </p:grpSpPr>
          <p:sp>
            <p:nvSpPr>
              <p:cNvPr id="25" name="Freeform 25"/>
              <p:cNvSpPr/>
              <p:nvPr/>
            </p:nvSpPr>
            <p:spPr>
              <a:xfrm>
                <a:off x="0" y="0"/>
                <a:ext cx="3298963" cy="342076"/>
              </a:xfrm>
              <a:custGeom>
                <a:avLst/>
                <a:gdLst/>
                <a:ahLst/>
                <a:cxnLst/>
                <a:rect l="l" t="t" r="r" b="b"/>
                <a:pathLst>
                  <a:path w="3298963" h="342076">
                    <a:moveTo>
                      <a:pt x="3095763" y="0"/>
                    </a:moveTo>
                    <a:cubicBezTo>
                      <a:pt x="3207987" y="0"/>
                      <a:pt x="3298963" y="76576"/>
                      <a:pt x="3298963" y="171038"/>
                    </a:cubicBezTo>
                    <a:cubicBezTo>
                      <a:pt x="3298963" y="265500"/>
                      <a:pt x="3207987" y="342076"/>
                      <a:pt x="3095763" y="342076"/>
                    </a:cubicBezTo>
                    <a:lnTo>
                      <a:pt x="203200" y="342076"/>
                    </a:lnTo>
                    <a:cubicBezTo>
                      <a:pt x="90976" y="342076"/>
                      <a:pt x="0" y="265500"/>
                      <a:pt x="0" y="171038"/>
                    </a:cubicBezTo>
                    <a:cubicBezTo>
                      <a:pt x="0" y="76576"/>
                      <a:pt x="90976" y="0"/>
                      <a:pt x="203200" y="0"/>
                    </a:cubicBezTo>
                    <a:close/>
                  </a:path>
                </a:pathLst>
              </a:custGeom>
              <a:gradFill rotWithShape="1">
                <a:gsLst>
                  <a:gs pos="0">
                    <a:srgbClr val="431F8A">
                      <a:alpha val="100000"/>
                    </a:srgbClr>
                  </a:gs>
                  <a:gs pos="100000">
                    <a:srgbClr val="6A2E90">
                      <a:alpha val="100000"/>
                    </a:srgbClr>
                  </a:gs>
                </a:gsLst>
                <a:lin ang="0"/>
              </a:gradFill>
            </p:spPr>
          </p:sp>
          <p:sp>
            <p:nvSpPr>
              <p:cNvPr id="26" name="TextBox 26"/>
              <p:cNvSpPr txBox="1"/>
              <p:nvPr/>
            </p:nvSpPr>
            <p:spPr>
              <a:xfrm>
                <a:off x="0" y="-57150"/>
                <a:ext cx="3298963" cy="399226"/>
              </a:xfrm>
              <a:prstGeom prst="rect">
                <a:avLst/>
              </a:prstGeom>
            </p:spPr>
            <p:txBody>
              <a:bodyPr lIns="50800" tIns="50800" rIns="50800" bIns="50800" rtlCol="0" anchor="ctr"/>
              <a:lstStyle/>
              <a:p>
                <a:pPr marL="0" lvl="0" indent="0" algn="ctr">
                  <a:lnSpc>
                    <a:spcPts val="3359"/>
                  </a:lnSpc>
                </a:pPr>
                <a:endParaRPr>
                  <a:solidFill>
                    <a:schemeClr val="accent1"/>
                  </a:solidFill>
                </a:endParaRPr>
              </a:p>
            </p:txBody>
          </p:sp>
        </p:grpSp>
        <p:sp>
          <p:nvSpPr>
            <p:cNvPr id="27" name="TextBox 27"/>
            <p:cNvSpPr txBox="1"/>
            <p:nvPr/>
          </p:nvSpPr>
          <p:spPr>
            <a:xfrm>
              <a:off x="533929" y="201663"/>
              <a:ext cx="7024002" cy="444652"/>
            </a:xfrm>
            <a:prstGeom prst="rect">
              <a:avLst/>
            </a:prstGeom>
          </p:spPr>
          <p:txBody>
            <a:bodyPr lIns="0" tIns="0" rIns="0" bIns="0" rtlCol="0" anchor="t">
              <a:spAutoFit/>
            </a:bodyPr>
            <a:lstStyle/>
            <a:p>
              <a:pPr marL="0" lvl="0" indent="0" algn="ctr">
                <a:lnSpc>
                  <a:spcPts val="2628"/>
                </a:lnSpc>
              </a:pPr>
              <a:r>
                <a:rPr lang="en-US" sz="2709" b="1" i="1">
                  <a:solidFill>
                    <a:schemeClr val="accent1"/>
                  </a:solidFill>
                  <a:latin typeface="TT Interphases Bold Italics"/>
                  <a:ea typeface="TT Interphases Bold Italics"/>
                  <a:cs typeface="TT Interphases Bold Italics"/>
                  <a:sym typeface="TT Interphases Bold Italics"/>
                </a:rPr>
                <a:t>Result Dashboard &amp; XAI</a:t>
              </a:r>
            </a:p>
          </p:txBody>
        </p:sp>
      </p:grpSp>
      <p:grpSp>
        <p:nvGrpSpPr>
          <p:cNvPr id="32" name="Group 32"/>
          <p:cNvGrpSpPr/>
          <p:nvPr/>
        </p:nvGrpSpPr>
        <p:grpSpPr>
          <a:xfrm>
            <a:off x="16511672" y="3581660"/>
            <a:ext cx="747628" cy="747628"/>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34" name="TextBox 34"/>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solidFill>
                  <a:schemeClr val="accent1"/>
                </a:solidFill>
              </a:endParaRPr>
            </a:p>
          </p:txBody>
        </p:sp>
      </p:grpSp>
      <p:grpSp>
        <p:nvGrpSpPr>
          <p:cNvPr id="35" name="Group 35"/>
          <p:cNvGrpSpPr/>
          <p:nvPr/>
        </p:nvGrpSpPr>
        <p:grpSpPr>
          <a:xfrm>
            <a:off x="16511672" y="4741944"/>
            <a:ext cx="747628" cy="747628"/>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37" name="TextBox 37"/>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solidFill>
                  <a:schemeClr val="accent1"/>
                </a:solidFill>
              </a:endParaRPr>
            </a:p>
          </p:txBody>
        </p:sp>
      </p:grpSp>
      <p:sp>
        <p:nvSpPr>
          <p:cNvPr id="38" name="Freeform 38"/>
          <p:cNvSpPr/>
          <p:nvPr/>
        </p:nvSpPr>
        <p:spPr>
          <a:xfrm>
            <a:off x="16670880" y="3756710"/>
            <a:ext cx="429212" cy="397529"/>
          </a:xfrm>
          <a:custGeom>
            <a:avLst/>
            <a:gdLst/>
            <a:ahLst/>
            <a:cxnLst/>
            <a:rect l="l" t="t" r="r" b="b"/>
            <a:pathLst>
              <a:path w="429212" h="397529">
                <a:moveTo>
                  <a:pt x="0" y="0"/>
                </a:moveTo>
                <a:lnTo>
                  <a:pt x="429212" y="0"/>
                </a:lnTo>
                <a:lnTo>
                  <a:pt x="429212" y="397529"/>
                </a:lnTo>
                <a:lnTo>
                  <a:pt x="0" y="3975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9" name="Freeform 39"/>
          <p:cNvSpPr/>
          <p:nvPr/>
        </p:nvSpPr>
        <p:spPr>
          <a:xfrm>
            <a:off x="16670880" y="4916993"/>
            <a:ext cx="429212" cy="397529"/>
          </a:xfrm>
          <a:custGeom>
            <a:avLst/>
            <a:gdLst/>
            <a:ahLst/>
            <a:cxnLst/>
            <a:rect l="l" t="t" r="r" b="b"/>
            <a:pathLst>
              <a:path w="429212" h="397529">
                <a:moveTo>
                  <a:pt x="0" y="0"/>
                </a:moveTo>
                <a:lnTo>
                  <a:pt x="429212" y="0"/>
                </a:lnTo>
                <a:lnTo>
                  <a:pt x="429212" y="397529"/>
                </a:lnTo>
                <a:lnTo>
                  <a:pt x="0" y="39752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0" name="Group 40"/>
          <p:cNvGrpSpPr/>
          <p:nvPr/>
        </p:nvGrpSpPr>
        <p:grpSpPr>
          <a:xfrm>
            <a:off x="16511672" y="5902227"/>
            <a:ext cx="747628" cy="747628"/>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42" name="TextBox 42"/>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solidFill>
                  <a:schemeClr val="accent1"/>
                </a:solidFill>
              </a:endParaRPr>
            </a:p>
          </p:txBody>
        </p:sp>
      </p:grpSp>
      <p:grpSp>
        <p:nvGrpSpPr>
          <p:cNvPr id="43" name="Group 43"/>
          <p:cNvGrpSpPr/>
          <p:nvPr/>
        </p:nvGrpSpPr>
        <p:grpSpPr>
          <a:xfrm>
            <a:off x="16511672" y="7062511"/>
            <a:ext cx="747628" cy="747628"/>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45" name="TextBox 45"/>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solidFill>
                  <a:schemeClr val="accent1"/>
                </a:solidFill>
              </a:endParaRPr>
            </a:p>
          </p:txBody>
        </p:sp>
      </p:grpSp>
      <p:sp>
        <p:nvSpPr>
          <p:cNvPr id="46" name="Freeform 46"/>
          <p:cNvSpPr/>
          <p:nvPr/>
        </p:nvSpPr>
        <p:spPr>
          <a:xfrm>
            <a:off x="16670880" y="6077277"/>
            <a:ext cx="429212" cy="397529"/>
          </a:xfrm>
          <a:custGeom>
            <a:avLst/>
            <a:gdLst/>
            <a:ahLst/>
            <a:cxnLst/>
            <a:rect l="l" t="t" r="r" b="b"/>
            <a:pathLst>
              <a:path w="429212" h="397529">
                <a:moveTo>
                  <a:pt x="0" y="0"/>
                </a:moveTo>
                <a:lnTo>
                  <a:pt x="429212" y="0"/>
                </a:lnTo>
                <a:lnTo>
                  <a:pt x="429212" y="397529"/>
                </a:lnTo>
                <a:lnTo>
                  <a:pt x="0" y="3975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7" name="Freeform 47"/>
          <p:cNvSpPr/>
          <p:nvPr/>
        </p:nvSpPr>
        <p:spPr>
          <a:xfrm>
            <a:off x="16670880" y="7237560"/>
            <a:ext cx="429212" cy="397529"/>
          </a:xfrm>
          <a:custGeom>
            <a:avLst/>
            <a:gdLst/>
            <a:ahLst/>
            <a:cxnLst/>
            <a:rect l="l" t="t" r="r" b="b"/>
            <a:pathLst>
              <a:path w="429212" h="397529">
                <a:moveTo>
                  <a:pt x="0" y="0"/>
                </a:moveTo>
                <a:lnTo>
                  <a:pt x="429212" y="0"/>
                </a:lnTo>
                <a:lnTo>
                  <a:pt x="429212" y="397530"/>
                </a:lnTo>
                <a:lnTo>
                  <a:pt x="0" y="39753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8" name="Freeform 48"/>
          <p:cNvSpPr/>
          <p:nvPr/>
        </p:nvSpPr>
        <p:spPr>
          <a:xfrm rot="-10800000">
            <a:off x="4973490" y="-4879192"/>
            <a:ext cx="6852790" cy="6707168"/>
          </a:xfrm>
          <a:custGeom>
            <a:avLst/>
            <a:gdLst/>
            <a:ahLst/>
            <a:cxnLst/>
            <a:rect l="l" t="t" r="r" b="b"/>
            <a:pathLst>
              <a:path w="6852790" h="6707168">
                <a:moveTo>
                  <a:pt x="0" y="0"/>
                </a:moveTo>
                <a:lnTo>
                  <a:pt x="6852790" y="0"/>
                </a:lnTo>
                <a:lnTo>
                  <a:pt x="6852790" y="6707168"/>
                </a:lnTo>
                <a:lnTo>
                  <a:pt x="0" y="6707168"/>
                </a:lnTo>
                <a:lnTo>
                  <a:pt x="0" y="0"/>
                </a:lnTo>
                <a:close/>
              </a:path>
            </a:pathLst>
          </a:custGeom>
          <a:blipFill>
            <a:blip r:embed="rId5">
              <a:alphaModFix amt="50000"/>
            </a:blip>
            <a:stretch>
              <a:fillRect/>
            </a:stretch>
          </a:blipFill>
        </p:spPr>
      </p:sp>
      <p:sp>
        <p:nvSpPr>
          <p:cNvPr id="49" name="Freeform 49"/>
          <p:cNvSpPr/>
          <p:nvPr/>
        </p:nvSpPr>
        <p:spPr>
          <a:xfrm>
            <a:off x="3532326" y="1850218"/>
            <a:ext cx="1971810" cy="240202"/>
          </a:xfrm>
          <a:custGeom>
            <a:avLst/>
            <a:gdLst/>
            <a:ahLst/>
            <a:cxnLst/>
            <a:rect l="l" t="t" r="r" b="b"/>
            <a:pathLst>
              <a:path w="1971810" h="240202">
                <a:moveTo>
                  <a:pt x="0" y="0"/>
                </a:moveTo>
                <a:lnTo>
                  <a:pt x="1971810" y="0"/>
                </a:lnTo>
                <a:lnTo>
                  <a:pt x="1971810" y="240202"/>
                </a:lnTo>
                <a:lnTo>
                  <a:pt x="0" y="24020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50" name="Freeform 50"/>
          <p:cNvSpPr/>
          <p:nvPr/>
        </p:nvSpPr>
        <p:spPr>
          <a:xfrm>
            <a:off x="9442476" y="8682777"/>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a:extLst>
                <a:ext uri="{96DAC541-7B7A-43D3-8B79-37D633B846F1}">
                  <asvg:svgBlip xmlns:asvg="http://schemas.microsoft.com/office/drawing/2016/SVG/main" r:embed="rId7"/>
                </a:ext>
              </a:extLst>
            </a:blip>
            <a:stretch>
              <a:fillRect t="-106388" r="-103152"/>
            </a:stretch>
          </a:blipFill>
        </p:spPr>
      </p:sp>
      <p:pic>
        <p:nvPicPr>
          <p:cNvPr id="52" name="Picture 51">
            <a:extLst>
              <a:ext uri="{FF2B5EF4-FFF2-40B4-BE49-F238E27FC236}">
                <a16:creationId xmlns:a16="http://schemas.microsoft.com/office/drawing/2014/main" id="{85EAF37B-26EB-7A31-6EEA-5F5D3E6D24E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4860" y="-27743"/>
            <a:ext cx="5854253"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2607619">
            <a:off x="-10545853" y="3047410"/>
            <a:ext cx="26264346" cy="6795899"/>
          </a:xfrm>
          <a:custGeom>
            <a:avLst/>
            <a:gdLst/>
            <a:ahLst/>
            <a:cxnLst/>
            <a:rect l="l" t="t" r="r" b="b"/>
            <a:pathLst>
              <a:path w="26264346" h="6795899">
                <a:moveTo>
                  <a:pt x="0" y="0"/>
                </a:moveTo>
                <a:lnTo>
                  <a:pt x="26264346" y="0"/>
                </a:lnTo>
                <a:lnTo>
                  <a:pt x="26264346" y="6795899"/>
                </a:lnTo>
                <a:lnTo>
                  <a:pt x="0" y="6795899"/>
                </a:lnTo>
                <a:lnTo>
                  <a:pt x="0" y="0"/>
                </a:lnTo>
                <a:close/>
              </a:path>
            </a:pathLst>
          </a:custGeom>
          <a:blipFill>
            <a:blip r:embed="rId2">
              <a:alphaModFix amt="15000"/>
            </a:blip>
            <a:stretch>
              <a:fillRect/>
            </a:stretch>
          </a:blipFill>
        </p:spPr>
      </p:sp>
      <p:sp>
        <p:nvSpPr>
          <p:cNvPr id="3" name="Freeform 3"/>
          <p:cNvSpPr/>
          <p:nvPr/>
        </p:nvSpPr>
        <p:spPr>
          <a:xfrm rot="-2610000">
            <a:off x="595709" y="3693261"/>
            <a:ext cx="28314051" cy="6441447"/>
          </a:xfrm>
          <a:custGeom>
            <a:avLst/>
            <a:gdLst/>
            <a:ahLst/>
            <a:cxnLst/>
            <a:rect l="l" t="t" r="r" b="b"/>
            <a:pathLst>
              <a:path w="28314051" h="6441447">
                <a:moveTo>
                  <a:pt x="0" y="0"/>
                </a:moveTo>
                <a:lnTo>
                  <a:pt x="28314051" y="0"/>
                </a:lnTo>
                <a:lnTo>
                  <a:pt x="28314051" y="6441446"/>
                </a:lnTo>
                <a:lnTo>
                  <a:pt x="0" y="6441446"/>
                </a:lnTo>
                <a:lnTo>
                  <a:pt x="0" y="0"/>
                </a:lnTo>
                <a:close/>
              </a:path>
            </a:pathLst>
          </a:custGeom>
          <a:blipFill>
            <a:blip r:embed="rId3">
              <a:alphaModFix amt="15000"/>
            </a:blip>
            <a:stretch>
              <a:fillRect/>
            </a:stretch>
          </a:blipFill>
        </p:spPr>
      </p:sp>
      <p:sp>
        <p:nvSpPr>
          <p:cNvPr id="4" name="Freeform 4"/>
          <p:cNvSpPr/>
          <p:nvPr/>
        </p:nvSpPr>
        <p:spPr>
          <a:xfrm>
            <a:off x="-2766640" y="8593853"/>
            <a:ext cx="5527059" cy="5126347"/>
          </a:xfrm>
          <a:custGeom>
            <a:avLst/>
            <a:gdLst/>
            <a:ahLst/>
            <a:cxnLst/>
            <a:rect l="l" t="t" r="r" b="b"/>
            <a:pathLst>
              <a:path w="5527059" h="5126347">
                <a:moveTo>
                  <a:pt x="0" y="0"/>
                </a:moveTo>
                <a:lnTo>
                  <a:pt x="5527059" y="0"/>
                </a:lnTo>
                <a:lnTo>
                  <a:pt x="5527059" y="5126347"/>
                </a:lnTo>
                <a:lnTo>
                  <a:pt x="0" y="5126347"/>
                </a:lnTo>
                <a:lnTo>
                  <a:pt x="0" y="0"/>
                </a:lnTo>
                <a:close/>
              </a:path>
            </a:pathLst>
          </a:custGeom>
          <a:blipFill>
            <a:blip r:embed="rId4"/>
            <a:stretch>
              <a:fillRect/>
            </a:stretch>
          </a:blipFill>
        </p:spPr>
      </p:sp>
      <p:sp>
        <p:nvSpPr>
          <p:cNvPr id="5" name="Freeform 5"/>
          <p:cNvSpPr/>
          <p:nvPr/>
        </p:nvSpPr>
        <p:spPr>
          <a:xfrm>
            <a:off x="15664775" y="8573257"/>
            <a:ext cx="5255827" cy="5137570"/>
          </a:xfrm>
          <a:custGeom>
            <a:avLst/>
            <a:gdLst/>
            <a:ahLst/>
            <a:cxnLst/>
            <a:rect l="l" t="t" r="r" b="b"/>
            <a:pathLst>
              <a:path w="5255827" h="5137570">
                <a:moveTo>
                  <a:pt x="0" y="0"/>
                </a:moveTo>
                <a:lnTo>
                  <a:pt x="5255826" y="0"/>
                </a:lnTo>
                <a:lnTo>
                  <a:pt x="5255826" y="5137570"/>
                </a:lnTo>
                <a:lnTo>
                  <a:pt x="0" y="5137570"/>
                </a:lnTo>
                <a:lnTo>
                  <a:pt x="0" y="0"/>
                </a:lnTo>
                <a:close/>
              </a:path>
            </a:pathLst>
          </a:custGeom>
          <a:blipFill>
            <a:blip r:embed="rId5"/>
            <a:stretch>
              <a:fillRect/>
            </a:stretch>
          </a:blipFill>
        </p:spPr>
      </p:sp>
      <p:sp>
        <p:nvSpPr>
          <p:cNvPr id="6" name="Freeform 6"/>
          <p:cNvSpPr/>
          <p:nvPr/>
        </p:nvSpPr>
        <p:spPr>
          <a:xfrm>
            <a:off x="17385450" y="726133"/>
            <a:ext cx="1526514" cy="4111822"/>
          </a:xfrm>
          <a:custGeom>
            <a:avLst/>
            <a:gdLst/>
            <a:ahLst/>
            <a:cxnLst/>
            <a:rect l="l" t="t" r="r" b="b"/>
            <a:pathLst>
              <a:path w="1526514" h="4111822">
                <a:moveTo>
                  <a:pt x="0" y="0"/>
                </a:moveTo>
                <a:lnTo>
                  <a:pt x="1526514" y="0"/>
                </a:lnTo>
                <a:lnTo>
                  <a:pt x="1526514" y="4111822"/>
                </a:lnTo>
                <a:lnTo>
                  <a:pt x="0" y="4111822"/>
                </a:lnTo>
                <a:lnTo>
                  <a:pt x="0" y="0"/>
                </a:lnTo>
                <a:close/>
              </a:path>
            </a:pathLst>
          </a:custGeom>
          <a:blipFill>
            <a:blip r:embed="rId6"/>
            <a:stretch>
              <a:fillRect/>
            </a:stretch>
          </a:blipFill>
        </p:spPr>
      </p:sp>
      <p:sp>
        <p:nvSpPr>
          <p:cNvPr id="7" name="Freeform 7"/>
          <p:cNvSpPr/>
          <p:nvPr/>
        </p:nvSpPr>
        <p:spPr>
          <a:xfrm>
            <a:off x="-922148" y="706074"/>
            <a:ext cx="1679173" cy="4120669"/>
          </a:xfrm>
          <a:custGeom>
            <a:avLst/>
            <a:gdLst/>
            <a:ahLst/>
            <a:cxnLst/>
            <a:rect l="l" t="t" r="r" b="b"/>
            <a:pathLst>
              <a:path w="1679173" h="4120669">
                <a:moveTo>
                  <a:pt x="0" y="0"/>
                </a:moveTo>
                <a:lnTo>
                  <a:pt x="1679173" y="0"/>
                </a:lnTo>
                <a:lnTo>
                  <a:pt x="1679173" y="4120669"/>
                </a:lnTo>
                <a:lnTo>
                  <a:pt x="0" y="4120669"/>
                </a:lnTo>
                <a:lnTo>
                  <a:pt x="0" y="0"/>
                </a:lnTo>
                <a:close/>
              </a:path>
            </a:pathLst>
          </a:custGeom>
          <a:blipFill>
            <a:blip r:embed="rId7"/>
            <a:stretch>
              <a:fillRect/>
            </a:stretch>
          </a:blipFill>
        </p:spPr>
      </p:sp>
      <p:grpSp>
        <p:nvGrpSpPr>
          <p:cNvPr id="8" name="Group 8"/>
          <p:cNvGrpSpPr/>
          <p:nvPr/>
        </p:nvGrpSpPr>
        <p:grpSpPr>
          <a:xfrm>
            <a:off x="1481891" y="4802586"/>
            <a:ext cx="2919836" cy="3115504"/>
            <a:chOff x="0" y="0"/>
            <a:chExt cx="769010" cy="820544"/>
          </a:xfrm>
        </p:grpSpPr>
        <p:sp>
          <p:nvSpPr>
            <p:cNvPr id="9" name="Freeform 9"/>
            <p:cNvSpPr/>
            <p:nvPr/>
          </p:nvSpPr>
          <p:spPr>
            <a:xfrm>
              <a:off x="0" y="0"/>
              <a:ext cx="769010" cy="820544"/>
            </a:xfrm>
            <a:custGeom>
              <a:avLst/>
              <a:gdLst/>
              <a:ahLst/>
              <a:cxnLst/>
              <a:rect l="l" t="t" r="r" b="b"/>
              <a:pathLst>
                <a:path w="769010" h="820544">
                  <a:moveTo>
                    <a:pt x="76893" y="0"/>
                  </a:moveTo>
                  <a:lnTo>
                    <a:pt x="692117" y="0"/>
                  </a:lnTo>
                  <a:cubicBezTo>
                    <a:pt x="734584" y="0"/>
                    <a:pt x="769010" y="34426"/>
                    <a:pt x="769010" y="76893"/>
                  </a:cubicBezTo>
                  <a:lnTo>
                    <a:pt x="769010" y="743651"/>
                  </a:lnTo>
                  <a:cubicBezTo>
                    <a:pt x="769010" y="764044"/>
                    <a:pt x="760909" y="783602"/>
                    <a:pt x="746489" y="798023"/>
                  </a:cubicBezTo>
                  <a:cubicBezTo>
                    <a:pt x="732069" y="812443"/>
                    <a:pt x="712510" y="820544"/>
                    <a:pt x="692117" y="820544"/>
                  </a:cubicBezTo>
                  <a:lnTo>
                    <a:pt x="76893" y="820544"/>
                  </a:lnTo>
                  <a:cubicBezTo>
                    <a:pt x="56500" y="820544"/>
                    <a:pt x="36942" y="812443"/>
                    <a:pt x="22522" y="798023"/>
                  </a:cubicBezTo>
                  <a:cubicBezTo>
                    <a:pt x="8101" y="783602"/>
                    <a:pt x="0" y="764044"/>
                    <a:pt x="0" y="743651"/>
                  </a:cubicBezTo>
                  <a:lnTo>
                    <a:pt x="0" y="76893"/>
                  </a:lnTo>
                  <a:cubicBezTo>
                    <a:pt x="0" y="56500"/>
                    <a:pt x="8101" y="36942"/>
                    <a:pt x="22522" y="22522"/>
                  </a:cubicBezTo>
                  <a:cubicBezTo>
                    <a:pt x="36942" y="8101"/>
                    <a:pt x="56500" y="0"/>
                    <a:pt x="76893" y="0"/>
                  </a:cubicBezTo>
                  <a:close/>
                </a:path>
              </a:pathLst>
            </a:custGeom>
            <a:gradFill rotWithShape="1">
              <a:gsLst>
                <a:gs pos="0">
                  <a:srgbClr val="431F8A">
                    <a:alpha val="100000"/>
                  </a:srgbClr>
                </a:gs>
                <a:gs pos="100000">
                  <a:srgbClr val="6A2E90">
                    <a:alpha val="100000"/>
                  </a:srgbClr>
                </a:gs>
              </a:gsLst>
              <a:lin ang="0"/>
            </a:gradFill>
          </p:spPr>
        </p:sp>
        <p:sp>
          <p:nvSpPr>
            <p:cNvPr id="10" name="TextBox 10"/>
            <p:cNvSpPr txBox="1"/>
            <p:nvPr/>
          </p:nvSpPr>
          <p:spPr>
            <a:xfrm>
              <a:off x="0" y="-57150"/>
              <a:ext cx="769010" cy="877694"/>
            </a:xfrm>
            <a:prstGeom prst="rect">
              <a:avLst/>
            </a:prstGeom>
          </p:spPr>
          <p:txBody>
            <a:bodyPr lIns="50800" tIns="50800" rIns="50800" bIns="50800" rtlCol="0" anchor="ctr"/>
            <a:lstStyle/>
            <a:p>
              <a:pPr marL="0" lvl="0" indent="0" algn="ctr">
                <a:lnSpc>
                  <a:spcPts val="3359"/>
                </a:lnSpc>
              </a:pPr>
              <a:endParaRPr/>
            </a:p>
          </p:txBody>
        </p:sp>
      </p:grpSp>
      <p:grpSp>
        <p:nvGrpSpPr>
          <p:cNvPr id="11" name="Group 11"/>
          <p:cNvGrpSpPr/>
          <p:nvPr/>
        </p:nvGrpSpPr>
        <p:grpSpPr>
          <a:xfrm>
            <a:off x="4583840" y="4802586"/>
            <a:ext cx="2919836" cy="3115504"/>
            <a:chOff x="0" y="0"/>
            <a:chExt cx="769010" cy="820544"/>
          </a:xfrm>
        </p:grpSpPr>
        <p:sp>
          <p:nvSpPr>
            <p:cNvPr id="12" name="Freeform 12"/>
            <p:cNvSpPr/>
            <p:nvPr/>
          </p:nvSpPr>
          <p:spPr>
            <a:xfrm>
              <a:off x="0" y="0"/>
              <a:ext cx="769010" cy="820544"/>
            </a:xfrm>
            <a:custGeom>
              <a:avLst/>
              <a:gdLst/>
              <a:ahLst/>
              <a:cxnLst/>
              <a:rect l="l" t="t" r="r" b="b"/>
              <a:pathLst>
                <a:path w="769010" h="820544">
                  <a:moveTo>
                    <a:pt x="76893" y="0"/>
                  </a:moveTo>
                  <a:lnTo>
                    <a:pt x="692117" y="0"/>
                  </a:lnTo>
                  <a:cubicBezTo>
                    <a:pt x="734584" y="0"/>
                    <a:pt x="769010" y="34426"/>
                    <a:pt x="769010" y="76893"/>
                  </a:cubicBezTo>
                  <a:lnTo>
                    <a:pt x="769010" y="743651"/>
                  </a:lnTo>
                  <a:cubicBezTo>
                    <a:pt x="769010" y="764044"/>
                    <a:pt x="760909" y="783602"/>
                    <a:pt x="746489" y="798023"/>
                  </a:cubicBezTo>
                  <a:cubicBezTo>
                    <a:pt x="732069" y="812443"/>
                    <a:pt x="712510" y="820544"/>
                    <a:pt x="692117" y="820544"/>
                  </a:cubicBezTo>
                  <a:lnTo>
                    <a:pt x="76893" y="820544"/>
                  </a:lnTo>
                  <a:cubicBezTo>
                    <a:pt x="56500" y="820544"/>
                    <a:pt x="36942" y="812443"/>
                    <a:pt x="22522" y="798023"/>
                  </a:cubicBezTo>
                  <a:cubicBezTo>
                    <a:pt x="8101" y="783602"/>
                    <a:pt x="0" y="764044"/>
                    <a:pt x="0" y="743651"/>
                  </a:cubicBezTo>
                  <a:lnTo>
                    <a:pt x="0" y="76893"/>
                  </a:lnTo>
                  <a:cubicBezTo>
                    <a:pt x="0" y="56500"/>
                    <a:pt x="8101" y="36942"/>
                    <a:pt x="22522" y="22522"/>
                  </a:cubicBezTo>
                  <a:cubicBezTo>
                    <a:pt x="36942" y="8101"/>
                    <a:pt x="56500" y="0"/>
                    <a:pt x="76893" y="0"/>
                  </a:cubicBezTo>
                  <a:close/>
                </a:path>
              </a:pathLst>
            </a:custGeom>
            <a:gradFill rotWithShape="1">
              <a:gsLst>
                <a:gs pos="0">
                  <a:srgbClr val="431F8A">
                    <a:alpha val="100000"/>
                  </a:srgbClr>
                </a:gs>
                <a:gs pos="100000">
                  <a:srgbClr val="6A2E90">
                    <a:alpha val="100000"/>
                  </a:srgbClr>
                </a:gs>
              </a:gsLst>
              <a:lin ang="0"/>
            </a:gradFill>
          </p:spPr>
        </p:sp>
        <p:sp>
          <p:nvSpPr>
            <p:cNvPr id="13" name="TextBox 13"/>
            <p:cNvSpPr txBox="1"/>
            <p:nvPr/>
          </p:nvSpPr>
          <p:spPr>
            <a:xfrm>
              <a:off x="0" y="-57150"/>
              <a:ext cx="769010" cy="877694"/>
            </a:xfrm>
            <a:prstGeom prst="rect">
              <a:avLst/>
            </a:prstGeom>
          </p:spPr>
          <p:txBody>
            <a:bodyPr lIns="50800" tIns="50800" rIns="50800" bIns="50800" rtlCol="0" anchor="ctr"/>
            <a:lstStyle/>
            <a:p>
              <a:pPr marL="0" lvl="0" indent="0" algn="ctr">
                <a:lnSpc>
                  <a:spcPts val="3359"/>
                </a:lnSpc>
              </a:pPr>
              <a:endParaRPr/>
            </a:p>
          </p:txBody>
        </p:sp>
      </p:grpSp>
      <p:grpSp>
        <p:nvGrpSpPr>
          <p:cNvPr id="14" name="Group 14"/>
          <p:cNvGrpSpPr/>
          <p:nvPr/>
        </p:nvGrpSpPr>
        <p:grpSpPr>
          <a:xfrm>
            <a:off x="7684651" y="4802586"/>
            <a:ext cx="2919836" cy="3115504"/>
            <a:chOff x="0" y="0"/>
            <a:chExt cx="769010" cy="820544"/>
          </a:xfrm>
        </p:grpSpPr>
        <p:sp>
          <p:nvSpPr>
            <p:cNvPr id="15" name="Freeform 15"/>
            <p:cNvSpPr/>
            <p:nvPr/>
          </p:nvSpPr>
          <p:spPr>
            <a:xfrm>
              <a:off x="0" y="0"/>
              <a:ext cx="769010" cy="820544"/>
            </a:xfrm>
            <a:custGeom>
              <a:avLst/>
              <a:gdLst/>
              <a:ahLst/>
              <a:cxnLst/>
              <a:rect l="l" t="t" r="r" b="b"/>
              <a:pathLst>
                <a:path w="769010" h="820544">
                  <a:moveTo>
                    <a:pt x="76893" y="0"/>
                  </a:moveTo>
                  <a:lnTo>
                    <a:pt x="692117" y="0"/>
                  </a:lnTo>
                  <a:cubicBezTo>
                    <a:pt x="734584" y="0"/>
                    <a:pt x="769010" y="34426"/>
                    <a:pt x="769010" y="76893"/>
                  </a:cubicBezTo>
                  <a:lnTo>
                    <a:pt x="769010" y="743651"/>
                  </a:lnTo>
                  <a:cubicBezTo>
                    <a:pt x="769010" y="764044"/>
                    <a:pt x="760909" y="783602"/>
                    <a:pt x="746489" y="798023"/>
                  </a:cubicBezTo>
                  <a:cubicBezTo>
                    <a:pt x="732069" y="812443"/>
                    <a:pt x="712510" y="820544"/>
                    <a:pt x="692117" y="820544"/>
                  </a:cubicBezTo>
                  <a:lnTo>
                    <a:pt x="76893" y="820544"/>
                  </a:lnTo>
                  <a:cubicBezTo>
                    <a:pt x="56500" y="820544"/>
                    <a:pt x="36942" y="812443"/>
                    <a:pt x="22522" y="798023"/>
                  </a:cubicBezTo>
                  <a:cubicBezTo>
                    <a:pt x="8101" y="783602"/>
                    <a:pt x="0" y="764044"/>
                    <a:pt x="0" y="743651"/>
                  </a:cubicBezTo>
                  <a:lnTo>
                    <a:pt x="0" y="76893"/>
                  </a:lnTo>
                  <a:cubicBezTo>
                    <a:pt x="0" y="56500"/>
                    <a:pt x="8101" y="36942"/>
                    <a:pt x="22522" y="22522"/>
                  </a:cubicBezTo>
                  <a:cubicBezTo>
                    <a:pt x="36942" y="8101"/>
                    <a:pt x="56500" y="0"/>
                    <a:pt x="76893" y="0"/>
                  </a:cubicBezTo>
                  <a:close/>
                </a:path>
              </a:pathLst>
            </a:custGeom>
            <a:gradFill rotWithShape="1">
              <a:gsLst>
                <a:gs pos="0">
                  <a:srgbClr val="431F8A">
                    <a:alpha val="100000"/>
                  </a:srgbClr>
                </a:gs>
                <a:gs pos="100000">
                  <a:srgbClr val="6A2E90">
                    <a:alpha val="100000"/>
                  </a:srgbClr>
                </a:gs>
              </a:gsLst>
              <a:lin ang="0"/>
            </a:gradFill>
          </p:spPr>
        </p:sp>
        <p:sp>
          <p:nvSpPr>
            <p:cNvPr id="16" name="TextBox 16"/>
            <p:cNvSpPr txBox="1"/>
            <p:nvPr/>
          </p:nvSpPr>
          <p:spPr>
            <a:xfrm>
              <a:off x="0" y="-57150"/>
              <a:ext cx="769010" cy="877694"/>
            </a:xfrm>
            <a:prstGeom prst="rect">
              <a:avLst/>
            </a:prstGeom>
          </p:spPr>
          <p:txBody>
            <a:bodyPr lIns="50800" tIns="50800" rIns="50800" bIns="50800" rtlCol="0" anchor="ctr"/>
            <a:lstStyle/>
            <a:p>
              <a:pPr marL="0" lvl="0" indent="0" algn="ctr">
                <a:lnSpc>
                  <a:spcPts val="3359"/>
                </a:lnSpc>
              </a:pPr>
              <a:endParaRPr/>
            </a:p>
          </p:txBody>
        </p:sp>
      </p:grpSp>
      <p:sp>
        <p:nvSpPr>
          <p:cNvPr id="17" name="TextBox 17"/>
          <p:cNvSpPr txBox="1"/>
          <p:nvPr/>
        </p:nvSpPr>
        <p:spPr>
          <a:xfrm>
            <a:off x="7010277" y="1143000"/>
            <a:ext cx="4267447" cy="630166"/>
          </a:xfrm>
          <a:prstGeom prst="rect">
            <a:avLst/>
          </a:prstGeom>
        </p:spPr>
        <p:txBody>
          <a:bodyPr lIns="0" tIns="0" rIns="0" bIns="0" rtlCol="0" anchor="t">
            <a:spAutoFit/>
          </a:bodyPr>
          <a:lstStyle/>
          <a:p>
            <a:pPr marL="0" lvl="0" indent="0" algn="ctr">
              <a:lnSpc>
                <a:spcPts val="4794"/>
              </a:lnSpc>
            </a:pPr>
            <a:r>
              <a:rPr lang="en-US" sz="4943">
                <a:solidFill>
                  <a:srgbClr val="FFFFFF"/>
                </a:solidFill>
                <a:latin typeface="TT Interphases"/>
                <a:ea typeface="TT Interphases"/>
                <a:cs typeface="TT Interphases"/>
                <a:sym typeface="TT Interphases"/>
              </a:rPr>
              <a:t>Methodology &amp;</a:t>
            </a:r>
          </a:p>
        </p:txBody>
      </p:sp>
      <p:sp>
        <p:nvSpPr>
          <p:cNvPr id="18" name="TextBox 18"/>
          <p:cNvSpPr txBox="1"/>
          <p:nvPr/>
        </p:nvSpPr>
        <p:spPr>
          <a:xfrm>
            <a:off x="1881823" y="5184306"/>
            <a:ext cx="2119971" cy="445250"/>
          </a:xfrm>
          <a:prstGeom prst="rect">
            <a:avLst/>
          </a:prstGeom>
        </p:spPr>
        <p:txBody>
          <a:bodyPr lIns="0" tIns="0" rIns="0" bIns="0" rtlCol="0" anchor="t">
            <a:spAutoFit/>
          </a:bodyPr>
          <a:lstStyle/>
          <a:p>
            <a:pPr marL="0" lvl="0" indent="0" algn="ctr">
              <a:lnSpc>
                <a:spcPts val="1584"/>
              </a:lnSpc>
            </a:pPr>
            <a:r>
              <a:rPr lang="en-US" sz="2800" b="1">
                <a:solidFill>
                  <a:schemeClr val="accent1"/>
                </a:solidFill>
                <a:latin typeface="TT Interphases Bold"/>
                <a:ea typeface="TT Interphases Bold"/>
                <a:cs typeface="TT Interphases Bold"/>
                <a:sym typeface="TT Interphases Bold"/>
              </a:rPr>
              <a:t>Step 1: Data Collection</a:t>
            </a:r>
          </a:p>
        </p:txBody>
      </p:sp>
      <p:sp>
        <p:nvSpPr>
          <p:cNvPr id="19" name="TextBox 19"/>
          <p:cNvSpPr txBox="1"/>
          <p:nvPr/>
        </p:nvSpPr>
        <p:spPr>
          <a:xfrm>
            <a:off x="4994273" y="5184306"/>
            <a:ext cx="2119971" cy="650434"/>
          </a:xfrm>
          <a:prstGeom prst="rect">
            <a:avLst/>
          </a:prstGeom>
        </p:spPr>
        <p:txBody>
          <a:bodyPr lIns="0" tIns="0" rIns="0" bIns="0" rtlCol="0" anchor="t">
            <a:spAutoFit/>
          </a:bodyPr>
          <a:lstStyle/>
          <a:p>
            <a:pPr marL="0" lvl="0" indent="0" algn="ctr">
              <a:lnSpc>
                <a:spcPts val="1584"/>
              </a:lnSpc>
            </a:pPr>
            <a:r>
              <a:rPr lang="en-US" sz="2800" b="1">
                <a:solidFill>
                  <a:schemeClr val="accent1"/>
                </a:solidFill>
                <a:latin typeface="TT Interphases Bold"/>
                <a:ea typeface="TT Interphases Bold"/>
                <a:cs typeface="TT Interphases Bold"/>
                <a:sym typeface="TT Interphases Bold"/>
              </a:rPr>
              <a:t>Step 2: Preprocessing</a:t>
            </a:r>
          </a:p>
        </p:txBody>
      </p:sp>
      <p:sp>
        <p:nvSpPr>
          <p:cNvPr id="20" name="TextBox 20"/>
          <p:cNvSpPr txBox="1"/>
          <p:nvPr/>
        </p:nvSpPr>
        <p:spPr>
          <a:xfrm>
            <a:off x="4417306" y="2050698"/>
            <a:ext cx="9453388" cy="630166"/>
          </a:xfrm>
          <a:prstGeom prst="rect">
            <a:avLst/>
          </a:prstGeom>
        </p:spPr>
        <p:txBody>
          <a:bodyPr lIns="0" tIns="0" rIns="0" bIns="0" rtlCol="0" anchor="t">
            <a:spAutoFit/>
          </a:bodyPr>
          <a:lstStyle/>
          <a:p>
            <a:pPr marL="0" lvl="0" indent="0" algn="ctr">
              <a:lnSpc>
                <a:spcPts val="4794"/>
              </a:lnSpc>
            </a:pPr>
            <a:r>
              <a:rPr lang="en-US" sz="4943" b="1">
                <a:solidFill>
                  <a:srgbClr val="A94BC6"/>
                </a:solidFill>
                <a:latin typeface="TT Interphases Bold"/>
                <a:ea typeface="TT Interphases Bold"/>
                <a:cs typeface="TT Interphases Bold"/>
                <a:sym typeface="TT Interphases Bold"/>
              </a:rPr>
              <a:t>Expected Outcome</a:t>
            </a:r>
          </a:p>
        </p:txBody>
      </p:sp>
      <p:sp>
        <p:nvSpPr>
          <p:cNvPr id="21" name="TextBox 21"/>
          <p:cNvSpPr txBox="1"/>
          <p:nvPr/>
        </p:nvSpPr>
        <p:spPr>
          <a:xfrm>
            <a:off x="1628388" y="3306762"/>
            <a:ext cx="15031223" cy="862031"/>
          </a:xfrm>
          <a:prstGeom prst="rect">
            <a:avLst/>
          </a:prstGeom>
        </p:spPr>
        <p:txBody>
          <a:bodyPr lIns="0" tIns="0" rIns="0" bIns="0" rtlCol="0" anchor="t">
            <a:spAutoFit/>
          </a:bodyPr>
          <a:lstStyle/>
          <a:p>
            <a:pPr marL="0" lvl="0" indent="0" algn="ctr">
              <a:lnSpc>
                <a:spcPts val="2166"/>
              </a:lnSpc>
            </a:pPr>
            <a:r>
              <a:rPr lang="en-US" sz="2800" dirty="0">
                <a:solidFill>
                  <a:schemeClr val="accent1"/>
                </a:solidFill>
                <a:latin typeface="TT Interphases"/>
                <a:ea typeface="TT Interphases"/>
                <a:cs typeface="TT Interphases"/>
                <a:sym typeface="TT Interphases"/>
              </a:rPr>
              <a:t>A structured six-step pipeline guides AI </a:t>
            </a:r>
            <a:r>
              <a:rPr lang="en-US" sz="2800" dirty="0" err="1">
                <a:solidFill>
                  <a:schemeClr val="accent1"/>
                </a:solidFill>
                <a:latin typeface="TT Interphases"/>
                <a:ea typeface="TT Interphases"/>
                <a:cs typeface="TT Interphases"/>
                <a:sym typeface="TT Interphases"/>
              </a:rPr>
              <a:t>DeepGuard</a:t>
            </a:r>
            <a:r>
              <a:rPr lang="en-US" sz="2800" dirty="0">
                <a:solidFill>
                  <a:schemeClr val="accent1"/>
                </a:solidFill>
                <a:latin typeface="TT Interphases"/>
                <a:ea typeface="TT Interphases"/>
                <a:cs typeface="TT Interphases"/>
                <a:sym typeface="TT Interphases"/>
              </a:rPr>
              <a:t> Detection — from raw data collection through deep learning inference, explainable AI visualization, and persistent result management — ensuring accurate, transparent, and accessible deepfake image detection.</a:t>
            </a:r>
          </a:p>
        </p:txBody>
      </p:sp>
      <p:grpSp>
        <p:nvGrpSpPr>
          <p:cNvPr id="22" name="Group 22"/>
          <p:cNvGrpSpPr/>
          <p:nvPr/>
        </p:nvGrpSpPr>
        <p:grpSpPr>
          <a:xfrm>
            <a:off x="10785462" y="4802586"/>
            <a:ext cx="2919836" cy="3115504"/>
            <a:chOff x="0" y="0"/>
            <a:chExt cx="769010" cy="820544"/>
          </a:xfrm>
        </p:grpSpPr>
        <p:sp>
          <p:nvSpPr>
            <p:cNvPr id="23" name="Freeform 23"/>
            <p:cNvSpPr/>
            <p:nvPr/>
          </p:nvSpPr>
          <p:spPr>
            <a:xfrm>
              <a:off x="0" y="0"/>
              <a:ext cx="769010" cy="820544"/>
            </a:xfrm>
            <a:custGeom>
              <a:avLst/>
              <a:gdLst/>
              <a:ahLst/>
              <a:cxnLst/>
              <a:rect l="l" t="t" r="r" b="b"/>
              <a:pathLst>
                <a:path w="769010" h="820544">
                  <a:moveTo>
                    <a:pt x="76893" y="0"/>
                  </a:moveTo>
                  <a:lnTo>
                    <a:pt x="692117" y="0"/>
                  </a:lnTo>
                  <a:cubicBezTo>
                    <a:pt x="734584" y="0"/>
                    <a:pt x="769010" y="34426"/>
                    <a:pt x="769010" y="76893"/>
                  </a:cubicBezTo>
                  <a:lnTo>
                    <a:pt x="769010" y="743651"/>
                  </a:lnTo>
                  <a:cubicBezTo>
                    <a:pt x="769010" y="764044"/>
                    <a:pt x="760909" y="783602"/>
                    <a:pt x="746489" y="798023"/>
                  </a:cubicBezTo>
                  <a:cubicBezTo>
                    <a:pt x="732069" y="812443"/>
                    <a:pt x="712510" y="820544"/>
                    <a:pt x="692117" y="820544"/>
                  </a:cubicBezTo>
                  <a:lnTo>
                    <a:pt x="76893" y="820544"/>
                  </a:lnTo>
                  <a:cubicBezTo>
                    <a:pt x="56500" y="820544"/>
                    <a:pt x="36942" y="812443"/>
                    <a:pt x="22522" y="798023"/>
                  </a:cubicBezTo>
                  <a:cubicBezTo>
                    <a:pt x="8101" y="783602"/>
                    <a:pt x="0" y="764044"/>
                    <a:pt x="0" y="743651"/>
                  </a:cubicBezTo>
                  <a:lnTo>
                    <a:pt x="0" y="76893"/>
                  </a:lnTo>
                  <a:cubicBezTo>
                    <a:pt x="0" y="56500"/>
                    <a:pt x="8101" y="36942"/>
                    <a:pt x="22522" y="22522"/>
                  </a:cubicBezTo>
                  <a:cubicBezTo>
                    <a:pt x="36942" y="8101"/>
                    <a:pt x="56500" y="0"/>
                    <a:pt x="76893" y="0"/>
                  </a:cubicBezTo>
                  <a:close/>
                </a:path>
              </a:pathLst>
            </a:custGeom>
            <a:gradFill rotWithShape="1">
              <a:gsLst>
                <a:gs pos="0">
                  <a:srgbClr val="431F8A">
                    <a:alpha val="100000"/>
                  </a:srgbClr>
                </a:gs>
                <a:gs pos="100000">
                  <a:srgbClr val="6A2E90">
                    <a:alpha val="100000"/>
                  </a:srgbClr>
                </a:gs>
              </a:gsLst>
              <a:lin ang="0"/>
            </a:gradFill>
          </p:spPr>
        </p:sp>
        <p:sp>
          <p:nvSpPr>
            <p:cNvPr id="24" name="TextBox 24"/>
            <p:cNvSpPr txBox="1"/>
            <p:nvPr/>
          </p:nvSpPr>
          <p:spPr>
            <a:xfrm>
              <a:off x="0" y="-57150"/>
              <a:ext cx="769010" cy="877694"/>
            </a:xfrm>
            <a:prstGeom prst="rect">
              <a:avLst/>
            </a:prstGeom>
          </p:spPr>
          <p:txBody>
            <a:bodyPr lIns="50800" tIns="50800" rIns="50800" bIns="50800" rtlCol="0" anchor="ctr"/>
            <a:lstStyle/>
            <a:p>
              <a:pPr marL="0" lvl="0" indent="0" algn="ctr">
                <a:lnSpc>
                  <a:spcPts val="3359"/>
                </a:lnSpc>
              </a:pPr>
              <a:endParaRPr/>
            </a:p>
          </p:txBody>
        </p:sp>
      </p:grpSp>
      <p:grpSp>
        <p:nvGrpSpPr>
          <p:cNvPr id="25" name="Group 25"/>
          <p:cNvGrpSpPr/>
          <p:nvPr/>
        </p:nvGrpSpPr>
        <p:grpSpPr>
          <a:xfrm>
            <a:off x="13886273" y="4802586"/>
            <a:ext cx="2919836" cy="3115504"/>
            <a:chOff x="0" y="0"/>
            <a:chExt cx="769010" cy="820544"/>
          </a:xfrm>
        </p:grpSpPr>
        <p:sp>
          <p:nvSpPr>
            <p:cNvPr id="26" name="Freeform 26"/>
            <p:cNvSpPr/>
            <p:nvPr/>
          </p:nvSpPr>
          <p:spPr>
            <a:xfrm>
              <a:off x="0" y="0"/>
              <a:ext cx="769010" cy="820544"/>
            </a:xfrm>
            <a:custGeom>
              <a:avLst/>
              <a:gdLst/>
              <a:ahLst/>
              <a:cxnLst/>
              <a:rect l="l" t="t" r="r" b="b"/>
              <a:pathLst>
                <a:path w="769010" h="820544">
                  <a:moveTo>
                    <a:pt x="76893" y="0"/>
                  </a:moveTo>
                  <a:lnTo>
                    <a:pt x="692117" y="0"/>
                  </a:lnTo>
                  <a:cubicBezTo>
                    <a:pt x="734584" y="0"/>
                    <a:pt x="769010" y="34426"/>
                    <a:pt x="769010" y="76893"/>
                  </a:cubicBezTo>
                  <a:lnTo>
                    <a:pt x="769010" y="743651"/>
                  </a:lnTo>
                  <a:cubicBezTo>
                    <a:pt x="769010" y="764044"/>
                    <a:pt x="760909" y="783602"/>
                    <a:pt x="746489" y="798023"/>
                  </a:cubicBezTo>
                  <a:cubicBezTo>
                    <a:pt x="732069" y="812443"/>
                    <a:pt x="712510" y="820544"/>
                    <a:pt x="692117" y="820544"/>
                  </a:cubicBezTo>
                  <a:lnTo>
                    <a:pt x="76893" y="820544"/>
                  </a:lnTo>
                  <a:cubicBezTo>
                    <a:pt x="56500" y="820544"/>
                    <a:pt x="36942" y="812443"/>
                    <a:pt x="22522" y="798023"/>
                  </a:cubicBezTo>
                  <a:cubicBezTo>
                    <a:pt x="8101" y="783602"/>
                    <a:pt x="0" y="764044"/>
                    <a:pt x="0" y="743651"/>
                  </a:cubicBezTo>
                  <a:lnTo>
                    <a:pt x="0" y="76893"/>
                  </a:lnTo>
                  <a:cubicBezTo>
                    <a:pt x="0" y="56500"/>
                    <a:pt x="8101" y="36942"/>
                    <a:pt x="22522" y="22522"/>
                  </a:cubicBezTo>
                  <a:cubicBezTo>
                    <a:pt x="36942" y="8101"/>
                    <a:pt x="56500" y="0"/>
                    <a:pt x="76893" y="0"/>
                  </a:cubicBezTo>
                  <a:close/>
                </a:path>
              </a:pathLst>
            </a:custGeom>
            <a:gradFill rotWithShape="1">
              <a:gsLst>
                <a:gs pos="0">
                  <a:srgbClr val="431F8A">
                    <a:alpha val="100000"/>
                  </a:srgbClr>
                </a:gs>
                <a:gs pos="100000">
                  <a:srgbClr val="6A2E90">
                    <a:alpha val="100000"/>
                  </a:srgbClr>
                </a:gs>
              </a:gsLst>
              <a:lin ang="0"/>
            </a:gradFill>
          </p:spPr>
        </p:sp>
        <p:sp>
          <p:nvSpPr>
            <p:cNvPr id="27" name="TextBox 27"/>
            <p:cNvSpPr txBox="1"/>
            <p:nvPr/>
          </p:nvSpPr>
          <p:spPr>
            <a:xfrm>
              <a:off x="0" y="-57150"/>
              <a:ext cx="769010" cy="877694"/>
            </a:xfrm>
            <a:prstGeom prst="rect">
              <a:avLst/>
            </a:prstGeom>
          </p:spPr>
          <p:txBody>
            <a:bodyPr lIns="50800" tIns="50800" rIns="50800" bIns="50800" rtlCol="0" anchor="ctr"/>
            <a:lstStyle/>
            <a:p>
              <a:pPr marL="0" lvl="0" indent="0" algn="ctr">
                <a:lnSpc>
                  <a:spcPts val="3359"/>
                </a:lnSpc>
              </a:pPr>
              <a:endParaRPr/>
            </a:p>
          </p:txBody>
        </p:sp>
      </p:grpSp>
      <p:sp>
        <p:nvSpPr>
          <p:cNvPr id="28" name="TextBox 28"/>
          <p:cNvSpPr txBox="1"/>
          <p:nvPr/>
        </p:nvSpPr>
        <p:spPr>
          <a:xfrm>
            <a:off x="1671173" y="5835205"/>
            <a:ext cx="2541271" cy="1856919"/>
          </a:xfrm>
          <a:prstGeom prst="rect">
            <a:avLst/>
          </a:prstGeom>
        </p:spPr>
        <p:txBody>
          <a:bodyPr lIns="0" tIns="0" rIns="0" bIns="0" rtlCol="0" anchor="t">
            <a:spAutoFit/>
          </a:bodyPr>
          <a:lstStyle/>
          <a:p>
            <a:pPr marL="0" lvl="0" indent="0" algn="ctr">
              <a:lnSpc>
                <a:spcPts val="1560"/>
              </a:lnSpc>
            </a:pPr>
            <a:r>
              <a:rPr lang="en-US" sz="2000">
                <a:solidFill>
                  <a:schemeClr val="accent1"/>
                </a:solidFill>
                <a:latin typeface="TT Interphases"/>
                <a:ea typeface="TT Interphases"/>
                <a:cs typeface="TT Interphases"/>
                <a:sym typeface="TT Interphases"/>
              </a:rPr>
              <a:t>Collect genuine and deepfake-manipulated facial images from benchmark datasets. Ensure balanced class distribution for robust model training and evaluation.</a:t>
            </a:r>
          </a:p>
        </p:txBody>
      </p:sp>
      <p:sp>
        <p:nvSpPr>
          <p:cNvPr id="29" name="TextBox 29"/>
          <p:cNvSpPr txBox="1"/>
          <p:nvPr/>
        </p:nvSpPr>
        <p:spPr>
          <a:xfrm>
            <a:off x="4783623" y="5835205"/>
            <a:ext cx="2541271" cy="1651734"/>
          </a:xfrm>
          <a:prstGeom prst="rect">
            <a:avLst/>
          </a:prstGeom>
        </p:spPr>
        <p:txBody>
          <a:bodyPr lIns="0" tIns="0" rIns="0" bIns="0" rtlCol="0" anchor="t">
            <a:spAutoFit/>
          </a:bodyPr>
          <a:lstStyle/>
          <a:p>
            <a:pPr marL="0" lvl="0" indent="0" algn="ctr">
              <a:lnSpc>
                <a:spcPts val="1560"/>
              </a:lnSpc>
            </a:pPr>
            <a:r>
              <a:rPr lang="en-US" sz="2000">
                <a:solidFill>
                  <a:schemeClr val="accent1"/>
                </a:solidFill>
                <a:latin typeface="TT Interphases"/>
                <a:ea typeface="TT Interphases"/>
                <a:cs typeface="TT Interphases"/>
                <a:sym typeface="TT Interphases"/>
              </a:rPr>
              <a:t>Resize and normalize images. Detect and extract facial regions using face detection algorithms. Prepare standardized image tensors for model input.</a:t>
            </a:r>
          </a:p>
        </p:txBody>
      </p:sp>
      <p:sp>
        <p:nvSpPr>
          <p:cNvPr id="30" name="TextBox 30"/>
          <p:cNvSpPr txBox="1"/>
          <p:nvPr/>
        </p:nvSpPr>
        <p:spPr>
          <a:xfrm>
            <a:off x="8106723" y="5184306"/>
            <a:ext cx="2119971" cy="445250"/>
          </a:xfrm>
          <a:prstGeom prst="rect">
            <a:avLst/>
          </a:prstGeom>
        </p:spPr>
        <p:txBody>
          <a:bodyPr lIns="0" tIns="0" rIns="0" bIns="0" rtlCol="0" anchor="t">
            <a:spAutoFit/>
          </a:bodyPr>
          <a:lstStyle/>
          <a:p>
            <a:pPr marL="0" lvl="0" indent="0" algn="ctr">
              <a:lnSpc>
                <a:spcPts val="1584"/>
              </a:lnSpc>
            </a:pPr>
            <a:r>
              <a:rPr lang="en-US" sz="2800" b="1">
                <a:solidFill>
                  <a:schemeClr val="accent1"/>
                </a:solidFill>
                <a:latin typeface="TT Interphases Bold"/>
                <a:ea typeface="TT Interphases Bold"/>
                <a:cs typeface="TT Interphases Bold"/>
                <a:sym typeface="TT Interphases Bold"/>
              </a:rPr>
              <a:t>Step 3: DL Analysis</a:t>
            </a:r>
          </a:p>
        </p:txBody>
      </p:sp>
      <p:sp>
        <p:nvSpPr>
          <p:cNvPr id="31" name="TextBox 31"/>
          <p:cNvSpPr txBox="1"/>
          <p:nvPr/>
        </p:nvSpPr>
        <p:spPr>
          <a:xfrm>
            <a:off x="7896073" y="5835205"/>
            <a:ext cx="2541271" cy="1856919"/>
          </a:xfrm>
          <a:prstGeom prst="rect">
            <a:avLst/>
          </a:prstGeom>
        </p:spPr>
        <p:txBody>
          <a:bodyPr lIns="0" tIns="0" rIns="0" bIns="0" rtlCol="0" anchor="t">
            <a:spAutoFit/>
          </a:bodyPr>
          <a:lstStyle/>
          <a:p>
            <a:pPr marL="0" lvl="0" indent="0" algn="ctr">
              <a:lnSpc>
                <a:spcPts val="1560"/>
              </a:lnSpc>
            </a:pPr>
            <a:r>
              <a:rPr lang="en-US" sz="2000">
                <a:solidFill>
                  <a:schemeClr val="accent1"/>
                </a:solidFill>
                <a:latin typeface="TT Interphases"/>
                <a:ea typeface="TT Interphases"/>
                <a:cs typeface="TT Interphases"/>
                <a:sym typeface="TT Interphases"/>
              </a:rPr>
              <a:t>Feed preprocessed facial images into the deep learning model. Extract high-level feature representations for classification using convolutional neural network layers.</a:t>
            </a:r>
          </a:p>
        </p:txBody>
      </p:sp>
      <p:sp>
        <p:nvSpPr>
          <p:cNvPr id="32" name="TextBox 32"/>
          <p:cNvSpPr txBox="1"/>
          <p:nvPr/>
        </p:nvSpPr>
        <p:spPr>
          <a:xfrm>
            <a:off x="11175987" y="5184306"/>
            <a:ext cx="2119971" cy="445250"/>
          </a:xfrm>
          <a:prstGeom prst="rect">
            <a:avLst/>
          </a:prstGeom>
        </p:spPr>
        <p:txBody>
          <a:bodyPr lIns="0" tIns="0" rIns="0" bIns="0" rtlCol="0" anchor="t">
            <a:spAutoFit/>
          </a:bodyPr>
          <a:lstStyle/>
          <a:p>
            <a:pPr marL="0" lvl="0" indent="0" algn="ctr">
              <a:lnSpc>
                <a:spcPts val="1584"/>
              </a:lnSpc>
            </a:pPr>
            <a:r>
              <a:rPr lang="en-US" sz="2800" b="1">
                <a:solidFill>
                  <a:schemeClr val="accent1"/>
                </a:solidFill>
                <a:latin typeface="TT Interphases Bold"/>
                <a:ea typeface="TT Interphases Bold"/>
                <a:cs typeface="TT Interphases Bold"/>
                <a:sym typeface="TT Interphases Bold"/>
              </a:rPr>
              <a:t>Step 4: Prediction</a:t>
            </a:r>
          </a:p>
        </p:txBody>
      </p:sp>
      <p:sp>
        <p:nvSpPr>
          <p:cNvPr id="33" name="TextBox 33"/>
          <p:cNvSpPr txBox="1"/>
          <p:nvPr/>
        </p:nvSpPr>
        <p:spPr>
          <a:xfrm>
            <a:off x="11008523" y="6130480"/>
            <a:ext cx="2541271" cy="1446550"/>
          </a:xfrm>
          <a:prstGeom prst="rect">
            <a:avLst/>
          </a:prstGeom>
        </p:spPr>
        <p:txBody>
          <a:bodyPr lIns="0" tIns="0" rIns="0" bIns="0" rtlCol="0" anchor="t">
            <a:spAutoFit/>
          </a:bodyPr>
          <a:lstStyle/>
          <a:p>
            <a:pPr marL="0" lvl="0" indent="0" algn="ctr">
              <a:lnSpc>
                <a:spcPts val="1560"/>
              </a:lnSpc>
            </a:pPr>
            <a:r>
              <a:rPr lang="en-US" sz="2000">
                <a:solidFill>
                  <a:schemeClr val="accent1"/>
                </a:solidFill>
                <a:latin typeface="TT Interphases"/>
                <a:ea typeface="TT Interphases"/>
                <a:cs typeface="TT Interphases"/>
                <a:sym typeface="TT Interphases"/>
              </a:rPr>
              <a:t>Generate Real / Fake binary classification with associated confidence score. Provide deepfake analysis metrics for result interpretation.</a:t>
            </a:r>
          </a:p>
        </p:txBody>
      </p:sp>
      <p:sp>
        <p:nvSpPr>
          <p:cNvPr id="34" name="TextBox 34"/>
          <p:cNvSpPr txBox="1"/>
          <p:nvPr/>
        </p:nvSpPr>
        <p:spPr>
          <a:xfrm>
            <a:off x="14078189" y="5184306"/>
            <a:ext cx="2536005" cy="445250"/>
          </a:xfrm>
          <a:prstGeom prst="rect">
            <a:avLst/>
          </a:prstGeom>
        </p:spPr>
        <p:txBody>
          <a:bodyPr lIns="0" tIns="0" rIns="0" bIns="0" rtlCol="0" anchor="t">
            <a:spAutoFit/>
          </a:bodyPr>
          <a:lstStyle/>
          <a:p>
            <a:pPr marL="0" lvl="0" indent="0" algn="ctr">
              <a:lnSpc>
                <a:spcPts val="1584"/>
              </a:lnSpc>
            </a:pPr>
            <a:r>
              <a:rPr lang="en-US" sz="2800" b="1">
                <a:solidFill>
                  <a:schemeClr val="accent1"/>
                </a:solidFill>
                <a:latin typeface="TT Interphases Bold"/>
                <a:ea typeface="TT Interphases Bold"/>
                <a:cs typeface="TT Interphases Bold"/>
                <a:sym typeface="TT Interphases Bold"/>
              </a:rPr>
              <a:t>Step 5 &amp; 6: XAI + Results</a:t>
            </a:r>
          </a:p>
        </p:txBody>
      </p:sp>
      <p:sp>
        <p:nvSpPr>
          <p:cNvPr id="35" name="TextBox 35"/>
          <p:cNvSpPr txBox="1"/>
          <p:nvPr/>
        </p:nvSpPr>
        <p:spPr>
          <a:xfrm>
            <a:off x="14120973" y="6130480"/>
            <a:ext cx="2541271" cy="1645579"/>
          </a:xfrm>
          <a:prstGeom prst="rect">
            <a:avLst/>
          </a:prstGeom>
        </p:spPr>
        <p:txBody>
          <a:bodyPr lIns="0" tIns="0" rIns="0" bIns="0" rtlCol="0" anchor="t">
            <a:spAutoFit/>
          </a:bodyPr>
          <a:lstStyle/>
          <a:p>
            <a:pPr marL="0" lvl="0" indent="0" algn="ctr">
              <a:lnSpc>
                <a:spcPts val="1560"/>
              </a:lnSpc>
            </a:pPr>
            <a:r>
              <a:rPr lang="en-US" sz="2000">
                <a:solidFill>
                  <a:schemeClr val="accent1"/>
                </a:solidFill>
                <a:latin typeface="TT Interphases"/>
                <a:ea typeface="TT Interphases"/>
                <a:cs typeface="TT Interphases"/>
                <a:sym typeface="TT Interphases"/>
              </a:rPr>
              <a:t>Grad-CAM heatmap highlights influential image regions. Results displayed on dashboard, stored in database, added to history, and available for report generation.</a:t>
            </a:r>
          </a:p>
        </p:txBody>
      </p:sp>
      <p:sp>
        <p:nvSpPr>
          <p:cNvPr id="36" name="Freeform 36"/>
          <p:cNvSpPr/>
          <p:nvPr/>
        </p:nvSpPr>
        <p:spPr>
          <a:xfrm>
            <a:off x="14495499" y="1188409"/>
            <a:ext cx="2098689" cy="199625"/>
          </a:xfrm>
          <a:custGeom>
            <a:avLst/>
            <a:gdLst/>
            <a:ahLst/>
            <a:cxnLst/>
            <a:rect l="l" t="t" r="r" b="b"/>
            <a:pathLst>
              <a:path w="2098689" h="199625">
                <a:moveTo>
                  <a:pt x="0" y="0"/>
                </a:moveTo>
                <a:lnTo>
                  <a:pt x="2098689" y="0"/>
                </a:lnTo>
                <a:lnTo>
                  <a:pt x="2098689" y="199625"/>
                </a:lnTo>
                <a:lnTo>
                  <a:pt x="0" y="199625"/>
                </a:lnTo>
                <a:lnTo>
                  <a:pt x="0" y="0"/>
                </a:lnTo>
                <a:close/>
              </a:path>
            </a:pathLst>
          </a:custGeom>
          <a:blipFill>
            <a:blip r:embed="rId8"/>
            <a:stretch>
              <a:fillRect/>
            </a:stretch>
          </a:blipFill>
        </p:spPr>
      </p:sp>
      <p:sp>
        <p:nvSpPr>
          <p:cNvPr id="37" name="Freeform 37"/>
          <p:cNvSpPr/>
          <p:nvPr/>
        </p:nvSpPr>
        <p:spPr>
          <a:xfrm>
            <a:off x="1816944" y="1198118"/>
            <a:ext cx="1804049" cy="187170"/>
          </a:xfrm>
          <a:custGeom>
            <a:avLst/>
            <a:gdLst/>
            <a:ahLst/>
            <a:cxnLst/>
            <a:rect l="l" t="t" r="r" b="b"/>
            <a:pathLst>
              <a:path w="1804049" h="187170">
                <a:moveTo>
                  <a:pt x="0" y="0"/>
                </a:moveTo>
                <a:lnTo>
                  <a:pt x="1804050" y="0"/>
                </a:lnTo>
                <a:lnTo>
                  <a:pt x="1804050" y="187170"/>
                </a:lnTo>
                <a:lnTo>
                  <a:pt x="0" y="187170"/>
                </a:lnTo>
                <a:lnTo>
                  <a:pt x="0" y="0"/>
                </a:lnTo>
                <a:close/>
              </a:path>
            </a:pathLst>
          </a:custGeom>
          <a:blipFill>
            <a:blip r:embed="rId9"/>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344591" flipH="1">
            <a:off x="-4148183" y="5002073"/>
            <a:ext cx="20299771" cy="6754287"/>
          </a:xfrm>
          <a:custGeom>
            <a:avLst/>
            <a:gdLst/>
            <a:ahLst/>
            <a:cxnLst/>
            <a:rect l="l" t="t" r="r" b="b"/>
            <a:pathLst>
              <a:path w="20299771" h="6754287">
                <a:moveTo>
                  <a:pt x="20299770" y="0"/>
                </a:moveTo>
                <a:lnTo>
                  <a:pt x="0" y="0"/>
                </a:lnTo>
                <a:lnTo>
                  <a:pt x="0" y="6754287"/>
                </a:lnTo>
                <a:lnTo>
                  <a:pt x="20299770" y="6754287"/>
                </a:lnTo>
                <a:lnTo>
                  <a:pt x="2029977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rot="3975364">
            <a:off x="9101346" y="-6203143"/>
            <a:ext cx="8862696" cy="8878839"/>
          </a:xfrm>
          <a:custGeom>
            <a:avLst/>
            <a:gdLst/>
            <a:ahLst/>
            <a:cxnLst/>
            <a:rect l="l" t="t" r="r" b="b"/>
            <a:pathLst>
              <a:path w="8862696" h="8878839">
                <a:moveTo>
                  <a:pt x="0" y="0"/>
                </a:moveTo>
                <a:lnTo>
                  <a:pt x="8862696" y="0"/>
                </a:lnTo>
                <a:lnTo>
                  <a:pt x="8862696" y="8878839"/>
                </a:lnTo>
                <a:lnTo>
                  <a:pt x="0" y="8878839"/>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2081260" y="1131605"/>
            <a:ext cx="5473190" cy="7763390"/>
          </a:xfrm>
          <a:custGeom>
            <a:avLst/>
            <a:gdLst/>
            <a:ahLst/>
            <a:cxnLst/>
            <a:rect l="l" t="t" r="r" b="b"/>
            <a:pathLst>
              <a:path w="5473190" h="7763390">
                <a:moveTo>
                  <a:pt x="0" y="0"/>
                </a:moveTo>
                <a:lnTo>
                  <a:pt x="5473190" y="0"/>
                </a:lnTo>
                <a:lnTo>
                  <a:pt x="5473190" y="7763390"/>
                </a:lnTo>
                <a:lnTo>
                  <a:pt x="0" y="7763390"/>
                </a:lnTo>
                <a:lnTo>
                  <a:pt x="0" y="0"/>
                </a:lnTo>
                <a:close/>
              </a:path>
            </a:pathLst>
          </a:custGeom>
          <a:blipFill>
            <a:blip r:embed="rId4"/>
            <a:stretch>
              <a:fillRect/>
            </a:stretch>
          </a:blipFill>
        </p:spPr>
      </p:sp>
      <p:grpSp>
        <p:nvGrpSpPr>
          <p:cNvPr id="5" name="Group 5"/>
          <p:cNvGrpSpPr/>
          <p:nvPr/>
        </p:nvGrpSpPr>
        <p:grpSpPr>
          <a:xfrm>
            <a:off x="1028700" y="5143500"/>
            <a:ext cx="643117" cy="64311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7" name="TextBox 7"/>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8" name="Group 8"/>
          <p:cNvGrpSpPr/>
          <p:nvPr/>
        </p:nvGrpSpPr>
        <p:grpSpPr>
          <a:xfrm>
            <a:off x="6192202" y="5143500"/>
            <a:ext cx="643117" cy="64311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0" name="TextBox 10"/>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11" name="Group 11"/>
          <p:cNvGrpSpPr/>
          <p:nvPr/>
        </p:nvGrpSpPr>
        <p:grpSpPr>
          <a:xfrm>
            <a:off x="1028700" y="5956151"/>
            <a:ext cx="643117" cy="64311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3" name="TextBox 13"/>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grpSp>
        <p:nvGrpSpPr>
          <p:cNvPr id="14" name="Group 14"/>
          <p:cNvGrpSpPr/>
          <p:nvPr/>
        </p:nvGrpSpPr>
        <p:grpSpPr>
          <a:xfrm>
            <a:off x="6192202" y="5956151"/>
            <a:ext cx="643117" cy="64311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16" name="TextBox 16"/>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17" name="TextBox 17"/>
          <p:cNvSpPr txBox="1"/>
          <p:nvPr/>
        </p:nvSpPr>
        <p:spPr>
          <a:xfrm>
            <a:off x="1028700" y="1181100"/>
            <a:ext cx="3681189" cy="885158"/>
          </a:xfrm>
          <a:prstGeom prst="rect">
            <a:avLst/>
          </a:prstGeom>
        </p:spPr>
        <p:txBody>
          <a:bodyPr lIns="0" tIns="0" rIns="0" bIns="0" rtlCol="0" anchor="t">
            <a:spAutoFit/>
          </a:bodyPr>
          <a:lstStyle/>
          <a:p>
            <a:pPr marL="0" lvl="0" indent="0" algn="l">
              <a:lnSpc>
                <a:spcPts val="6620"/>
              </a:lnSpc>
            </a:pPr>
            <a:r>
              <a:rPr lang="en-US" sz="6825">
                <a:solidFill>
                  <a:srgbClr val="FFFFFF"/>
                </a:solidFill>
                <a:latin typeface="TT Interphases"/>
                <a:ea typeface="TT Interphases"/>
                <a:cs typeface="TT Interphases"/>
                <a:sym typeface="TT Interphases"/>
              </a:rPr>
              <a:t>Expected</a:t>
            </a:r>
          </a:p>
        </p:txBody>
      </p:sp>
      <p:sp>
        <p:nvSpPr>
          <p:cNvPr id="18" name="TextBox 18"/>
          <p:cNvSpPr txBox="1"/>
          <p:nvPr/>
        </p:nvSpPr>
        <p:spPr>
          <a:xfrm>
            <a:off x="1859918" y="5261160"/>
            <a:ext cx="3512629" cy="187742"/>
          </a:xfrm>
          <a:prstGeom prst="rect">
            <a:avLst/>
          </a:prstGeom>
        </p:spPr>
        <p:txBody>
          <a:bodyPr lIns="0" tIns="0" rIns="0" bIns="0" rtlCol="0" anchor="t">
            <a:spAutoFit/>
          </a:bodyPr>
          <a:lstStyle/>
          <a:p>
            <a:pPr marL="0" lvl="0" indent="0" algn="l">
              <a:lnSpc>
                <a:spcPts val="1489"/>
              </a:lnSpc>
            </a:pPr>
            <a:r>
              <a:rPr lang="en-US" sz="1536">
                <a:solidFill>
                  <a:srgbClr val="FFFFFF"/>
                </a:solidFill>
                <a:latin typeface="TT Interphases"/>
                <a:ea typeface="TT Interphases"/>
                <a:cs typeface="TT Interphases"/>
                <a:sym typeface="TT Interphases"/>
              </a:rPr>
              <a:t>Automated Detection</a:t>
            </a:r>
          </a:p>
        </p:txBody>
      </p:sp>
      <p:sp>
        <p:nvSpPr>
          <p:cNvPr id="19" name="TextBox 19"/>
          <p:cNvSpPr txBox="1"/>
          <p:nvPr/>
        </p:nvSpPr>
        <p:spPr>
          <a:xfrm>
            <a:off x="7023420" y="5261160"/>
            <a:ext cx="3390294" cy="187742"/>
          </a:xfrm>
          <a:prstGeom prst="rect">
            <a:avLst/>
          </a:prstGeom>
        </p:spPr>
        <p:txBody>
          <a:bodyPr lIns="0" tIns="0" rIns="0" bIns="0" rtlCol="0" anchor="t">
            <a:spAutoFit/>
          </a:bodyPr>
          <a:lstStyle/>
          <a:p>
            <a:pPr marL="0" lvl="0" indent="0" algn="l">
              <a:lnSpc>
                <a:spcPts val="1489"/>
              </a:lnSpc>
            </a:pPr>
            <a:r>
              <a:rPr lang="en-US" sz="1536">
                <a:solidFill>
                  <a:srgbClr val="FFFFFF"/>
                </a:solidFill>
                <a:latin typeface="TT Interphases"/>
                <a:ea typeface="TT Interphases"/>
                <a:cs typeface="TT Interphases"/>
                <a:sym typeface="TT Interphases"/>
              </a:rPr>
              <a:t>Real/Fake Prediction</a:t>
            </a:r>
          </a:p>
        </p:txBody>
      </p:sp>
      <p:sp>
        <p:nvSpPr>
          <p:cNvPr id="20" name="TextBox 20"/>
          <p:cNvSpPr txBox="1"/>
          <p:nvPr/>
        </p:nvSpPr>
        <p:spPr>
          <a:xfrm>
            <a:off x="1859918" y="6073811"/>
            <a:ext cx="3128146" cy="187742"/>
          </a:xfrm>
          <a:prstGeom prst="rect">
            <a:avLst/>
          </a:prstGeom>
        </p:spPr>
        <p:txBody>
          <a:bodyPr lIns="0" tIns="0" rIns="0" bIns="0" rtlCol="0" anchor="t">
            <a:spAutoFit/>
          </a:bodyPr>
          <a:lstStyle/>
          <a:p>
            <a:pPr marL="0" lvl="0" indent="0" algn="l">
              <a:lnSpc>
                <a:spcPts val="1489"/>
              </a:lnSpc>
            </a:pPr>
            <a:r>
              <a:rPr lang="en-US" sz="1536">
                <a:solidFill>
                  <a:srgbClr val="FFFFFF"/>
                </a:solidFill>
                <a:latin typeface="TT Interphases"/>
                <a:ea typeface="TT Interphases"/>
                <a:cs typeface="TT Interphases"/>
                <a:sym typeface="TT Interphases"/>
              </a:rPr>
              <a:t>Heatmap Explanation</a:t>
            </a:r>
          </a:p>
        </p:txBody>
      </p:sp>
      <p:sp>
        <p:nvSpPr>
          <p:cNvPr id="21" name="TextBox 21"/>
          <p:cNvSpPr txBox="1"/>
          <p:nvPr/>
        </p:nvSpPr>
        <p:spPr>
          <a:xfrm>
            <a:off x="7023420" y="6073811"/>
            <a:ext cx="2070892" cy="187742"/>
          </a:xfrm>
          <a:prstGeom prst="rect">
            <a:avLst/>
          </a:prstGeom>
        </p:spPr>
        <p:txBody>
          <a:bodyPr lIns="0" tIns="0" rIns="0" bIns="0" rtlCol="0" anchor="t">
            <a:spAutoFit/>
          </a:bodyPr>
          <a:lstStyle/>
          <a:p>
            <a:pPr marL="0" lvl="0" indent="0" algn="l">
              <a:lnSpc>
                <a:spcPts val="1489"/>
              </a:lnSpc>
            </a:pPr>
            <a:r>
              <a:rPr lang="en-US" sz="1536">
                <a:solidFill>
                  <a:srgbClr val="FFFFFF"/>
                </a:solidFill>
                <a:latin typeface="TT Interphases"/>
                <a:ea typeface="TT Interphases"/>
                <a:cs typeface="TT Interphases"/>
                <a:sym typeface="TT Interphases"/>
              </a:rPr>
              <a:t>Report Generation</a:t>
            </a:r>
          </a:p>
        </p:txBody>
      </p:sp>
      <p:sp>
        <p:nvSpPr>
          <p:cNvPr id="22" name="TextBox 22"/>
          <p:cNvSpPr txBox="1"/>
          <p:nvPr/>
        </p:nvSpPr>
        <p:spPr>
          <a:xfrm>
            <a:off x="1028700" y="2088798"/>
            <a:ext cx="6179482" cy="909176"/>
          </a:xfrm>
          <a:prstGeom prst="rect">
            <a:avLst/>
          </a:prstGeom>
        </p:spPr>
        <p:txBody>
          <a:bodyPr lIns="0" tIns="0" rIns="0" bIns="0" rtlCol="0" anchor="t">
            <a:spAutoFit/>
          </a:bodyPr>
          <a:lstStyle/>
          <a:p>
            <a:pPr marL="0" lvl="0" indent="0" algn="l">
              <a:lnSpc>
                <a:spcPts val="6785"/>
              </a:lnSpc>
            </a:pPr>
            <a:r>
              <a:rPr lang="en-US" sz="6995" b="1">
                <a:solidFill>
                  <a:srgbClr val="A94BC6"/>
                </a:solidFill>
                <a:latin typeface="TT Interphases Bold"/>
                <a:ea typeface="TT Interphases Bold"/>
                <a:cs typeface="TT Interphases Bold"/>
                <a:sym typeface="TT Interphases Bold"/>
              </a:rPr>
              <a:t>Outcomes</a:t>
            </a:r>
          </a:p>
        </p:txBody>
      </p:sp>
      <p:sp>
        <p:nvSpPr>
          <p:cNvPr id="23" name="TextBox 23"/>
          <p:cNvSpPr txBox="1"/>
          <p:nvPr/>
        </p:nvSpPr>
        <p:spPr>
          <a:xfrm>
            <a:off x="1028700" y="3324094"/>
            <a:ext cx="9946004" cy="365760"/>
          </a:xfrm>
          <a:prstGeom prst="rect">
            <a:avLst/>
          </a:prstGeom>
        </p:spPr>
        <p:txBody>
          <a:bodyPr lIns="0" tIns="0" rIns="0" bIns="0" rtlCol="0" anchor="t">
            <a:spAutoFit/>
          </a:bodyPr>
          <a:lstStyle/>
          <a:p>
            <a:pPr marL="0" lvl="0" indent="0" algn="l">
              <a:lnSpc>
                <a:spcPts val="1560"/>
              </a:lnSpc>
            </a:pPr>
            <a:r>
              <a:rPr lang="en-US" sz="1200">
                <a:solidFill>
                  <a:srgbClr val="FFFFFF"/>
                </a:solidFill>
                <a:latin typeface="TT Interphases"/>
                <a:ea typeface="TT Interphases"/>
                <a:cs typeface="TT Interphases"/>
                <a:sym typeface="TT Interphases"/>
              </a:rPr>
              <a:t>The AI DeepGuard Detection system delivers a comprehensive, web-based deepfake analysis platform combining deep learning, computer vision, and Explainable AI to provide accurate, transparent, and accessible facial image authenticity verification.</a:t>
            </a:r>
          </a:p>
        </p:txBody>
      </p:sp>
      <p:grpSp>
        <p:nvGrpSpPr>
          <p:cNvPr id="24" name="Group 24"/>
          <p:cNvGrpSpPr/>
          <p:nvPr/>
        </p:nvGrpSpPr>
        <p:grpSpPr>
          <a:xfrm>
            <a:off x="1028700" y="6768802"/>
            <a:ext cx="643117" cy="643117"/>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31F8A">
                    <a:alpha val="100000"/>
                  </a:srgbClr>
                </a:gs>
                <a:gs pos="100000">
                  <a:srgbClr val="6A2E90">
                    <a:alpha val="100000"/>
                  </a:srgbClr>
                </a:gs>
              </a:gsLst>
              <a:lin ang="0"/>
            </a:gradFill>
          </p:spPr>
        </p:sp>
        <p:sp>
          <p:nvSpPr>
            <p:cNvPr id="26" name="TextBox 26"/>
            <p:cNvSpPr txBox="1"/>
            <p:nvPr/>
          </p:nvSpPr>
          <p:spPr>
            <a:xfrm>
              <a:off x="76200" y="19050"/>
              <a:ext cx="660400" cy="717550"/>
            </a:xfrm>
            <a:prstGeom prst="rect">
              <a:avLst/>
            </a:prstGeom>
          </p:spPr>
          <p:txBody>
            <a:bodyPr lIns="50800" tIns="50800" rIns="50800" bIns="50800" rtlCol="0" anchor="ctr"/>
            <a:lstStyle/>
            <a:p>
              <a:pPr marL="0" lvl="0" indent="0" algn="ctr">
                <a:lnSpc>
                  <a:spcPts val="3359"/>
                </a:lnSpc>
              </a:pPr>
              <a:endParaRPr/>
            </a:p>
          </p:txBody>
        </p:sp>
      </p:grpSp>
      <p:sp>
        <p:nvSpPr>
          <p:cNvPr id="27" name="TextBox 27"/>
          <p:cNvSpPr txBox="1"/>
          <p:nvPr/>
        </p:nvSpPr>
        <p:spPr>
          <a:xfrm>
            <a:off x="1859918" y="6886462"/>
            <a:ext cx="6493119" cy="187742"/>
          </a:xfrm>
          <a:prstGeom prst="rect">
            <a:avLst/>
          </a:prstGeom>
        </p:spPr>
        <p:txBody>
          <a:bodyPr lIns="0" tIns="0" rIns="0" bIns="0" rtlCol="0" anchor="t">
            <a:spAutoFit/>
          </a:bodyPr>
          <a:lstStyle/>
          <a:p>
            <a:pPr marL="0" lvl="0" indent="0" algn="l">
              <a:lnSpc>
                <a:spcPts val="1489"/>
              </a:lnSpc>
            </a:pPr>
            <a:r>
              <a:rPr lang="en-US" sz="1536">
                <a:solidFill>
                  <a:srgbClr val="FFFFFF"/>
                </a:solidFill>
                <a:latin typeface="TT Interphases"/>
                <a:ea typeface="TT Interphases"/>
                <a:cs typeface="TT Interphases"/>
                <a:sym typeface="TT Interphases"/>
              </a:rPr>
              <a:t>Secure User &amp; Admin Management</a:t>
            </a:r>
          </a:p>
        </p:txBody>
      </p:sp>
      <p:sp>
        <p:nvSpPr>
          <p:cNvPr id="28" name="Freeform 28"/>
          <p:cNvSpPr/>
          <p:nvPr/>
        </p:nvSpPr>
        <p:spPr>
          <a:xfrm>
            <a:off x="1165652" y="5294079"/>
            <a:ext cx="369212" cy="341958"/>
          </a:xfrm>
          <a:custGeom>
            <a:avLst/>
            <a:gdLst/>
            <a:ahLst/>
            <a:cxnLst/>
            <a:rect l="l" t="t" r="r" b="b"/>
            <a:pathLst>
              <a:path w="369212" h="341958">
                <a:moveTo>
                  <a:pt x="0" y="0"/>
                </a:moveTo>
                <a:lnTo>
                  <a:pt x="369213" y="0"/>
                </a:lnTo>
                <a:lnTo>
                  <a:pt x="369213" y="341959"/>
                </a:lnTo>
                <a:lnTo>
                  <a:pt x="0" y="34195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9" name="Freeform 29"/>
          <p:cNvSpPr/>
          <p:nvPr/>
        </p:nvSpPr>
        <p:spPr>
          <a:xfrm>
            <a:off x="6329154" y="5294079"/>
            <a:ext cx="369212" cy="341958"/>
          </a:xfrm>
          <a:custGeom>
            <a:avLst/>
            <a:gdLst/>
            <a:ahLst/>
            <a:cxnLst/>
            <a:rect l="l" t="t" r="r" b="b"/>
            <a:pathLst>
              <a:path w="369212" h="341958">
                <a:moveTo>
                  <a:pt x="0" y="0"/>
                </a:moveTo>
                <a:lnTo>
                  <a:pt x="369212" y="0"/>
                </a:lnTo>
                <a:lnTo>
                  <a:pt x="369212" y="341959"/>
                </a:lnTo>
                <a:lnTo>
                  <a:pt x="0" y="34195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0" name="Freeform 30"/>
          <p:cNvSpPr/>
          <p:nvPr/>
        </p:nvSpPr>
        <p:spPr>
          <a:xfrm>
            <a:off x="1165652" y="6110467"/>
            <a:ext cx="369212" cy="341958"/>
          </a:xfrm>
          <a:custGeom>
            <a:avLst/>
            <a:gdLst/>
            <a:ahLst/>
            <a:cxnLst/>
            <a:rect l="l" t="t" r="r" b="b"/>
            <a:pathLst>
              <a:path w="369212" h="341958">
                <a:moveTo>
                  <a:pt x="0" y="0"/>
                </a:moveTo>
                <a:lnTo>
                  <a:pt x="369213" y="0"/>
                </a:lnTo>
                <a:lnTo>
                  <a:pt x="369213" y="341958"/>
                </a:lnTo>
                <a:lnTo>
                  <a:pt x="0" y="3419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1" name="Freeform 31"/>
          <p:cNvSpPr/>
          <p:nvPr/>
        </p:nvSpPr>
        <p:spPr>
          <a:xfrm>
            <a:off x="6329154" y="6110467"/>
            <a:ext cx="369212" cy="341958"/>
          </a:xfrm>
          <a:custGeom>
            <a:avLst/>
            <a:gdLst/>
            <a:ahLst/>
            <a:cxnLst/>
            <a:rect l="l" t="t" r="r" b="b"/>
            <a:pathLst>
              <a:path w="369212" h="341958">
                <a:moveTo>
                  <a:pt x="0" y="0"/>
                </a:moveTo>
                <a:lnTo>
                  <a:pt x="369212" y="0"/>
                </a:lnTo>
                <a:lnTo>
                  <a:pt x="369212" y="341958"/>
                </a:lnTo>
                <a:lnTo>
                  <a:pt x="0" y="3419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2" name="Freeform 32"/>
          <p:cNvSpPr/>
          <p:nvPr/>
        </p:nvSpPr>
        <p:spPr>
          <a:xfrm>
            <a:off x="1165652" y="6923118"/>
            <a:ext cx="369212" cy="341958"/>
          </a:xfrm>
          <a:custGeom>
            <a:avLst/>
            <a:gdLst/>
            <a:ahLst/>
            <a:cxnLst/>
            <a:rect l="l" t="t" r="r" b="b"/>
            <a:pathLst>
              <a:path w="369212" h="341958">
                <a:moveTo>
                  <a:pt x="0" y="0"/>
                </a:moveTo>
                <a:lnTo>
                  <a:pt x="369213" y="0"/>
                </a:lnTo>
                <a:lnTo>
                  <a:pt x="369213" y="341958"/>
                </a:lnTo>
                <a:lnTo>
                  <a:pt x="0" y="34195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3" name="Freeform 33"/>
          <p:cNvSpPr/>
          <p:nvPr/>
        </p:nvSpPr>
        <p:spPr>
          <a:xfrm>
            <a:off x="-431506" y="292352"/>
            <a:ext cx="1248533" cy="2534416"/>
          </a:xfrm>
          <a:custGeom>
            <a:avLst/>
            <a:gdLst/>
            <a:ahLst/>
            <a:cxnLst/>
            <a:rect l="l" t="t" r="r" b="b"/>
            <a:pathLst>
              <a:path w="1248533" h="2534416">
                <a:moveTo>
                  <a:pt x="0" y="0"/>
                </a:moveTo>
                <a:lnTo>
                  <a:pt x="1248533" y="0"/>
                </a:lnTo>
                <a:lnTo>
                  <a:pt x="1248533" y="2534416"/>
                </a:lnTo>
                <a:lnTo>
                  <a:pt x="0" y="2534416"/>
                </a:lnTo>
                <a:lnTo>
                  <a:pt x="0" y="0"/>
                </a:lnTo>
                <a:close/>
              </a:path>
            </a:pathLst>
          </a:custGeom>
          <a:blipFill>
            <a:blip r:embed="rId6"/>
            <a:stretch>
              <a:fillRect/>
            </a:stretch>
          </a:blipFill>
        </p:spPr>
      </p:sp>
      <p:sp>
        <p:nvSpPr>
          <p:cNvPr id="34" name="Freeform 34"/>
          <p:cNvSpPr/>
          <p:nvPr/>
        </p:nvSpPr>
        <p:spPr>
          <a:xfrm rot="-5400000">
            <a:off x="9501573" y="8413669"/>
            <a:ext cx="1520526" cy="3086537"/>
          </a:xfrm>
          <a:custGeom>
            <a:avLst/>
            <a:gdLst/>
            <a:ahLst/>
            <a:cxnLst/>
            <a:rect l="l" t="t" r="r" b="b"/>
            <a:pathLst>
              <a:path w="1520526" h="3086537">
                <a:moveTo>
                  <a:pt x="0" y="0"/>
                </a:moveTo>
                <a:lnTo>
                  <a:pt x="1520525" y="0"/>
                </a:lnTo>
                <a:lnTo>
                  <a:pt x="1520525" y="3086537"/>
                </a:lnTo>
                <a:lnTo>
                  <a:pt x="0" y="3086537"/>
                </a:lnTo>
                <a:lnTo>
                  <a:pt x="0" y="0"/>
                </a:lnTo>
                <a:close/>
              </a:path>
            </a:pathLst>
          </a:custGeom>
          <a:blipFill>
            <a:blip r:embed="rId6"/>
            <a:stretch>
              <a:fillRect/>
            </a:stretch>
          </a:blipFill>
        </p:spPr>
      </p:sp>
      <p:sp>
        <p:nvSpPr>
          <p:cNvPr id="35" name="Freeform 35"/>
          <p:cNvSpPr/>
          <p:nvPr/>
        </p:nvSpPr>
        <p:spPr>
          <a:xfrm>
            <a:off x="10150928" y="7813705"/>
            <a:ext cx="1647551" cy="200702"/>
          </a:xfrm>
          <a:custGeom>
            <a:avLst/>
            <a:gdLst/>
            <a:ahLst/>
            <a:cxnLst/>
            <a:rect l="l" t="t" r="r" b="b"/>
            <a:pathLst>
              <a:path w="1647551" h="200702">
                <a:moveTo>
                  <a:pt x="0" y="0"/>
                </a:moveTo>
                <a:lnTo>
                  <a:pt x="1647551" y="0"/>
                </a:lnTo>
                <a:lnTo>
                  <a:pt x="1647551" y="200702"/>
                </a:lnTo>
                <a:lnTo>
                  <a:pt x="0" y="20070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36" name="Freeform 36"/>
          <p:cNvSpPr/>
          <p:nvPr/>
        </p:nvSpPr>
        <p:spPr>
          <a:xfrm>
            <a:off x="8718567" y="1229307"/>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a:extLst>
                <a:ext uri="{96DAC541-7B7A-43D3-8B79-37D633B846F1}">
                  <asvg:svgBlip xmlns:asvg="http://schemas.microsoft.com/office/drawing/2016/SVG/main" r:embed="rId8"/>
                </a:ext>
              </a:extLst>
            </a:blip>
            <a:stretch>
              <a:fillRect t="-106388" r="-103152"/>
            </a:stretch>
          </a:blipFill>
        </p:spPr>
      </p:sp>
      <p:grpSp>
        <p:nvGrpSpPr>
          <p:cNvPr id="37" name="Group 37"/>
          <p:cNvGrpSpPr/>
          <p:nvPr/>
        </p:nvGrpSpPr>
        <p:grpSpPr>
          <a:xfrm>
            <a:off x="1028700" y="8767760"/>
            <a:ext cx="4726694" cy="490540"/>
            <a:chOff x="0" y="0"/>
            <a:chExt cx="3915949" cy="406400"/>
          </a:xfrm>
        </p:grpSpPr>
        <p:sp>
          <p:nvSpPr>
            <p:cNvPr id="38" name="Freeform 38"/>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39" name="TextBox 39"/>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40" name="TextBox 40"/>
          <p:cNvSpPr txBox="1"/>
          <p:nvPr/>
        </p:nvSpPr>
        <p:spPr>
          <a:xfrm>
            <a:off x="1525025" y="8805373"/>
            <a:ext cx="3734045" cy="398145"/>
          </a:xfrm>
          <a:prstGeom prst="rect">
            <a:avLst/>
          </a:prstGeom>
        </p:spPr>
        <p:txBody>
          <a:bodyPr lIns="0" tIns="0" rIns="0" bIns="0" rtlCol="0" anchor="t">
            <a:spAutoFit/>
          </a:bodyPr>
          <a:lstStyle/>
          <a:p>
            <a:pPr marL="0" lvl="0" indent="0" algn="ctr">
              <a:lnSpc>
                <a:spcPts val="1679"/>
              </a:lnSpc>
              <a:spcBef>
                <a:spcPct val="0"/>
              </a:spcBef>
            </a:pPr>
            <a:r>
              <a:rPr lang="en-US" sz="1200">
                <a:solidFill>
                  <a:srgbClr val="FFFFFF"/>
                </a:solidFill>
                <a:latin typeface="TT Interphases"/>
                <a:ea typeface="TT Interphases"/>
                <a:cs typeface="TT Interphases"/>
                <a:sym typeface="TT Interphases"/>
              </a:rPr>
              <a:t>AI DeepGuard Detection — Dept. of AI &amp; Data Science | Matoshri College of Engineering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5669" y="-6543002"/>
            <a:ext cx="9508939" cy="9449508"/>
          </a:xfrm>
          <a:custGeom>
            <a:avLst/>
            <a:gdLst/>
            <a:ahLst/>
            <a:cxnLst/>
            <a:rect l="l" t="t" r="r" b="b"/>
            <a:pathLst>
              <a:path w="9508939" h="9449508">
                <a:moveTo>
                  <a:pt x="0" y="0"/>
                </a:moveTo>
                <a:lnTo>
                  <a:pt x="9508939" y="0"/>
                </a:lnTo>
                <a:lnTo>
                  <a:pt x="9508939" y="9449508"/>
                </a:lnTo>
                <a:lnTo>
                  <a:pt x="0" y="9449508"/>
                </a:lnTo>
                <a:lnTo>
                  <a:pt x="0" y="0"/>
                </a:lnTo>
                <a:close/>
              </a:path>
            </a:pathLst>
          </a:custGeom>
          <a:blipFill>
            <a:blip r:embed="rId2">
              <a:alphaModFix amt="50000"/>
            </a:blip>
            <a:stretch>
              <a:fillRect/>
            </a:stretch>
          </a:blipFill>
        </p:spPr>
      </p:sp>
      <p:sp>
        <p:nvSpPr>
          <p:cNvPr id="3" name="Freeform 3"/>
          <p:cNvSpPr/>
          <p:nvPr/>
        </p:nvSpPr>
        <p:spPr>
          <a:xfrm rot="-1981365">
            <a:off x="959935" y="1763066"/>
            <a:ext cx="31369516" cy="6195479"/>
          </a:xfrm>
          <a:custGeom>
            <a:avLst/>
            <a:gdLst/>
            <a:ahLst/>
            <a:cxnLst/>
            <a:rect l="l" t="t" r="r" b="b"/>
            <a:pathLst>
              <a:path w="31369516" h="6195479">
                <a:moveTo>
                  <a:pt x="0" y="0"/>
                </a:moveTo>
                <a:lnTo>
                  <a:pt x="31369516" y="0"/>
                </a:lnTo>
                <a:lnTo>
                  <a:pt x="31369516" y="6195479"/>
                </a:lnTo>
                <a:lnTo>
                  <a:pt x="0" y="6195479"/>
                </a:lnTo>
                <a:lnTo>
                  <a:pt x="0" y="0"/>
                </a:lnTo>
                <a:close/>
              </a:path>
            </a:pathLst>
          </a:custGeom>
          <a:blipFill>
            <a:blip r:embed="rId3">
              <a:alphaModFix amt="15000"/>
            </a:blip>
            <a:stretch>
              <a:fillRect/>
            </a:stretch>
          </a:blipFill>
        </p:spPr>
      </p:sp>
      <p:sp>
        <p:nvSpPr>
          <p:cNvPr id="4" name="Freeform 4"/>
          <p:cNvSpPr/>
          <p:nvPr/>
        </p:nvSpPr>
        <p:spPr>
          <a:xfrm>
            <a:off x="-2207219" y="1627503"/>
            <a:ext cx="9863933" cy="8520596"/>
          </a:xfrm>
          <a:custGeom>
            <a:avLst/>
            <a:gdLst/>
            <a:ahLst/>
            <a:cxnLst/>
            <a:rect l="l" t="t" r="r" b="b"/>
            <a:pathLst>
              <a:path w="9863933" h="8520596">
                <a:moveTo>
                  <a:pt x="0" y="0"/>
                </a:moveTo>
                <a:lnTo>
                  <a:pt x="9863933" y="0"/>
                </a:lnTo>
                <a:lnTo>
                  <a:pt x="9863933" y="8520596"/>
                </a:lnTo>
                <a:lnTo>
                  <a:pt x="0" y="8520596"/>
                </a:lnTo>
                <a:lnTo>
                  <a:pt x="0" y="0"/>
                </a:lnTo>
                <a:close/>
              </a:path>
            </a:pathLst>
          </a:custGeom>
          <a:blipFill>
            <a:blip r:embed="rId4"/>
            <a:stretch>
              <a:fillRect/>
            </a:stretch>
          </a:blipFill>
        </p:spPr>
      </p:sp>
      <p:sp>
        <p:nvSpPr>
          <p:cNvPr id="5" name="Freeform 5"/>
          <p:cNvSpPr/>
          <p:nvPr/>
        </p:nvSpPr>
        <p:spPr>
          <a:xfrm flipH="1" flipV="1">
            <a:off x="17187372" y="6347008"/>
            <a:ext cx="1519526" cy="3084508"/>
          </a:xfrm>
          <a:custGeom>
            <a:avLst/>
            <a:gdLst/>
            <a:ahLst/>
            <a:cxnLst/>
            <a:rect l="l" t="t" r="r" b="b"/>
            <a:pathLst>
              <a:path w="1519526" h="3084508">
                <a:moveTo>
                  <a:pt x="1519526" y="3084508"/>
                </a:moveTo>
                <a:lnTo>
                  <a:pt x="0" y="3084508"/>
                </a:lnTo>
                <a:lnTo>
                  <a:pt x="0" y="0"/>
                </a:lnTo>
                <a:lnTo>
                  <a:pt x="1519526" y="0"/>
                </a:lnTo>
                <a:lnTo>
                  <a:pt x="1519526" y="3084508"/>
                </a:lnTo>
                <a:close/>
              </a:path>
            </a:pathLst>
          </a:custGeom>
          <a:blipFill>
            <a:blip r:embed="rId5"/>
            <a:stretch>
              <a:fillRect/>
            </a:stretch>
          </a:blipFill>
        </p:spPr>
      </p:sp>
      <p:sp>
        <p:nvSpPr>
          <p:cNvPr id="6" name="Freeform 6"/>
          <p:cNvSpPr/>
          <p:nvPr/>
        </p:nvSpPr>
        <p:spPr>
          <a:xfrm rot="5400000" flipH="1">
            <a:off x="7345876" y="8820306"/>
            <a:ext cx="1186914" cy="2409334"/>
          </a:xfrm>
          <a:custGeom>
            <a:avLst/>
            <a:gdLst/>
            <a:ahLst/>
            <a:cxnLst/>
            <a:rect l="l" t="t" r="r" b="b"/>
            <a:pathLst>
              <a:path w="1186914" h="2409334">
                <a:moveTo>
                  <a:pt x="1186914" y="0"/>
                </a:moveTo>
                <a:lnTo>
                  <a:pt x="0" y="0"/>
                </a:lnTo>
                <a:lnTo>
                  <a:pt x="0" y="2409334"/>
                </a:lnTo>
                <a:lnTo>
                  <a:pt x="1186914" y="2409334"/>
                </a:lnTo>
                <a:lnTo>
                  <a:pt x="1186914" y="0"/>
                </a:lnTo>
                <a:close/>
              </a:path>
            </a:pathLst>
          </a:custGeom>
          <a:blipFill>
            <a:blip r:embed="rId5"/>
            <a:stretch>
              <a:fillRect/>
            </a:stretch>
          </a:blipFill>
        </p:spPr>
      </p:sp>
      <p:sp>
        <p:nvSpPr>
          <p:cNvPr id="7" name="TextBox 7"/>
          <p:cNvSpPr txBox="1"/>
          <p:nvPr/>
        </p:nvSpPr>
        <p:spPr>
          <a:xfrm>
            <a:off x="11079818" y="1181100"/>
            <a:ext cx="6179482" cy="909176"/>
          </a:xfrm>
          <a:prstGeom prst="rect">
            <a:avLst/>
          </a:prstGeom>
        </p:spPr>
        <p:txBody>
          <a:bodyPr lIns="0" tIns="0" rIns="0" bIns="0" rtlCol="0" anchor="t">
            <a:spAutoFit/>
          </a:bodyPr>
          <a:lstStyle/>
          <a:p>
            <a:pPr marL="0" lvl="0" indent="0" algn="r">
              <a:lnSpc>
                <a:spcPts val="6785"/>
              </a:lnSpc>
            </a:pPr>
            <a:r>
              <a:rPr lang="en-US" sz="6995">
                <a:solidFill>
                  <a:srgbClr val="FFFFFF"/>
                </a:solidFill>
                <a:latin typeface="TT Interphases"/>
                <a:ea typeface="TT Interphases"/>
                <a:cs typeface="TT Interphases"/>
                <a:sym typeface="TT Interphases"/>
              </a:rPr>
              <a:t>Conclusion</a:t>
            </a:r>
          </a:p>
        </p:txBody>
      </p:sp>
      <p:sp>
        <p:nvSpPr>
          <p:cNvPr id="8" name="TextBox 8"/>
          <p:cNvSpPr txBox="1"/>
          <p:nvPr/>
        </p:nvSpPr>
        <p:spPr>
          <a:xfrm>
            <a:off x="7695070" y="3102479"/>
            <a:ext cx="9946004" cy="3092450"/>
          </a:xfrm>
          <a:prstGeom prst="rect">
            <a:avLst/>
          </a:prstGeom>
        </p:spPr>
        <p:txBody>
          <a:bodyPr lIns="0" tIns="0" rIns="0" bIns="0" rtlCol="0" anchor="t">
            <a:spAutoFit/>
          </a:bodyPr>
          <a:lstStyle/>
          <a:p>
            <a:pPr marL="0" lvl="0" indent="0" algn="just">
              <a:lnSpc>
                <a:spcPts val="2652"/>
              </a:lnSpc>
            </a:pPr>
            <a:r>
              <a:rPr lang="en-US" sz="2040" dirty="0">
                <a:solidFill>
                  <a:srgbClr val="FFFFFF"/>
                </a:solidFill>
                <a:latin typeface="TT Interphases"/>
                <a:ea typeface="TT Interphases"/>
                <a:cs typeface="TT Interphases"/>
                <a:sym typeface="TT Interphases"/>
              </a:rPr>
              <a:t>An integrated approach combining Artificial Intelligence, Deep Learning, Computer Vision, and Explainable AI (XAI) for manipulated facial image detection.</a:t>
            </a:r>
          </a:p>
          <a:p>
            <a:pPr marL="0" lvl="0" indent="0" algn="just">
              <a:lnSpc>
                <a:spcPts val="2652"/>
              </a:lnSpc>
            </a:pPr>
            <a:r>
              <a:rPr lang="en-US" sz="2040" dirty="0">
                <a:solidFill>
                  <a:srgbClr val="FFFFFF"/>
                </a:solidFill>
                <a:latin typeface="TT Interphases"/>
                <a:ea typeface="TT Interphases"/>
                <a:cs typeface="TT Interphases"/>
                <a:sym typeface="TT Interphases"/>
              </a:rPr>
              <a:t>Performs Face Detection, Real/Fake Classification, Confidence Scoring, Deepfake Analysis, and Grad-CAM / Heatmap Visualization</a:t>
            </a:r>
          </a:p>
          <a:p>
            <a:pPr marL="0" lvl="0" indent="0" algn="just">
              <a:lnSpc>
                <a:spcPts val="2652"/>
              </a:lnSpc>
            </a:pPr>
            <a:r>
              <a:rPr lang="en-US" sz="2040" dirty="0">
                <a:solidFill>
                  <a:srgbClr val="FFFFFF"/>
                </a:solidFill>
                <a:latin typeface="TT Interphases"/>
                <a:ea typeface="TT Interphases"/>
                <a:cs typeface="TT Interphases"/>
                <a:sym typeface="TT Interphases"/>
              </a:rPr>
              <a:t>Platform provides User Authentication, Database Storage, Detection History, Result Dashboard, Report Generation, and Admin Dashboard</a:t>
            </a:r>
          </a:p>
          <a:p>
            <a:pPr marL="0" lvl="0" indent="0" algn="just">
              <a:lnSpc>
                <a:spcPts val="2652"/>
              </a:lnSpc>
            </a:pPr>
            <a:r>
              <a:rPr lang="en-US" sz="2040" dirty="0">
                <a:solidFill>
                  <a:srgbClr val="FFFFFF"/>
                </a:solidFill>
                <a:latin typeface="TT Interphases"/>
                <a:ea typeface="TT Interphases"/>
                <a:cs typeface="TT Interphases"/>
                <a:sym typeface="TT Interphases"/>
              </a:rPr>
              <a:t>Makes deepfake detection accessible, understandable, and practical through a web interface</a:t>
            </a:r>
          </a:p>
          <a:p>
            <a:pPr marL="0" lvl="0" indent="0" algn="just">
              <a:lnSpc>
                <a:spcPts val="2652"/>
              </a:lnSpc>
            </a:pPr>
            <a:endParaRPr lang="en-US" sz="2040" dirty="0">
              <a:solidFill>
                <a:srgbClr val="FFFFFF"/>
              </a:solidFill>
              <a:latin typeface="TT Interphases"/>
              <a:ea typeface="TT Interphases"/>
              <a:cs typeface="TT Interphases"/>
              <a:sym typeface="TT Interphases"/>
            </a:endParaRPr>
          </a:p>
        </p:txBody>
      </p:sp>
      <p:sp>
        <p:nvSpPr>
          <p:cNvPr id="9" name="TextBox 9"/>
          <p:cNvSpPr txBox="1"/>
          <p:nvPr/>
        </p:nvSpPr>
        <p:spPr>
          <a:xfrm>
            <a:off x="8076845" y="2185670"/>
            <a:ext cx="9182455" cy="613149"/>
          </a:xfrm>
          <a:prstGeom prst="rect">
            <a:avLst/>
          </a:prstGeom>
        </p:spPr>
        <p:txBody>
          <a:bodyPr lIns="0" tIns="0" rIns="0" bIns="0" rtlCol="0" anchor="t">
            <a:spAutoFit/>
          </a:bodyPr>
          <a:lstStyle/>
          <a:p>
            <a:pPr marL="0" lvl="0" indent="0" algn="r">
              <a:lnSpc>
                <a:spcPts val="4546"/>
              </a:lnSpc>
            </a:pPr>
            <a:r>
              <a:rPr lang="en-US" sz="4686" b="1" dirty="0">
                <a:solidFill>
                  <a:srgbClr val="A94BC6"/>
                </a:solidFill>
                <a:latin typeface="TT Interphases Bold"/>
                <a:ea typeface="TT Interphases Bold"/>
                <a:cs typeface="TT Interphases Bold"/>
                <a:sym typeface="TT Interphases Bold"/>
              </a:rPr>
              <a:t>AI </a:t>
            </a:r>
            <a:r>
              <a:rPr lang="en-US" sz="4686" b="1" dirty="0" err="1">
                <a:solidFill>
                  <a:srgbClr val="A94BC6"/>
                </a:solidFill>
                <a:latin typeface="TT Interphases Bold"/>
                <a:ea typeface="TT Interphases Bold"/>
                <a:cs typeface="TT Interphases Bold"/>
                <a:sym typeface="TT Interphases Bold"/>
              </a:rPr>
              <a:t>DeepGuard</a:t>
            </a:r>
            <a:r>
              <a:rPr lang="en-US" sz="4686" b="1" dirty="0">
                <a:solidFill>
                  <a:srgbClr val="A94BC6"/>
                </a:solidFill>
                <a:latin typeface="TT Interphases Bold"/>
                <a:ea typeface="TT Interphases Bold"/>
                <a:cs typeface="TT Interphases Bold"/>
                <a:sym typeface="TT Interphases Bold"/>
              </a:rPr>
              <a:t> Detection System</a:t>
            </a:r>
          </a:p>
        </p:txBody>
      </p:sp>
      <p:grpSp>
        <p:nvGrpSpPr>
          <p:cNvPr id="10" name="Group 10"/>
          <p:cNvGrpSpPr/>
          <p:nvPr/>
        </p:nvGrpSpPr>
        <p:grpSpPr>
          <a:xfrm>
            <a:off x="12532606" y="8767760"/>
            <a:ext cx="4726694" cy="490540"/>
            <a:chOff x="0" y="0"/>
            <a:chExt cx="3915949" cy="406400"/>
          </a:xfrm>
        </p:grpSpPr>
        <p:sp>
          <p:nvSpPr>
            <p:cNvPr id="11" name="Freeform 11"/>
            <p:cNvSpPr/>
            <p:nvPr/>
          </p:nvSpPr>
          <p:spPr>
            <a:xfrm>
              <a:off x="0" y="0"/>
              <a:ext cx="3915949" cy="406400"/>
            </a:xfrm>
            <a:custGeom>
              <a:avLst/>
              <a:gdLst/>
              <a:ahLst/>
              <a:cxnLst/>
              <a:rect l="l" t="t" r="r" b="b"/>
              <a:pathLst>
                <a:path w="3915949" h="406400">
                  <a:moveTo>
                    <a:pt x="3712749" y="0"/>
                  </a:moveTo>
                  <a:cubicBezTo>
                    <a:pt x="3824973" y="0"/>
                    <a:pt x="3915949" y="90976"/>
                    <a:pt x="3915949" y="203200"/>
                  </a:cubicBezTo>
                  <a:cubicBezTo>
                    <a:pt x="3915949" y="315424"/>
                    <a:pt x="3824973" y="406400"/>
                    <a:pt x="3712749" y="406400"/>
                  </a:cubicBezTo>
                  <a:lnTo>
                    <a:pt x="203200" y="406400"/>
                  </a:lnTo>
                  <a:cubicBezTo>
                    <a:pt x="90976" y="406400"/>
                    <a:pt x="0" y="315424"/>
                    <a:pt x="0" y="203200"/>
                  </a:cubicBezTo>
                  <a:cubicBezTo>
                    <a:pt x="0" y="90976"/>
                    <a:pt x="90976" y="0"/>
                    <a:pt x="203200" y="0"/>
                  </a:cubicBezTo>
                  <a:close/>
                </a:path>
              </a:pathLst>
            </a:custGeom>
            <a:gradFill rotWithShape="1">
              <a:gsLst>
                <a:gs pos="0">
                  <a:srgbClr val="401D89">
                    <a:alpha val="100000"/>
                  </a:srgbClr>
                </a:gs>
                <a:gs pos="100000">
                  <a:srgbClr val="D2689C">
                    <a:alpha val="100000"/>
                  </a:srgbClr>
                </a:gs>
              </a:gsLst>
              <a:lin ang="0"/>
            </a:gradFill>
          </p:spPr>
        </p:sp>
        <p:sp>
          <p:nvSpPr>
            <p:cNvPr id="12" name="TextBox 12"/>
            <p:cNvSpPr txBox="1"/>
            <p:nvPr/>
          </p:nvSpPr>
          <p:spPr>
            <a:xfrm>
              <a:off x="0" y="-57150"/>
              <a:ext cx="3915949" cy="463550"/>
            </a:xfrm>
            <a:prstGeom prst="rect">
              <a:avLst/>
            </a:prstGeom>
          </p:spPr>
          <p:txBody>
            <a:bodyPr lIns="50800" tIns="50800" rIns="50800" bIns="50800" rtlCol="0" anchor="ctr"/>
            <a:lstStyle/>
            <a:p>
              <a:pPr marL="0" lvl="0" indent="0" algn="ctr">
                <a:lnSpc>
                  <a:spcPts val="3359"/>
                </a:lnSpc>
              </a:pPr>
              <a:endParaRPr/>
            </a:p>
          </p:txBody>
        </p:sp>
      </p:grpSp>
      <p:sp>
        <p:nvSpPr>
          <p:cNvPr id="13" name="TextBox 13"/>
          <p:cNvSpPr txBox="1"/>
          <p:nvPr/>
        </p:nvSpPr>
        <p:spPr>
          <a:xfrm>
            <a:off x="13028931" y="8776798"/>
            <a:ext cx="3734045" cy="348228"/>
          </a:xfrm>
          <a:prstGeom prst="rect">
            <a:avLst/>
          </a:prstGeom>
        </p:spPr>
        <p:txBody>
          <a:bodyPr lIns="0" tIns="0" rIns="0" bIns="0" rtlCol="0" anchor="t">
            <a:spAutoFit/>
          </a:bodyPr>
          <a:lstStyle/>
          <a:p>
            <a:pPr marL="0" lvl="0" indent="0" algn="ctr">
              <a:lnSpc>
                <a:spcPts val="2856"/>
              </a:lnSpc>
              <a:spcBef>
                <a:spcPct val="0"/>
              </a:spcBef>
            </a:pPr>
            <a:r>
              <a:rPr lang="en-US" sz="2040">
                <a:solidFill>
                  <a:srgbClr val="FFFFFF"/>
                </a:solidFill>
                <a:latin typeface="TT Interphases"/>
                <a:ea typeface="TT Interphases"/>
                <a:cs typeface="TT Interphases"/>
                <a:sym typeface="TT Interphases"/>
              </a:rPr>
              <a:t>10 / 11</a:t>
            </a:r>
          </a:p>
        </p:txBody>
      </p:sp>
      <p:sp>
        <p:nvSpPr>
          <p:cNvPr id="14" name="Freeform 14"/>
          <p:cNvSpPr/>
          <p:nvPr/>
        </p:nvSpPr>
        <p:spPr>
          <a:xfrm>
            <a:off x="5910891" y="8270931"/>
            <a:ext cx="1647551" cy="200702"/>
          </a:xfrm>
          <a:custGeom>
            <a:avLst/>
            <a:gdLst/>
            <a:ahLst/>
            <a:cxnLst/>
            <a:rect l="l" t="t" r="r" b="b"/>
            <a:pathLst>
              <a:path w="1647551" h="200702">
                <a:moveTo>
                  <a:pt x="0" y="0"/>
                </a:moveTo>
                <a:lnTo>
                  <a:pt x="1647550" y="0"/>
                </a:lnTo>
                <a:lnTo>
                  <a:pt x="1647550" y="200702"/>
                </a:lnTo>
                <a:lnTo>
                  <a:pt x="0" y="20070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5" name="Freeform 15"/>
          <p:cNvSpPr/>
          <p:nvPr/>
        </p:nvSpPr>
        <p:spPr>
          <a:xfrm>
            <a:off x="6647151" y="899054"/>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a:extLst>
                <a:ext uri="{96DAC541-7B7A-43D3-8B79-37D633B846F1}">
                  <asvg:svgBlip xmlns:asvg="http://schemas.microsoft.com/office/drawing/2016/SVG/main" r:embed="rId7"/>
                </a:ext>
              </a:extLst>
            </a:blip>
            <a:stretch>
              <a:fillRect t="-106388" r="-103152"/>
            </a:stretch>
          </a:blipFill>
        </p:spPr>
      </p:sp>
      <p:sp>
        <p:nvSpPr>
          <p:cNvPr id="17" name="TextBox 8">
            <a:extLst>
              <a:ext uri="{FF2B5EF4-FFF2-40B4-BE49-F238E27FC236}">
                <a16:creationId xmlns:a16="http://schemas.microsoft.com/office/drawing/2014/main" id="{BE49F0AE-9F52-0B75-B611-72442A72F84C}"/>
              </a:ext>
            </a:extLst>
          </p:cNvPr>
          <p:cNvSpPr txBox="1"/>
          <p:nvPr/>
        </p:nvSpPr>
        <p:spPr>
          <a:xfrm>
            <a:off x="7695070" y="6399882"/>
            <a:ext cx="9946004" cy="1361206"/>
          </a:xfrm>
          <a:prstGeom prst="rect">
            <a:avLst/>
          </a:prstGeom>
        </p:spPr>
        <p:txBody>
          <a:bodyPr lIns="0" tIns="0" rIns="0" bIns="0" rtlCol="0" anchor="t">
            <a:spAutoFit/>
          </a:bodyPr>
          <a:lstStyle>
            <a:defPPr>
              <a:defRPr lang="en-US"/>
            </a:defPPr>
            <a:lvl1pPr lvl="0" indent="0" algn="just">
              <a:lnSpc>
                <a:spcPts val="2652"/>
              </a:lnSpc>
              <a:defRPr sz="2040">
                <a:solidFill>
                  <a:srgbClr val="FFFFFF"/>
                </a:solidFill>
                <a:latin typeface="TT Interphases"/>
                <a:ea typeface="TT Interphases"/>
                <a:cs typeface="TT Interphases"/>
              </a:defRPr>
            </a:lvl1pPr>
          </a:lstStyle>
          <a:p>
            <a:r>
              <a:rPr lang="en-US" sz="4686" b="1" dirty="0">
                <a:solidFill>
                  <a:srgbClr val="A94BC6"/>
                </a:solidFill>
                <a:latin typeface="TT Interphases Bold"/>
              </a:rPr>
              <a:t>Future Scope: </a:t>
            </a:r>
          </a:p>
          <a:p>
            <a:r>
              <a:rPr lang="en-US" dirty="0"/>
              <a:t>Video deepfake detection • Real-time analysis • Improved detection of unseen manipulation techniques • Multimodal deepfake detection • Advanced forensic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0723">
                <a:alpha val="100000"/>
              </a:srgbClr>
            </a:gs>
            <a:gs pos="100000">
              <a:srgbClr val="2D13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2026617">
            <a:off x="3395976" y="3190853"/>
            <a:ext cx="20299771" cy="6754287"/>
          </a:xfrm>
          <a:custGeom>
            <a:avLst/>
            <a:gdLst/>
            <a:ahLst/>
            <a:cxnLst/>
            <a:rect l="l" t="t" r="r" b="b"/>
            <a:pathLst>
              <a:path w="20299771" h="6754287">
                <a:moveTo>
                  <a:pt x="0" y="0"/>
                </a:moveTo>
                <a:lnTo>
                  <a:pt x="20299771" y="0"/>
                </a:lnTo>
                <a:lnTo>
                  <a:pt x="20299771" y="6754287"/>
                </a:lnTo>
                <a:lnTo>
                  <a:pt x="0" y="6754287"/>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8841392" y="587451"/>
            <a:ext cx="9122342" cy="9105756"/>
          </a:xfrm>
          <a:custGeom>
            <a:avLst/>
            <a:gdLst/>
            <a:ahLst/>
            <a:cxnLst/>
            <a:rect l="l" t="t" r="r" b="b"/>
            <a:pathLst>
              <a:path w="9122342" h="9105756">
                <a:moveTo>
                  <a:pt x="0" y="0"/>
                </a:moveTo>
                <a:lnTo>
                  <a:pt x="9122342" y="0"/>
                </a:lnTo>
                <a:lnTo>
                  <a:pt x="9122342" y="9105756"/>
                </a:lnTo>
                <a:lnTo>
                  <a:pt x="0" y="9105756"/>
                </a:lnTo>
                <a:lnTo>
                  <a:pt x="0" y="0"/>
                </a:lnTo>
                <a:close/>
              </a:path>
            </a:pathLst>
          </a:custGeom>
          <a:blipFill>
            <a:blip r:embed="rId3"/>
            <a:stretch>
              <a:fillRect/>
            </a:stretch>
          </a:blipFill>
        </p:spPr>
      </p:sp>
      <p:sp>
        <p:nvSpPr>
          <p:cNvPr id="4" name="Freeform 4"/>
          <p:cNvSpPr/>
          <p:nvPr/>
        </p:nvSpPr>
        <p:spPr>
          <a:xfrm rot="2157946">
            <a:off x="10971715" y="1704128"/>
            <a:ext cx="7674174" cy="2885362"/>
          </a:xfrm>
          <a:custGeom>
            <a:avLst/>
            <a:gdLst/>
            <a:ahLst/>
            <a:cxnLst/>
            <a:rect l="l" t="t" r="r" b="b"/>
            <a:pathLst>
              <a:path w="7674174" h="2885362">
                <a:moveTo>
                  <a:pt x="0" y="0"/>
                </a:moveTo>
                <a:lnTo>
                  <a:pt x="7674174" y="0"/>
                </a:lnTo>
                <a:lnTo>
                  <a:pt x="7674174" y="2885362"/>
                </a:lnTo>
                <a:lnTo>
                  <a:pt x="0" y="2885362"/>
                </a:lnTo>
                <a:lnTo>
                  <a:pt x="0" y="0"/>
                </a:lnTo>
                <a:close/>
              </a:path>
            </a:pathLst>
          </a:custGeom>
          <a:blipFill>
            <a:blip>
              <a:extLst>
                <a:ext uri="{96DAC541-7B7A-43D3-8B79-37D633B846F1}">
                  <asvg:svgBlip xmlns:asvg="http://schemas.microsoft.com/office/drawing/2016/SVG/main" r:embed="rId4"/>
                </a:ext>
              </a:extLst>
            </a:blip>
            <a:stretch>
              <a:fillRect b="-32984"/>
            </a:stretch>
          </a:blipFill>
        </p:spPr>
      </p:sp>
      <p:sp>
        <p:nvSpPr>
          <p:cNvPr id="5" name="Freeform 5"/>
          <p:cNvSpPr/>
          <p:nvPr/>
        </p:nvSpPr>
        <p:spPr>
          <a:xfrm rot="2157946" flipV="1">
            <a:off x="8438712" y="4719029"/>
            <a:ext cx="7674174" cy="3837087"/>
          </a:xfrm>
          <a:custGeom>
            <a:avLst/>
            <a:gdLst/>
            <a:ahLst/>
            <a:cxnLst/>
            <a:rect l="l" t="t" r="r" b="b"/>
            <a:pathLst>
              <a:path w="7674174" h="3837087">
                <a:moveTo>
                  <a:pt x="0" y="3837087"/>
                </a:moveTo>
                <a:lnTo>
                  <a:pt x="7674174" y="3837087"/>
                </a:lnTo>
                <a:lnTo>
                  <a:pt x="7674174" y="0"/>
                </a:lnTo>
                <a:lnTo>
                  <a:pt x="0" y="0"/>
                </a:lnTo>
                <a:lnTo>
                  <a:pt x="0" y="3837087"/>
                </a:lnTo>
                <a:close/>
              </a:path>
            </a:pathLst>
          </a:custGeom>
          <a:blipFill>
            <a:blip>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9975622" y="1713388"/>
            <a:ext cx="6853883" cy="685388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401D89">
                    <a:alpha val="100000"/>
                  </a:srgbClr>
                </a:gs>
                <a:gs pos="100000">
                  <a:srgbClr val="D2689C">
                    <a:alpha val="100000"/>
                  </a:srgbClr>
                </a:gs>
              </a:gsLst>
              <a:lin ang="0"/>
            </a:gradFill>
          </p:spPr>
        </p:sp>
        <p:sp>
          <p:nvSpPr>
            <p:cNvPr id="8" name="TextBox 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0176794" y="1914560"/>
            <a:ext cx="6451538" cy="645153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sp>
      </p:grpSp>
      <p:sp>
        <p:nvSpPr>
          <p:cNvPr id="11" name="Freeform 11"/>
          <p:cNvSpPr/>
          <p:nvPr/>
        </p:nvSpPr>
        <p:spPr>
          <a:xfrm>
            <a:off x="-458594" y="5993565"/>
            <a:ext cx="1519526" cy="3084508"/>
          </a:xfrm>
          <a:custGeom>
            <a:avLst/>
            <a:gdLst/>
            <a:ahLst/>
            <a:cxnLst/>
            <a:rect l="l" t="t" r="r" b="b"/>
            <a:pathLst>
              <a:path w="1519526" h="3084508">
                <a:moveTo>
                  <a:pt x="0" y="0"/>
                </a:moveTo>
                <a:lnTo>
                  <a:pt x="1519526" y="0"/>
                </a:lnTo>
                <a:lnTo>
                  <a:pt x="1519526" y="3084508"/>
                </a:lnTo>
                <a:lnTo>
                  <a:pt x="0" y="3084508"/>
                </a:lnTo>
                <a:lnTo>
                  <a:pt x="0" y="0"/>
                </a:lnTo>
                <a:close/>
              </a:path>
            </a:pathLst>
          </a:custGeom>
          <a:blipFill>
            <a:blip r:embed="rId6"/>
            <a:stretch>
              <a:fillRect/>
            </a:stretch>
          </a:blipFill>
        </p:spPr>
      </p:sp>
      <p:sp>
        <p:nvSpPr>
          <p:cNvPr id="12" name="Freeform 12"/>
          <p:cNvSpPr/>
          <p:nvPr/>
        </p:nvSpPr>
        <p:spPr>
          <a:xfrm flipH="1">
            <a:off x="16818832" y="0"/>
            <a:ext cx="2071591" cy="4205152"/>
          </a:xfrm>
          <a:custGeom>
            <a:avLst/>
            <a:gdLst/>
            <a:ahLst/>
            <a:cxnLst/>
            <a:rect l="l" t="t" r="r" b="b"/>
            <a:pathLst>
              <a:path w="2071591" h="4205152">
                <a:moveTo>
                  <a:pt x="2071591" y="0"/>
                </a:moveTo>
                <a:lnTo>
                  <a:pt x="0" y="0"/>
                </a:lnTo>
                <a:lnTo>
                  <a:pt x="0" y="4205152"/>
                </a:lnTo>
                <a:lnTo>
                  <a:pt x="2071591" y="4205152"/>
                </a:lnTo>
                <a:lnTo>
                  <a:pt x="2071591" y="0"/>
                </a:lnTo>
                <a:close/>
              </a:path>
            </a:pathLst>
          </a:custGeom>
          <a:blipFill>
            <a:blip r:embed="rId6"/>
            <a:stretch>
              <a:fillRect/>
            </a:stretch>
          </a:blipFill>
        </p:spPr>
      </p:sp>
      <p:sp>
        <p:nvSpPr>
          <p:cNvPr id="13" name="Freeform 13"/>
          <p:cNvSpPr/>
          <p:nvPr/>
        </p:nvSpPr>
        <p:spPr>
          <a:xfrm>
            <a:off x="1060932" y="8585592"/>
            <a:ext cx="672708" cy="672708"/>
          </a:xfrm>
          <a:custGeom>
            <a:avLst/>
            <a:gdLst/>
            <a:ahLst/>
            <a:cxnLst/>
            <a:rect l="l" t="t" r="r" b="b"/>
            <a:pathLst>
              <a:path w="672708" h="672708">
                <a:moveTo>
                  <a:pt x="0" y="0"/>
                </a:moveTo>
                <a:lnTo>
                  <a:pt x="672709" y="0"/>
                </a:lnTo>
                <a:lnTo>
                  <a:pt x="672709" y="672708"/>
                </a:lnTo>
                <a:lnTo>
                  <a:pt x="0" y="672708"/>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4" name="Freeform 14"/>
          <p:cNvSpPr/>
          <p:nvPr/>
        </p:nvSpPr>
        <p:spPr>
          <a:xfrm>
            <a:off x="7481992" y="-3498726"/>
            <a:ext cx="4793807" cy="4802539"/>
          </a:xfrm>
          <a:custGeom>
            <a:avLst/>
            <a:gdLst/>
            <a:ahLst/>
            <a:cxnLst/>
            <a:rect l="l" t="t" r="r" b="b"/>
            <a:pathLst>
              <a:path w="4793807" h="4802539">
                <a:moveTo>
                  <a:pt x="0" y="0"/>
                </a:moveTo>
                <a:lnTo>
                  <a:pt x="4793807" y="0"/>
                </a:lnTo>
                <a:lnTo>
                  <a:pt x="4793807" y="4802539"/>
                </a:lnTo>
                <a:lnTo>
                  <a:pt x="0" y="4802539"/>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5" name="Freeform 15"/>
          <p:cNvSpPr/>
          <p:nvPr/>
        </p:nvSpPr>
        <p:spPr>
          <a:xfrm>
            <a:off x="16108917" y="8366098"/>
            <a:ext cx="4940090" cy="4949088"/>
          </a:xfrm>
          <a:custGeom>
            <a:avLst/>
            <a:gdLst/>
            <a:ahLst/>
            <a:cxnLst/>
            <a:rect l="l" t="t" r="r" b="b"/>
            <a:pathLst>
              <a:path w="4940090" h="4949088">
                <a:moveTo>
                  <a:pt x="0" y="0"/>
                </a:moveTo>
                <a:lnTo>
                  <a:pt x="4940090" y="0"/>
                </a:lnTo>
                <a:lnTo>
                  <a:pt x="4940090" y="4949088"/>
                </a:lnTo>
                <a:lnTo>
                  <a:pt x="0" y="4949088"/>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6" name="Freeform 16"/>
          <p:cNvSpPr/>
          <p:nvPr/>
        </p:nvSpPr>
        <p:spPr>
          <a:xfrm>
            <a:off x="7496449" y="2218183"/>
            <a:ext cx="1647551" cy="200702"/>
          </a:xfrm>
          <a:custGeom>
            <a:avLst/>
            <a:gdLst/>
            <a:ahLst/>
            <a:cxnLst/>
            <a:rect l="l" t="t" r="r" b="b"/>
            <a:pathLst>
              <a:path w="1647551" h="200702">
                <a:moveTo>
                  <a:pt x="0" y="0"/>
                </a:moveTo>
                <a:lnTo>
                  <a:pt x="1647551" y="0"/>
                </a:lnTo>
                <a:lnTo>
                  <a:pt x="1647551" y="200701"/>
                </a:lnTo>
                <a:lnTo>
                  <a:pt x="0" y="200701"/>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7" name="Freeform 17"/>
          <p:cNvSpPr/>
          <p:nvPr/>
        </p:nvSpPr>
        <p:spPr>
          <a:xfrm>
            <a:off x="9510649" y="8082370"/>
            <a:ext cx="666145" cy="660506"/>
          </a:xfrm>
          <a:custGeom>
            <a:avLst/>
            <a:gdLst/>
            <a:ahLst/>
            <a:cxnLst/>
            <a:rect l="l" t="t" r="r" b="b"/>
            <a:pathLst>
              <a:path w="666145" h="660506">
                <a:moveTo>
                  <a:pt x="0" y="0"/>
                </a:moveTo>
                <a:lnTo>
                  <a:pt x="666145" y="0"/>
                </a:lnTo>
                <a:lnTo>
                  <a:pt x="666145" y="660506"/>
                </a:lnTo>
                <a:lnTo>
                  <a:pt x="0" y="660506"/>
                </a:lnTo>
                <a:lnTo>
                  <a:pt x="0" y="0"/>
                </a:lnTo>
                <a:close/>
              </a:path>
            </a:pathLst>
          </a:custGeom>
          <a:blipFill>
            <a:blip>
              <a:extLst>
                <a:ext uri="{96DAC541-7B7A-43D3-8B79-37D633B846F1}">
                  <asvg:svgBlip xmlns:asvg="http://schemas.microsoft.com/office/drawing/2016/SVG/main" r:embed="rId10"/>
                </a:ext>
              </a:extLst>
            </a:blip>
            <a:stretch>
              <a:fillRect t="-106388" r="-103152"/>
            </a:stretch>
          </a:blipFill>
        </p:spPr>
      </p:sp>
      <p:sp>
        <p:nvSpPr>
          <p:cNvPr id="21" name="TextBox 21"/>
          <p:cNvSpPr txBox="1"/>
          <p:nvPr/>
        </p:nvSpPr>
        <p:spPr>
          <a:xfrm>
            <a:off x="1927008" y="1179638"/>
            <a:ext cx="2885638" cy="224338"/>
          </a:xfrm>
          <a:prstGeom prst="rect">
            <a:avLst/>
          </a:prstGeom>
        </p:spPr>
        <p:txBody>
          <a:bodyPr lIns="0" tIns="0" rIns="0" bIns="0" rtlCol="0" anchor="t">
            <a:spAutoFit/>
          </a:bodyPr>
          <a:lstStyle/>
          <a:p>
            <a:pPr marL="0" lvl="0" indent="0" algn="l">
              <a:lnSpc>
                <a:spcPts val="1809"/>
              </a:lnSpc>
              <a:spcBef>
                <a:spcPct val="0"/>
              </a:spcBef>
            </a:pPr>
            <a:r>
              <a:rPr lang="en-US" sz="1292">
                <a:solidFill>
                  <a:srgbClr val="FFFFFF"/>
                </a:solidFill>
                <a:latin typeface="TT Interphases"/>
                <a:ea typeface="TT Interphases"/>
                <a:cs typeface="TT Interphases"/>
                <a:sym typeface="TT Interphases"/>
              </a:rPr>
              <a:t>AI DeepGuard Detection</a:t>
            </a:r>
          </a:p>
        </p:txBody>
      </p:sp>
      <p:sp>
        <p:nvSpPr>
          <p:cNvPr id="22" name="TextBox 22"/>
          <p:cNvSpPr txBox="1"/>
          <p:nvPr/>
        </p:nvSpPr>
        <p:spPr>
          <a:xfrm>
            <a:off x="1927008" y="8714301"/>
            <a:ext cx="4301235" cy="224338"/>
          </a:xfrm>
          <a:prstGeom prst="rect">
            <a:avLst/>
          </a:prstGeom>
        </p:spPr>
        <p:txBody>
          <a:bodyPr lIns="0" tIns="0" rIns="0" bIns="0" rtlCol="0" anchor="t">
            <a:spAutoFit/>
          </a:bodyPr>
          <a:lstStyle/>
          <a:p>
            <a:pPr marL="0" lvl="0" indent="0" algn="l">
              <a:lnSpc>
                <a:spcPts val="1809"/>
              </a:lnSpc>
              <a:spcBef>
                <a:spcPct val="0"/>
              </a:spcBef>
            </a:pPr>
            <a:r>
              <a:rPr lang="en-US" sz="1292">
                <a:solidFill>
                  <a:srgbClr val="FFFFFF"/>
                </a:solidFill>
                <a:latin typeface="TT Interphases"/>
                <a:ea typeface="TT Interphases"/>
                <a:cs typeface="TT Interphases"/>
                <a:sym typeface="TT Interphases"/>
              </a:rPr>
              <a:t>Matoshri College of Engineering &amp; Research Centre, Nashik</a:t>
            </a:r>
          </a:p>
        </p:txBody>
      </p:sp>
      <p:sp>
        <p:nvSpPr>
          <p:cNvPr id="23" name="TextBox 23"/>
          <p:cNvSpPr txBox="1"/>
          <p:nvPr/>
        </p:nvSpPr>
        <p:spPr>
          <a:xfrm>
            <a:off x="714941" y="2318534"/>
            <a:ext cx="6228661" cy="1104737"/>
          </a:xfrm>
          <a:prstGeom prst="rect">
            <a:avLst/>
          </a:prstGeom>
        </p:spPr>
        <p:txBody>
          <a:bodyPr lIns="0" tIns="0" rIns="0" bIns="0" rtlCol="0" anchor="t">
            <a:spAutoFit/>
          </a:bodyPr>
          <a:lstStyle/>
          <a:p>
            <a:pPr marL="0" lvl="0" indent="0" algn="l">
              <a:lnSpc>
                <a:spcPts val="8218"/>
              </a:lnSpc>
            </a:pPr>
            <a:r>
              <a:rPr lang="en-US" sz="8472" b="1" dirty="0">
                <a:solidFill>
                  <a:srgbClr val="A94BC6"/>
                </a:solidFill>
                <a:latin typeface="TT Interphases Bold"/>
                <a:ea typeface="TT Interphases Bold"/>
                <a:cs typeface="TT Interphases Bold"/>
                <a:sym typeface="TT Interphases Bold"/>
              </a:rPr>
              <a:t>References</a:t>
            </a:r>
          </a:p>
        </p:txBody>
      </p:sp>
      <p:sp>
        <p:nvSpPr>
          <p:cNvPr id="26" name="Freeform 26"/>
          <p:cNvSpPr/>
          <p:nvPr/>
        </p:nvSpPr>
        <p:spPr>
          <a:xfrm>
            <a:off x="955772" y="1000760"/>
            <a:ext cx="929352" cy="903120"/>
          </a:xfrm>
          <a:custGeom>
            <a:avLst/>
            <a:gdLst/>
            <a:ahLst/>
            <a:cxnLst/>
            <a:rect l="l" t="t" r="r" b="b"/>
            <a:pathLst>
              <a:path w="929352" h="903120">
                <a:moveTo>
                  <a:pt x="0" y="0"/>
                </a:moveTo>
                <a:lnTo>
                  <a:pt x="929352" y="0"/>
                </a:lnTo>
                <a:lnTo>
                  <a:pt x="929352" y="903120"/>
                </a:lnTo>
                <a:lnTo>
                  <a:pt x="0" y="903120"/>
                </a:lnTo>
                <a:lnTo>
                  <a:pt x="0" y="0"/>
                </a:lnTo>
                <a:close/>
              </a:path>
            </a:pathLst>
          </a:custGeom>
          <a:blipFill>
            <a:blip r:embed="rId11"/>
            <a:stretch>
              <a:fillRect/>
            </a:stretch>
          </a:blipFill>
        </p:spPr>
      </p:sp>
      <p:sp>
        <p:nvSpPr>
          <p:cNvPr id="28" name="TextBox 27">
            <a:extLst>
              <a:ext uri="{FF2B5EF4-FFF2-40B4-BE49-F238E27FC236}">
                <a16:creationId xmlns:a16="http://schemas.microsoft.com/office/drawing/2014/main" id="{34B5B11F-BBFB-6C93-CD20-13F140102D25}"/>
              </a:ext>
            </a:extLst>
          </p:cNvPr>
          <p:cNvSpPr txBox="1"/>
          <p:nvPr/>
        </p:nvSpPr>
        <p:spPr>
          <a:xfrm>
            <a:off x="1130807" y="3557477"/>
            <a:ext cx="8505264" cy="4569777"/>
          </a:xfrm>
          <a:prstGeom prst="rect">
            <a:avLst/>
          </a:prstGeom>
        </p:spPr>
        <p:txBody>
          <a:bodyPr lIns="0" tIns="0" rIns="0" bIns="0" rtlCol="0" anchor="t">
            <a:spAutoFit/>
          </a:bodyPr>
          <a:lstStyle>
            <a:defPPr>
              <a:defRPr lang="en-US"/>
            </a:defPPr>
            <a:lvl1pPr lvl="0" indent="0" algn="r">
              <a:lnSpc>
                <a:spcPts val="2652"/>
              </a:lnSpc>
              <a:defRPr sz="2040">
                <a:solidFill>
                  <a:srgbClr val="FFFFFF"/>
                </a:solidFill>
                <a:latin typeface="TT Interphases"/>
                <a:ea typeface="TT Interphases"/>
                <a:cs typeface="TT Interphases"/>
              </a:defRPr>
            </a:lvl1pPr>
          </a:lstStyle>
          <a:p>
            <a:pPr algn="l"/>
            <a:r>
              <a:rPr lang="en-US" dirty="0"/>
              <a:t>[1] D. Nguyen et al., “LAA-Net: Localized Artifact Attention Network for Quality-Agnostic and Generalizable Deepfake Detection,” Proceedings of the IEEE/CVF Conference on Computer Vision and Pattern Recognition (CVPR), 2024.</a:t>
            </a:r>
          </a:p>
          <a:p>
            <a:pPr algn="l"/>
            <a:r>
              <a:rPr lang="en-US" dirty="0"/>
              <a:t>[2] Z. Huang et al., “SIDA: Social Media Image Deepfake Detection, Localization and Explanation with Large Multimodal Model,” Proceedings of the IEEE/CVF Conference on Computer Vision and Pattern Recognition (CVPR), 2025.</a:t>
            </a:r>
            <a:br>
              <a:rPr lang="en-US" dirty="0"/>
            </a:br>
            <a:r>
              <a:rPr lang="en-US" dirty="0"/>
              <a:t>DOI: 10.1109/CVPR52734.2025.02685</a:t>
            </a:r>
          </a:p>
          <a:p>
            <a:pPr algn="l"/>
            <a:r>
              <a:rPr lang="en-US" dirty="0"/>
              <a:t>[3] M. </a:t>
            </a:r>
            <a:r>
              <a:rPr lang="en-US" dirty="0" err="1"/>
              <a:t>Alrahhal</a:t>
            </a:r>
            <a:r>
              <a:rPr lang="en-US" dirty="0"/>
              <a:t>, F. Alqahtani, R. Latip, M. </a:t>
            </a:r>
            <a:r>
              <a:rPr lang="en-US" dirty="0" err="1"/>
              <a:t>AlShabi</a:t>
            </a:r>
            <a:r>
              <a:rPr lang="en-US" dirty="0"/>
              <a:t>, and W. M. Abd-</a:t>
            </a:r>
            <a:r>
              <a:rPr lang="en-US" dirty="0" err="1"/>
              <a:t>Elhafiez</a:t>
            </a:r>
            <a:r>
              <a:rPr lang="en-US" dirty="0"/>
              <a:t>, “Deepfake Face Detection Using Hybrid Bag-of-Visual-Words and Multi-CNN Feature Fusion,” Scientific Reports, 2026.</a:t>
            </a:r>
            <a:br>
              <a:rPr lang="en-US" dirty="0"/>
            </a:br>
            <a:r>
              <a:rPr lang="en-US" dirty="0"/>
              <a:t>DOI: 10.1038/s41598-026-53464-w</a:t>
            </a:r>
          </a:p>
        </p:txBody>
      </p:sp>
    </p:spTree>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docProps/app.xml><?xml version="1.0" encoding="utf-8"?>
<Properties xmlns="http://schemas.openxmlformats.org/officeDocument/2006/extended-properties" xmlns:vt="http://schemas.openxmlformats.org/officeDocument/2006/docPropsVTypes">
  <Template>Helena</Template>
  <TotalTime>21</TotalTime>
  <Words>1227</Words>
  <Application>Microsoft Office PowerPoint</Application>
  <PresentationFormat>Custom</PresentationFormat>
  <Paragraphs>112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TT Interphases Bold Italics</vt:lpstr>
      <vt:lpstr>TT Interphases Bold</vt:lpstr>
      <vt:lpstr>Arial</vt:lpstr>
      <vt:lpstr>TT Interphases</vt:lpstr>
      <vt:lpstr>Neue Haas Grotesk Text Pro</vt:lpstr>
      <vt:lpstr>TT Interphases Italics</vt:lpstr>
      <vt:lpstr>Helena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DeepGuard Detection Synopsis</dc:title>
  <dc:creator>Shrihari Kasar</dc:creator>
  <cp:lastModifiedBy>Shrihari Kasar</cp:lastModifiedBy>
  <cp:revision>3</cp:revision>
  <dcterms:created xsi:type="dcterms:W3CDTF">2006-08-16T00:00:00Z</dcterms:created>
  <dcterms:modified xsi:type="dcterms:W3CDTF">2026-09-10T04:31:22Z</dcterms:modified>
  <dc:identifier>DAHUhMaXMZQ</dc:identifier>
</cp:coreProperties>
</file>